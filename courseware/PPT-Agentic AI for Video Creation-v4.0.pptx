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https://github.com/tertiarycourses/TGS-2023036088-Agentic-AI-for-Video-Creation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https://lms-tms.tertiaryinfotech.com/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https://hermes-agent.nousresearch.com/desktop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https://www.tertiarycourses.com.sg/wsq-agentic-ai-for-video-creation.html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courseware synthesis; see the Learner Guide references and prompt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thub.com/tertiarycourses/TGS-2023036088-Agentic-AI-for-Video-Creation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3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3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3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3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3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3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5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6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6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6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6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6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5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5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126480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40080"/>
            <a:ext cx="52120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7ABB7"/>
                </a:solidFill>
                <a:latin typeface="Arial"/>
              </a:rPr>
              <a:t>WSQ • VIDEO EDITING-4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52144"/>
            <a:ext cx="5394960" cy="1691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Agentic AI for Video Creation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063240"/>
            <a:ext cx="51663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rial"/>
              </a:rPr>
              <a:t>Create your first video, improve it, then build a repeatable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42816"/>
            <a:ext cx="53949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</a:rPr>
              <a:t>TGS-2023036088  |  v4.0  |  2 days / 16 hours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892040"/>
            <a:ext cx="53035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Arial"/>
              </a:rPr>
              <a:t>Tertiary Infotech Academy Pte Ltd
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07024"/>
            <a:ext cx="53035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7ABB7"/>
                </a:solidFill>
                <a:latin typeface="Arial"/>
              </a:rPr>
              <a:t>MiniMax M3 • Four connected hands-on labs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Digital attendance via TRAQOM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QR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Complete the attendance action before the creative work begins.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Scan the trainer-provided QR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Confirm the correct course code and session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your registered learner identity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Show the confirmation screen if requested</a:t>
            </a:r>
          </a:p>
        </p:txBody>
      </p:sp>
    </p:spTree>
  </p:cSld>
  <p:transition spd="med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Trainer profile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Your trainer guides practical AI-assisted video creation and creative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Visual storytelling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Prompt engineering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Video tools and reusable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Multi-agent creative workflows</a:t>
            </a:r>
          </a:p>
        </p:txBody>
      </p:sp>
    </p:spTree>
  </p:cSld>
  <p:transition spd="med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Dr Alfred Ang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Principal Trainer, Tertiary Infotech Academy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Applied technology educator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AI and creative workflow curriculum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Hands-on learning and assessment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Focus: clear, useful and consistent video stories</a:t>
            </a:r>
          </a:p>
        </p:txBody>
      </p:sp>
    </p:spTree>
  </p:cSld>
  <p:transition spd="med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Learner 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Connect your experience to one video you would like to create.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Your role or interest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Your intended audience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 message worth sharing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 style you enjoy</a:t>
            </a:r>
          </a:p>
        </p:txBody>
      </p:sp>
    </p:spTree>
  </p:cSld>
  <p:transition spd="med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Working agreements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Create responsibly and learn through visible drafts.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Use supplied or authorised assets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Do not share passwords or keys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Keep practice uploads private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Give specific, constructive feedback</a:t>
            </a:r>
          </a:p>
        </p:txBody>
      </p:sp>
    </p:spTree>
  </p:cSld>
  <p:transition spd="med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facts and competency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TSC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MED-MPN-4005-1.1 - Video Editing-4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Course code: TGS-2023036088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Duration: 2 days / 16 training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Assessment: 2 hours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Version: v4.0 / 16 September 2026</a:t>
            </a:r>
          </a:p>
        </p:txBody>
      </p:sp>
    </p:spTree>
  </p:cSld>
  <p:transition spd="med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1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Meet AI agents, set up Hermes, write stronger prompts and create your first two video versions.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AI agents and the agentic loop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Hermes Desktop and MiniMax M3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Video prompt engineering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Labs 01–02: create and improve</a:t>
            </a:r>
          </a:p>
        </p:txBody>
      </p:sp>
    </p:spTree>
  </p:cSld>
  <p:transition spd="med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Day 2 lesson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Build the agent team and create a consistent micro-drama episode.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Five Hermes profiles and Kanban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Private YouTube publishing and scheduling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Character and storyboard consistency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Labs 03–04 plus 2-hour assessment</a:t>
            </a:r>
          </a:p>
        </p:txBody>
      </p:sp>
    </p:spTree>
  </p:cSld>
  <p:transition spd="med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Learning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At course completion, you can create, improve and coordinate an AI-assisted video series.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LO1: Explain the agentic loop, set up Hermes Agent with MiniMax M3, and create a first short video from a clear prompt.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LO2: Improve the first video by choosing suitable video tools, adding reusable skills, and applying brand, tone and style guidance.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LO3: Coordinate research, script, video, review and YouTube agents on a Kanban board and schedule the workflow.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LO4: Plan a consistent one-minute micro-drama series with reusable story, character, location and visual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Briefing for assessment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Show your own creative choices and a clear journey from prompt to reviewed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Read every question and task before starting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the supplied case and authorised assets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Save prompts, drafts and review notes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Keep YouTube visibility private</a:t>
            </a:r>
          </a:p>
        </p:txBody>
      </p:sp>
    </p:spTree>
  </p:cSld>
  <p:transition spd="med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and funding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$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Assessment is competence-based; course funding depends on current eligibility and conditions.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Written Assessment: 60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Practical Performance: 60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Course page lists support of up to 70% subject to eligibility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Check the current official course page before enrolment</a:t>
            </a:r>
          </a:p>
        </p:txBody>
      </p:sp>
    </p:spTree>
  </p:cSld>
  <p:transition spd="med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13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The assessor reviews your understanding, creative process and completed video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Identity and instructions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Written questions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Practical video task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Outcome and follow-up</a:t>
            </a:r>
          </a:p>
        </p:txBody>
      </p:sp>
    </p:spTree>
  </p:cSld>
  <p:transition spd="med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labs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Four connected labs take one idea from first draft to a consistent one-minute story.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Open each folder in Hermes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supplied or authorised assets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Copy and adapt the prompt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Save each draft and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93392" y="5687568"/>
            <a:ext cx="8915400" cy="42062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875C4"/>
                </a:solidFill>
                <a:latin typeface="Arial"/>
                <a:hlinkClick r:id="rId3"/>
              </a:rPr>
              <a:t>Open the GitHub course repository</a:t>
            </a:r>
          </a:p>
        </p:txBody>
      </p:sp>
    </p:spTree>
  </p:cSld>
  <p:transition spd="med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58368"/>
            <a:ext cx="987552" cy="9875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987552" cy="987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758952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875C4"/>
                </a:solidFill>
                <a:latin typeface="Arial"/>
              </a:rPr>
              <a:t>TOPIC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6177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D3056"/>
                </a:solidFill>
                <a:latin typeface="Arial"/>
              </a:rPr>
              <a:t>Meet AI Agents and Create Your First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526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4202C"/>
                </a:solidFill>
                <a:latin typeface="Arial"/>
              </a:rPr>
              <a:t>Understand the agentic loop, set up Hermes with MiniMax M3, and turn one simple idea into a first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LEARN  •  CREATE  •  REVIEW  •  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15</a:t>
            </a:r>
          </a:p>
        </p:txBody>
      </p:sp>
    </p:spTree>
  </p:cSld>
  <p:transition spd="med">
    <p:push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an AI agent?: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Receive a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Make a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Use a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Check the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Treating every chatbot reply as a finished result.</a:t>
            </a:r>
          </a:p>
        </p:txBody>
      </p:sp>
    </p:spTree>
  </p:cSld>
  <p:transition spd="med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an AI agent?: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Treating every chatbot reply as a finished result.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Ask the agent to show its plan and review the output before stopping.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An agent does more than answer: it works through a goal and checks what it produced.</a:t>
            </a:r>
          </a:p>
        </p:txBody>
      </p:sp>
    </p:spTree>
  </p:cSld>
  <p:transition spd="med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an AI agent?: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18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Idea: Create a 15-second welcome video for a neighbourhood cafe.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An agent does more than answer: it works through a goal and checks what it produced.</a:t>
            </a:r>
          </a:p>
        </p:txBody>
      </p:sp>
    </p:spTree>
  </p:cSld>
  <p:transition spd="med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agentic loop: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Observe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Think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Improve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do we have?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should happen?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can be done?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needs changing?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Repeating the same prompt without explaining what went wrong.</a:t>
            </a:r>
          </a:p>
        </p:txBody>
      </p:sp>
    </p:spTree>
  </p:cSld>
  <p:transition spd="med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agentic loop: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Repeating the same prompt without explaining what went wrong.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Give one focused revision at a time: pacing, framing, colour, caption or sound.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The loop turns a vague idea into a series of visible creative decisions.</a:t>
            </a:r>
          </a:p>
        </p:txBody>
      </p:sp>
    </p:spTree>
  </p:cSld>
  <p:transition spd="med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agentic loop: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21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Observe the first draft, request a stronger opening, then compare both versions.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do we have?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should happen?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can be done?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needs changing?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The loop turns a vague idea into a series of visible creative decisions.</a:t>
            </a:r>
          </a:p>
        </p:txBody>
      </p:sp>
    </p:spTree>
  </p:cSld>
  <p:transition spd="med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Install Hermes Agent: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Open official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your computer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Install the 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 a project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Mac or Windows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Download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Open Hermes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Choose a folder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Downloading from an unofficial page or opening the wrong project folder.</a:t>
            </a:r>
          </a:p>
        </p:txBody>
      </p:sp>
    </p:spTree>
  </p:cSld>
  <p:transition spd="med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Install Hermes Agent: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Downloading from an unofficial page or opening the wrong project folder.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Use the official Hermes Desktop page and keep each video project in its own folder.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Hermes Desktop provides one place for chat, files, skills and agent profiles.</a:t>
            </a:r>
          </a:p>
        </p:txBody>
      </p:sp>
    </p:spTree>
  </p:cSld>
  <p:transition spd="med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Install Hermes Agent: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24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Project folder: My First AI Video.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Mac or Windows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Download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Open Hermes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Choose a folder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Hermes Desktop provides one place for chat, files, skills and agent profiles.</a:t>
            </a:r>
          </a:p>
        </p:txBody>
      </p:sp>
    </p:spTree>
  </p:cSld>
  <p:transition spd="med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Connect MiniMax M3: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MiniMax 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the live plan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Add the provider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Test a message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Account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Test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Assuming a promotion or free-trial duration is identical for every learner.</a:t>
            </a:r>
          </a:p>
        </p:txBody>
      </p:sp>
    </p:spTree>
  </p:cSld>
  <p:transition spd="med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Connect MiniMax M3: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Assuming a promotion or free-trial duration is identical for every learner.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Confirm the current trial and pricing shown in your account before subscribing.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MiniMax M3 can guide planning and operate tools; a video tool still creates the media.</a:t>
            </a:r>
          </a:p>
        </p:txBody>
      </p:sp>
    </p:spTree>
  </p:cSld>
  <p:transition spd="med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Connect MiniMax M3: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27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Test prompt: Help me plan a three-shot vertical video about better coffee.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Account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Plan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Model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MiniMax M3 can guide planning and operate tools; a video tool still creates the media.</a:t>
            </a:r>
          </a:p>
        </p:txBody>
      </p:sp>
    </p:spTree>
  </p:cSld>
  <p:transition spd="med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Prompt your first video: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Name the goal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Describe the scene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Add video choices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Ask for a review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Subject and 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Look and movement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Length and format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Using adjectives such as amazing or cinematic without describing what viewers see.</a:t>
            </a:r>
          </a:p>
        </p:txBody>
      </p:sp>
    </p:spTree>
  </p:cSld>
  <p:transition spd="med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Prompt your first video: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Using adjectives such as amazing or cinematic without describing what viewers see.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Use SUBJECT + ACTION + SETTING + CAMERA + STYLE + FORMAT, then ask for a shot list first.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The best starter prompt describes one audience, one message and one simple visual journey.</a:t>
            </a:r>
          </a:p>
        </p:txBody>
      </p:sp>
    </p:spTree>
  </p:cSld>
  <p:transition spd="med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Prompt your first video: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30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15-second vertical cafe tip video: warm morning light, close-up coffee grind, slow push-in, calm practical tone, three five-second shots, captions included.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Audience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Subject and 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Look and movement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Length and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The best starter prompt describes one audience, one message and one simple visual journey.</a:t>
            </a:r>
          </a:p>
        </p:txBody>
      </p:sp>
    </p:spTree>
  </p:cSld>
  <p:transition spd="med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 useful first-video idea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One 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One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Three shots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One action</a:t>
            </a:r>
          </a:p>
        </p:txBody>
      </p:sp>
    </p:spTree>
  </p:cSld>
  <p:transition spd="med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six ingredients of a strong video prompt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Subject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Setting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Camera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Style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520439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0768" y="3867911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Format</a:t>
            </a:r>
          </a:p>
        </p:txBody>
      </p:sp>
    </p:spTree>
  </p:cSld>
  <p:transition spd="med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Prompt in two stages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Ask for the shot list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Review the story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Approve the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Create the draft</a:t>
            </a:r>
          </a:p>
        </p:txBody>
      </p:sp>
    </p:spTree>
  </p:cSld>
  <p:transition spd="med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Improve the prompt, not every effect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Clarify the opening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Remove extra actions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mood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End with a purpose</a:t>
            </a:r>
          </a:p>
        </p:txBody>
      </p:sp>
    </p:spTree>
  </p:cSld>
  <p:transition spd="med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See the whole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35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THREE PRACTICAL TIPS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Ask the agent to show its plan and review the output before stopping.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Give one focused revision at a time: pacing, framing, colour, caption or sound.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Use the official Hermes Desktop page and keep each video project in its own folder.</a:t>
            </a:r>
          </a:p>
        </p:txBody>
      </p:sp>
    </p:spTree>
  </p:cSld>
  <p:transition spd="med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Turn vague words into visible choices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36</a:t>
            </a:r>
          </a:p>
        </p:txBody>
      </p:sp>
      <p:pic>
        <p:nvPicPr>
          <p:cNvPr id="8" name="Picture 7" descr="topic-1-first-video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PROMPT EXAMPLES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Project folder: My First AI Video.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Test prompt: Help me plan a three-shot vertical video about better coffee.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Create a 15-second vertical cafe tip video: warm morning light, close-up coffee grind, slow push-in, calm practical tone, three five-second shots, captions included.</a:t>
            </a:r>
          </a:p>
        </p:txBody>
      </p:sp>
    </p:spTree>
  </p:cSld>
  <p:transition spd="med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Create Your First Video with Hermes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Install Hermes Desktop, connect MiniMax M3, improve a simple prompt and create a 15-second first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first 15-second video, final prompt and review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Open Lab 01 from the course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0608" y="4352544"/>
            <a:ext cx="57607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11880" y="4352544"/>
            <a:ext cx="57607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Install Hermes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MiniMax plan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Connect M3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Write prompt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video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result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Move from idea to draft, then pause to review what a viewer will actually experience.</a:t>
            </a:r>
          </a:p>
        </p:txBody>
      </p:sp>
    </p:spTree>
  </p:cSld>
  <p:transition spd="med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VIEWER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01 · review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39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Hermes opens the correct project, MiniMax M3 is selected or the available approved fallback is recorded, the shot list has three clear shots, and the first video is saved.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PAUSE AND REWORK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 story is unclear, style changes between shots, an asset is not authorised, or publishing approval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save what you 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watch as a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name exact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VERSION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compare the result</a:t>
            </a:r>
          </a:p>
        </p:txBody>
      </p:sp>
    </p:spTree>
  </p:cSld>
  <p:transition spd="med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creative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will the viewer understand in the opening seconds?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visual choice makes the message easier to follow?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should remain consistent from shot to shot?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feedback would improve the next version most?</a:t>
            </a:r>
          </a:p>
        </p:txBody>
      </p:sp>
    </p:spTree>
  </p:cSld>
  <p:transition spd="med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1 try it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Adapt one example prompt to your own audience and subject.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Replace vague style words with visible creative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Plan one review question before asking Hermes to create.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one improvement you will make before adding effects.</a:t>
            </a:r>
          </a:p>
        </p:txBody>
      </p:sp>
    </p:spTree>
  </p:cSld>
  <p:transition spd="med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2-tools-skills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58368"/>
            <a:ext cx="987552" cy="98755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987552" cy="987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758952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875C4"/>
                </a:solidFill>
                <a:latin typeface="Arial"/>
              </a:rPr>
              <a:t>TOPIC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6177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D3056"/>
                </a:solidFill>
                <a:latin typeface="Arial"/>
              </a:rPr>
              <a:t>Improve the Video with Tools and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526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4202C"/>
                </a:solidFill>
                <a:latin typeface="Arial"/>
              </a:rPr>
              <a:t>Understand tools and skills, add suitable video capabilities, and turn the first draft into a polished branded video.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LEARN  •  CREATE  •  REVIEW  •  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42</a:t>
            </a:r>
          </a:p>
        </p:txBody>
      </p:sp>
    </p:spTree>
  </p:cSld>
  <p:transition spd="med">
    <p:push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tool?: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a job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Select a tool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media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Bring back the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Images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Editing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Choosing a tool because it is fashionable instead of because it fits the shot.</a:t>
            </a:r>
          </a:p>
        </p:txBody>
      </p:sp>
    </p:spTree>
  </p:cSld>
  <p:transition spd="med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tool?: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Choosing a tool because it is fashionable instead of because it fits the shot.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Match the tool to the job: generate, animate, assemble, caption or check.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tool performs a practical job such as creating a shot, animating text or assembling clips.</a:t>
            </a:r>
          </a:p>
        </p:txBody>
      </p:sp>
    </p:spTree>
  </p:cSld>
  <p:transition spd="med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tool?: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45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Use Higgsfield for a cinematic shot, Remotion for branded motion graphics, Manim for an explanatory animation, and FFmpeg for assembly.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Images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Motion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Voice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Editing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tool performs a practical job such as creating a shot, animating text or assembling clips.</a:t>
            </a:r>
          </a:p>
        </p:txBody>
      </p:sp>
    </p:spTree>
  </p:cSld>
  <p:transition spd="med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skill?: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Name the repeatable 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Save the instructions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Add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Reuse the skill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Creative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Steps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Expected result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Writing a skill that is so broad that it gives different results every time.</a:t>
            </a:r>
          </a:p>
        </p:txBody>
      </p:sp>
    </p:spTree>
  </p:cSld>
  <p:transition spd="med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skill?: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Writing a skill that is so broad that it gives different results every time.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Make one skill for one repeatable outcome, such as a branded 15-second product tip.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skill teaches Hermes how you want a recurring task done.</a:t>
            </a:r>
          </a:p>
        </p:txBody>
      </p:sp>
    </p:spTree>
  </p:cSld>
  <p:transition spd="med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What is a skill?: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48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Skill: Create a calm Harbour Bean short using the approved colours, caption style and closing frame.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Trigger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Creative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Expected 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skill teaches Hermes how you want a recurring task done.</a:t>
            </a:r>
          </a:p>
        </p:txBody>
      </p:sp>
    </p:spTree>
  </p:cSld>
  <p:transition spd="med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Choose the right video toolkit: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49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Start with the story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Identify missing capability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one tool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Combine only when useful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Generative shots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Motion graphics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Diagrams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Final edit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Adding several tools before the creative direction is clear.</a:t>
            </a:r>
          </a:p>
        </p:txBody>
      </p:sp>
    </p:spTree>
  </p:cSld>
  <p:transition spd="med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Choose the right video toolkit: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Adding several tools before the creative direction is clear.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Choose the simplest tool that can deliver the intended shot and keep the style consistent.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Most videos need a small toolkit, not every available tool.</a:t>
            </a:r>
          </a:p>
        </p:txBody>
      </p:sp>
    </p:spTree>
  </p:cSld>
  <p:transition spd="med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Choose the right video toolkit: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51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First draft + one generated establishing shot + branded title cards + captions + music.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Generative shots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Motion graphics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Diagrams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Final edit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Most videos need a small toolkit, not every available tool.</a:t>
            </a:r>
          </a:p>
        </p:txBody>
      </p:sp>
    </p:spTree>
  </p:cSld>
  <p:transition spd="med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Improve with a creative brief: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Keep the message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Strengthen the opening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Clarify the middle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Finish with one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Hook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Value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Call to action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Trying to repair a weak story with transitions and filters.</a:t>
            </a:r>
          </a:p>
        </p:txBody>
      </p:sp>
    </p:spTree>
  </p:cSld>
  <p:transition spd="med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Improve with a creative brief: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Trying to repair a weak story with transitions and filters.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Rewrite the video as Hook - Value - Proof - Action before asking for new visuals.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clear narrative improves the video more than extra effects.</a:t>
            </a:r>
          </a:p>
        </p:txBody>
      </p:sp>
    </p:spTree>
  </p:cSld>
  <p:transition spd="med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Improve with a creative brief: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54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Hook: Your coffee tastes bitter. Value: check the grind. Proof: compare two textures. Action: save this guide.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Hook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Proof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Call to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clear narrative improves the video more than extra effects.</a:t>
            </a:r>
          </a:p>
        </p:txBody>
      </p:sp>
    </p:spTree>
  </p:cSld>
  <p:transition spd="med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your own video skill: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 the brand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 the tone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 the visual style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Save examples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Colours and logo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Voice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Pacing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Do and avoid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Defining style only as modern, engaging or professional.</a:t>
            </a:r>
          </a:p>
        </p:txBody>
      </p:sp>
    </p:spTree>
  </p:cSld>
  <p:transition spd="med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your own video skill: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Defining style only as modern, engaging or professional.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Include concrete examples: colours, shot rhythm, caption placement, words to use and styles to avoid.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custom skill makes good creative choices repeatable across future videos.</a:t>
            </a:r>
          </a:p>
        </p:txBody>
      </p:sp>
    </p:spTree>
  </p:cSld>
  <p:transition spd="med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your own video skill: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57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Calm, useful and warm; steady camera; short sentences; cream background; teal accent; no flashing 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Colours and logo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Voice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Pacing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Do and avoid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custom skill makes good creative choices repeatable across future videos.</a:t>
            </a:r>
          </a:p>
        </p:txBody>
      </p:sp>
    </p:spTree>
  </p:cSld>
  <p:transition spd="med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Tools have different creative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Generate a 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Animate a message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Explain a concept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Assemble the edit</a:t>
            </a:r>
          </a:p>
        </p:txBody>
      </p:sp>
    </p:spTree>
  </p:cSld>
  <p:transition spd="med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Skills make choices repeatable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59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Brand rules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Shot rhythm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Caption style</a:t>
            </a:r>
          </a:p>
        </p:txBody>
      </p:sp>
    </p:spTree>
  </p:cSld>
  <p:transition spd="med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 simple improvement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Keep what 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Fix the story first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Add one useful tool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Compare versions</a:t>
            </a:r>
          </a:p>
        </p:txBody>
      </p:sp>
    </p:spTree>
  </p:cSld>
  <p:transition spd="med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a recognisable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Repeat colours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Repeat type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Repeat movement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Repeat voice</a:t>
            </a:r>
          </a:p>
        </p:txBody>
      </p:sp>
    </p:spTree>
  </p:cSld>
  <p:transition spd="med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Choose tools by creative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62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THREE PRACTICAL TIPS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Match the tool to the job: generate, animate, assemble, caption or check.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Make one skill for one repeatable outcome, such as a branded 15-second product tip.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Choose the simplest tool that can deliver the intended shot and keep the style consistent.</a:t>
            </a:r>
          </a:p>
        </p:txBody>
      </p:sp>
    </p:spTree>
  </p:cSld>
  <p:transition spd="med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Compare the first and improved video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63</a:t>
            </a:r>
          </a:p>
        </p:txBody>
      </p:sp>
      <p:pic>
        <p:nvPicPr>
          <p:cNvPr id="8" name="Picture 7" descr="topic-2-tools-skills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PROMPT EXAMPLES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First draft + one generated establishing shot + branded title cards + captions + music.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Hook: Your coffee tastes bitter. Value: check the grind. Proof: compare two textures. Action: save this guide.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Calm, useful and warm; steady camera; short sentences; cream background; teal accent; no flashing text.</a:t>
            </a:r>
          </a:p>
        </p:txBody>
      </p:sp>
    </p:spTree>
  </p:cSld>
  <p:transition spd="med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Improve the Video with Tools and Skills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Choose appropriate video tools, add reusable Hermes skills and create a more polished branded version of the first video.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polished branded video and before-after comparison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Open Lab 02 from the course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0608" y="4352544"/>
            <a:ext cx="57607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11880" y="4352544"/>
            <a:ext cx="57607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first 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tools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Add skills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Apply brand style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improved video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Compare versions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Move from idea to draft, then pause to review what a viewer will actually experience.</a:t>
            </a:r>
          </a:p>
        </p:txBody>
      </p:sp>
    </p:spTree>
  </p:cSld>
  <p:transition spd="med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VIEWER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02 · review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learner explains the difference between a tool and a skill, chooses suitable capabilities, applies the brand guide, and produces an improved second video with a written comparison.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PAUSE AND REWORK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 story is unclear, style changes between shots, an asset is not authorised, or publishing approval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save what you 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watch as a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name exact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VERSION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compare the result</a:t>
            </a:r>
          </a:p>
        </p:txBody>
      </p:sp>
    </p:spTree>
  </p:cSld>
  <p:transition spd="med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creative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will the viewer understand in the opening seconds?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visual choice makes the message easier to follow?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should remain consistent from shot to shot?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feedback would improve the next version most?</a:t>
            </a:r>
          </a:p>
        </p:txBody>
      </p:sp>
    </p:spTree>
  </p:cSld>
  <p:transition spd="med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2 try it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Adapt one example prompt to your own audience and subject.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Replace vague style words with visible creative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Plan one review question before asking Hermes to create.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one improvement you will make before adding effects.</a:t>
            </a:r>
          </a:p>
        </p:txBody>
      </p:sp>
    </p:spTree>
  </p:cSld>
  <p:transition spd="med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3-multi-agent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58368"/>
            <a:ext cx="987552" cy="98755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987552" cy="987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758952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875C4"/>
                </a:solidFill>
                <a:latin typeface="Arial"/>
              </a:rPr>
              <a:t>TOPIC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6177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D3056"/>
                </a:solidFill>
                <a:latin typeface="Arial"/>
              </a:rPr>
              <a:t>Build a Multi-Agent Video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526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4202C"/>
                </a:solidFill>
                <a:latin typeface="Arial"/>
              </a:rPr>
              <a:t>Create five Hermes profiles, coordinate them on Kanban, improve the video, prepare YouTube publishing and schedule the pipeline.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LEARN  •  CREATE  •  REVIEW  •  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69</a:t>
            </a:r>
          </a:p>
        </p:txBody>
      </p:sp>
    </p:spTree>
  </p:cSld>
  <p:transition spd="med">
    <p:push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Why use multiple agents?: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Split the work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Give each role a focus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Pass the work 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the whole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Research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Script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Video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Using many agents for a task that one clear conversation could complete.</a:t>
            </a:r>
          </a:p>
        </p:txBody>
      </p:sp>
    </p:spTree>
  </p:cSld>
  <p:transition spd="med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Why use multiple agents?: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Using many agents for a task that one clear conversation could complete.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Create another agent only when the role has a distinct outcome and point of 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Separate roles make the creative process easier to follow and improve.</a:t>
            </a:r>
          </a:p>
        </p:txBody>
      </p:sp>
    </p:spTree>
  </p:cSld>
  <p:transition spd="med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Why use multiple agents?: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72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A research agent finds facts; a script agent turns facts into a story; a review agent challenges the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Research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Video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Separate roles make the creative process easier to follow and improve.</a:t>
            </a:r>
          </a:p>
        </p:txBody>
      </p:sp>
    </p:spTree>
  </p:cSld>
  <p:transition spd="med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five Hermes profiles: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05456" y="2743200"/>
            <a:ext cx="17922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714646" y="2743200"/>
            <a:ext cx="17922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923836" y="2743200"/>
            <a:ext cx="17922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133027" y="2743200"/>
            <a:ext cx="17922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1901952"/>
            <a:ext cx="1938528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76118" y="1901952"/>
            <a:ext cx="1938528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40710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4071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0710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Scriptwriter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5308" y="1901952"/>
            <a:ext cx="1938528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149900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4990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9900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Video creator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94499" y="1901952"/>
            <a:ext cx="1938528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59091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59091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9091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Auditor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03689" y="1901952"/>
            <a:ext cx="1938528" cy="1700784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68281" y="2084831"/>
            <a:ext cx="438912" cy="43891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8281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68281" y="2697480"/>
            <a:ext cx="1609344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YouTube publisher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Research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Script agent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Video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Audit and upload agents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Giving every profile the same vague instruction to make the video better.</a:t>
            </a:r>
          </a:p>
        </p:txBody>
      </p:sp>
    </p:spTree>
  </p:cSld>
  <p:transition spd="med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five Hermes profiles: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Giving every profile the same vague instruction to make the video better.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State what each profile receives, what it returns and when its work is complete.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profile gives each agent a stable job, voice and set of responsibilities.</a:t>
            </a:r>
          </a:p>
        </p:txBody>
      </p:sp>
    </p:spTree>
  </p:cSld>
  <p:transition spd="med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Create five Hermes profiles: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75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Research returns a fact sheet; Script returns a one-minute script; Video returns a draft; Auditor returns clear feedback; Upload returns a private YouTube link.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1853184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Researcher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7040" y="4169663"/>
            <a:ext cx="1853184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41904" y="4261103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Scriptwriter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392" y="4169663"/>
            <a:ext cx="1853184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96256" y="4261103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Video creator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4773168"/>
            <a:ext cx="1853184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864607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Auditor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87040" y="4773168"/>
            <a:ext cx="1853184" cy="438912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41904" y="4864607"/>
            <a:ext cx="1743456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1">
                <a:solidFill>
                  <a:srgbClr val="14202C"/>
                </a:solidFill>
                <a:latin typeface="Arial"/>
              </a:rPr>
              <a:t>YouTube publisher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profile gives each agent a stable job, voice and set of responsibilities.</a:t>
            </a:r>
          </a:p>
        </p:txBody>
      </p:sp>
    </p:spTree>
  </p:cSld>
  <p:transition spd="med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Kanban to coordinate the team: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Ideas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In progress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and done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Owner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Input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Next step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Moving the upload card forward before review is complete.</a:t>
            </a:r>
          </a:p>
        </p:txBody>
      </p:sp>
    </p:spTree>
  </p:cSld>
  <p:transition spd="med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Kanban to coordinate the team: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Moving the upload card forward before review is complete.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Make the order visible and keep publishing blocked until review and approval are done.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Kanban shows who is doing what and what must happen next.</a:t>
            </a:r>
          </a:p>
        </p:txBody>
      </p:sp>
    </p:spTree>
  </p:cSld>
  <p:transition spd="med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Kanban to coordinate the team: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78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First research, then write the script, create the video, review it, ask for human approval, and finally upload to YouTube.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Task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Owner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Input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Kanban shows who is doing what and what must happen next.</a:t>
            </a:r>
          </a:p>
        </p:txBody>
      </p:sp>
    </p:spTree>
  </p:cSld>
  <p:transition spd="med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Publish to YouTube: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79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Connect YouTube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Prepare title and thumbnail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Upload as private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Review then publish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Channel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Privacy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Final approval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Publishing publicly on the first automated run.</a:t>
            </a:r>
          </a:p>
        </p:txBody>
      </p:sp>
    </p:spTree>
  </p:cSld>
  <p:transition spd="med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Publish to YouTube: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Publishing publicly on the first automated run.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Ask Hermes to set up the YouTube connection, upload privately, and stop for human review.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Private upload creates a safe review step before the audience can see the video.</a:t>
            </a:r>
          </a:p>
        </p:txBody>
      </p:sp>
    </p:spTree>
  </p:cSld>
  <p:transition spd="med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Publish to YouTube: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81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Prompt: Upload the approved video as Private, add the supplied title and description, then return the private review link. Do not publish publicly.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Channel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Metadata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Privacy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Final approval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Private upload creates a safe review step before the audience can see the video.</a:t>
            </a:r>
          </a:p>
        </p:txBody>
      </p:sp>
    </p:spTree>
  </p:cSld>
  <p:transition spd="med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Schedule the pipeline: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a cadence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 the starting task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Run a rehearsal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Turn on the schedule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Day and time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Topic source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Approval point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Notification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Automating an untested pipeline or forgetting who approves publication.</a:t>
            </a:r>
          </a:p>
        </p:txBody>
      </p:sp>
    </p:spTree>
  </p:cSld>
  <p:transition spd="med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Schedule the pipeline: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Automating an untested pipeline or forgetting who approves publication.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Run the whole pipeline once, inspect every handoff, then enable the schedule.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Scheduling works best when the workflow is already reliable as a manual run.</a:t>
            </a:r>
          </a:p>
        </p:txBody>
      </p:sp>
    </p:spTree>
  </p:cSld>
  <p:transition spd="med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Schedule the pipeline: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84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Every Tuesday at 9:00 AM: research one topic, draft, create, review, wait for approval, then upload privately.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Day and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Topic source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Approval point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Notification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Scheduling works best when the workflow is already reliable as a manual run.</a:t>
            </a:r>
          </a:p>
        </p:txBody>
      </p:sp>
    </p:spTree>
  </p:cSld>
  <p:transition spd="med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Five agents, five clear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Research notes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Script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Video draft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Audit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Private upload</a:t>
            </a:r>
          </a:p>
        </p:txBody>
      </p:sp>
    </p:spTree>
  </p:cSld>
  <p:transition spd="med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Kanban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Ideas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Ready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Doing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Done</a:t>
            </a:r>
          </a:p>
        </p:txBody>
      </p:sp>
    </p:spTree>
  </p:cSld>
  <p:transition spd="med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Publishing is a separate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Prepare metadata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Upload privately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Watch the result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Approve public release</a:t>
            </a:r>
          </a:p>
        </p:txBody>
      </p:sp>
    </p:spTree>
  </p:cSld>
  <p:transition spd="med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Schedule only a proven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Run manually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Fix handoffs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Rehearse schedule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Enable when ready</a:t>
            </a:r>
          </a:p>
        </p:txBody>
      </p:sp>
    </p:spTree>
  </p:cSld>
  <p:transition spd="med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See the agent team at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89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THREE PRACTICAL TIPS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Create another agent only when the role has a distinct outcome and point of view.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State what each profile receives, what it returns and when its work is complete.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Make the order visible and keep publishing blocked until review and approval are done.</a:t>
            </a:r>
          </a:p>
        </p:txBody>
      </p:sp>
    </p:spTree>
  </p:cSld>
  <p:transition spd="med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Keep review before publishing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90</a:t>
            </a:r>
          </a:p>
        </p:txBody>
      </p:sp>
      <p:pic>
        <p:nvPicPr>
          <p:cNvPr id="8" name="Picture 7" descr="topic-3-multi-agent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PROMPT EXAMPLES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First research, then write the script, create the video, review it, ask for human approval, and finally upload to YouTube.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Prompt: Upload the approved video as Private, add the supplied title and description, then return the private review link. Do not publish publicly.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Every Tuesday at 9:00 AM: research one topic, draft, create, review, wait for approval, then upload privately.</a:t>
            </a:r>
          </a:p>
        </p:txBody>
      </p:sp>
    </p:spTree>
  </p:cSld>
  <p:transition spd="med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Improve the Video with a Multi-Agent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five Hermes profiles, coordinate them on Kanban, improve the video, prepare a private YouTube upload and set a paused schedule.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team-created video, review notes, private upload and paused schedule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Open Lab 03 from the course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0608" y="4352544"/>
            <a:ext cx="57607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11880" y="4352544"/>
            <a:ext cx="57607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five profiles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Build Kanban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Run research and script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and audit video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Upload privately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Schedule pipeline</a:t>
            </a:r>
          </a:p>
        </p:txBody>
      </p:sp>
      <p:pic>
        <p:nvPicPr>
          <p:cNvPr id="37" name="Picture 36" descr="human-approval-g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5230368"/>
            <a:ext cx="3246120" cy="10058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1248" y="5376672"/>
            <a:ext cx="658368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Publishing stays paused until the reviewer and learner approve the final draft.</a:t>
            </a:r>
          </a:p>
        </p:txBody>
      </p:sp>
    </p:spTree>
  </p:cSld>
  <p:transition spd="med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VIEWER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03 · review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Five distinct profiles and a dependency-based Kanban board exist, the first video is improved through the team, YouTube is prepared as private, and the schedule remains paused until approval.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PAUSE AND REWORK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 story is unclear, style changes between shots, an asset is not authorised, or publishing approval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save what you 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watch as a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name exact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VERSION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compare the result</a:t>
            </a:r>
          </a:p>
        </p:txBody>
      </p:sp>
    </p:spTree>
  </p:cSld>
  <p:transition spd="med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creative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will the viewer understand in the opening seconds?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visual choice makes the message easier to follow?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should remain consistent from shot to shot?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feedback would improve the next version most?</a:t>
            </a:r>
          </a:p>
        </p:txBody>
      </p:sp>
    </p:spTree>
  </p:cSld>
  <p:transition spd="med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3 try it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Adapt one example prompt to your own audience and subject.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Replace vague style words with visible creative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Plan one review question before asking Hermes to create.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one improvement you will make before adding effects.</a:t>
            </a:r>
          </a:p>
        </p:txBody>
      </p:sp>
    </p:spTree>
  </p:cSld>
  <p:transition spd="med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-4-micro-drama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715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58368" y="658368"/>
            <a:ext cx="987552" cy="98755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987552" cy="9875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7088" y="758952"/>
            <a:ext cx="228600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875C4"/>
                </a:solidFill>
                <a:latin typeface="Arial"/>
              </a:rPr>
              <a:t>TOPIC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17320"/>
            <a:ext cx="4617720" cy="1600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>
                <a:solidFill>
                  <a:srgbClr val="0D3056"/>
                </a:solidFill>
                <a:latin typeface="Arial"/>
              </a:rPr>
              <a:t>Create a Consistent One-Minute Micro-Drama Series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246120"/>
            <a:ext cx="452628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0">
                <a:solidFill>
                  <a:srgbClr val="14202C"/>
                </a:solidFill>
                <a:latin typeface="Arial"/>
              </a:rPr>
              <a:t>Use a story bible, character sheet and six-shot storyboard to create repeatable one-minute episodes with consistent people, places and style.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46634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LEARN  •  CREATE  •  REVIEW  •  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96</a:t>
            </a:r>
          </a:p>
        </p:txBody>
      </p:sp>
    </p:spTree>
  </p:cSld>
  <p:transition spd="med">
    <p:push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Start with the series promise: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the audience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the world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the recurring tension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Choose the episode payoff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Who watches?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Where does it happen?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What repeats?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Why return?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Beginning with isolated scenes before deciding what the series is about.</a:t>
            </a:r>
          </a:p>
        </p:txBody>
      </p:sp>
    </p:spTree>
  </p:cSld>
  <p:transition spd="med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Start with the series promise: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Beginning with isolated scenes before deciding what the series is about.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Write one sentence that describes the world, character and recurring emotional question.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A series feels consistent when every episode fulfils the same clear promise.</a:t>
            </a:r>
          </a:p>
        </p:txBody>
      </p:sp>
    </p:spTree>
  </p:cSld>
  <p:transition spd="med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Start with the series promise: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99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In a neighbourhood cafe, a shy barista solves one small customer misunderstanding in every one-minute episode.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Who watches?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Where does it happen?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What repeats?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Why return?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A series feels consistent when every episode fulfils the same clear promise.</a:t>
            </a:r>
          </a:p>
        </p:txBody>
      </p:sp>
    </p:spTree>
  </p:cSld>
  <p:transition spd="med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Build a character bible: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Define identity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Fix visible traits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Define behaviour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Save references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Face and 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Hair and wardrobe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Voice and manner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Reference views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Changing clothing, age, hairstyle or personality between shots.</a:t>
            </a:r>
          </a:p>
        </p:txBody>
      </p:sp>
    </p:spTree>
  </p:cSld>
  <p:transition spd="med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Build a character bible: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Changing clothing, age, hairstyle or personality between shots.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Use the same reference image and repeat five essential traits in every character prompt.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Consistency comes from repeating concrete character details, not just the character name.</a:t>
            </a:r>
          </a:p>
        </p:txBody>
      </p:sp>
    </p:spTree>
  </p:cSld>
  <p:transition spd="med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Build a character bible: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102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Mei, 28, shoulder-length black hair, teal overshirt, cream apron, observant expression, gentle measured speech.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Face and 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Hair and wardrobe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Voice and manner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Reference views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Consistency comes from repeating concrete character details, not just the character name.</a:t>
            </a:r>
          </a:p>
        </p:txBody>
      </p:sp>
    </p:spTree>
  </p:cSld>
  <p:transition spd="med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Storyboard a one-minute episode: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67128" y="2743200"/>
            <a:ext cx="149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008119" y="2743200"/>
            <a:ext cx="149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49112" y="2743200"/>
            <a:ext cx="149352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90104" y="2743200"/>
            <a:ext cx="149351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531095" y="2743200"/>
            <a:ext cx="149353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66928" y="1901952"/>
            <a:ext cx="1600200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Hook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07920" y="1901952"/>
            <a:ext cx="1600200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72512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72512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72512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Set-up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8912" y="1901952"/>
            <a:ext cx="1600200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13504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350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3504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Complication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9903" y="1901952"/>
            <a:ext cx="1600200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54495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5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54495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Choice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0895" y="1901952"/>
            <a:ext cx="1600200" cy="1700784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95487" y="2084831"/>
            <a:ext cx="438912" cy="438912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5487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5487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Reveal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71888" y="1901952"/>
            <a:ext cx="1600200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0D30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936479" y="2084831"/>
            <a:ext cx="438912" cy="438912"/>
          </a:xfrm>
          <a:prstGeom prst="ellipse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36479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6479" y="2697480"/>
            <a:ext cx="1271016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Final image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0-5 seconds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5-20 seconds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20-40 seconds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40-60 seconds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Asking one prompt to generate the full minute with many changing actions.</a:t>
            </a:r>
          </a:p>
        </p:txBody>
      </p:sp>
    </p:spTree>
  </p:cSld>
  <p:transition spd="med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Storyboard a one-minute episode: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Asking one prompt to generate the full minute with many changing actions.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Create the storyboard first, then generate each shot separately using the same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Six short shots give a one-minute story enough movement without becoming confusing.</a:t>
            </a:r>
          </a:p>
        </p:txBody>
      </p:sp>
    </p:spTree>
  </p:cSld>
  <p:transition spd="med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Storyboard a one-minute episode: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105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Six shots: arrival, clue, reaction, misunderstanding, reveal, emotional closing image.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0-5 seconds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5-20 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20-40 seconds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40-60 seconds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Six short shots give a one-minute story enough movement without becoming confusing.</a:t>
            </a:r>
          </a:p>
        </p:txBody>
      </p:sp>
    </p:spTree>
  </p:cSld>
  <p:transition spd="med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Keep continuity across shots: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Lock the character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Lock the location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Track props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Match screen direction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Character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Location reference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Prop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Previous-frame check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Describing only what changes and forgetting what must stay the same.</a:t>
            </a:r>
          </a:p>
        </p:txBody>
      </p:sp>
    </p:spTree>
  </p:cSld>
  <p:transition spd="med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Keep continuity across shots: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Describing only what changes and forgetting what must stay the same.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Add a continuity line to every shot prompt and compare adjacent frames before moving 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Each new shot should inherit what must remain unchanged from the previous shot.</a:t>
            </a:r>
          </a:p>
        </p:txBody>
      </p:sp>
    </p:spTree>
  </p:cSld>
  <p:transition spd="med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Keep continuity across shots: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108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072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17320"/>
            <a:ext cx="6510528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09928"/>
            <a:ext cx="596188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084831"/>
            <a:ext cx="5961888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Keep Mei's teal overshirt, cream apron, hairstyle and left-to-right movement unchanged; same morning cafe lighting.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822191"/>
            <a:ext cx="5961888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169663"/>
            <a:ext cx="2880360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Character reference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14216" y="4169663"/>
            <a:ext cx="2880360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69080" y="4261103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Location reference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773168"/>
            <a:ext cx="2880360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Prop list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14216" y="4773168"/>
            <a:ext cx="2880360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69080" y="4864607"/>
            <a:ext cx="2770632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Previous-frame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22392"/>
            <a:ext cx="5961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Each new shot should inherit what must remain unchanged from the previous shot.</a:t>
            </a:r>
          </a:p>
        </p:txBody>
      </p:sp>
    </p:spTree>
  </p:cSld>
  <p:transition spd="med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SIMPLE EXPLANATION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the agentic pipeline for a series: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109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596128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357616" y="2743200"/>
            <a:ext cx="402336" cy="0"/>
          </a:xfrm>
          <a:prstGeom prst="line">
            <a:avLst/>
          </a:prstGeom>
          <a:ln w="25400">
            <a:solidFill>
              <a:srgbClr val="5365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6928" y="1901952"/>
            <a:ext cx="2267712" cy="170078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2084831"/>
            <a:ext cx="438912" cy="43891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Research the episode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28416" y="1901952"/>
            <a:ext cx="2267712" cy="170078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93008" y="2084831"/>
            <a:ext cx="438912" cy="43891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93008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3008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Write and storyboard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9904" y="1901952"/>
            <a:ext cx="2267712" cy="170078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54496" y="2084831"/>
            <a:ext cx="438912" cy="43891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54496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and assemble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51392" y="1901952"/>
            <a:ext cx="2267712" cy="170078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15984" y="2084831"/>
            <a:ext cx="438912" cy="43891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2084831"/>
            <a:ext cx="438912" cy="43891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2697480"/>
            <a:ext cx="1938528" cy="6126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Audit and learn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005072"/>
            <a:ext cx="7004304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15384"/>
            <a:ext cx="32004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CHOICES TO KEEP IN 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Series bible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4590288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Episode brief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Approved references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093207"/>
            <a:ext cx="29260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Continuity notes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73568" y="4005072"/>
            <a:ext cx="3502152" cy="17830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4215384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C93E36"/>
                </a:solidFill>
                <a:latin typeface="Arial"/>
              </a:rPr>
              <a:t>COMMON MISTAKE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4590288"/>
            <a:ext cx="29718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Starting every episode from a blank prompt and repeating old mistakes.</a:t>
            </a:r>
          </a:p>
        </p:txBody>
      </p:sp>
    </p:spTree>
  </p:cSld>
  <p:transition spd="med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CREATIVE TIP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the agentic pipeline for a series: best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4736592" cy="3054096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92224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C93E36"/>
                </a:solidFill>
                <a:latin typeface="Arial"/>
              </a:rPr>
              <a:t>AVOID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331720"/>
            <a:ext cx="658368" cy="658368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4708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14202C"/>
                </a:solidFill>
                <a:latin typeface="Arial"/>
              </a:rPr>
              <a:t>Starting every episode from a blank prompt and repeating old mistakes.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13832" y="2999232"/>
            <a:ext cx="1051560" cy="0"/>
          </a:xfrm>
          <a:prstGeom prst="line">
            <a:avLst/>
          </a:prstGeom>
          <a:ln w="381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84848" y="1481328"/>
            <a:ext cx="4736592" cy="3054096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59168" y="1792224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29367"/>
                </a:solidFill>
                <a:latin typeface="Arial"/>
              </a:rPr>
              <a:t>TRY THIS</a:t>
            </a:r>
          </a:p>
        </p:txBody>
      </p:sp>
      <p:sp>
        <p:nvSpPr>
          <p:cNvPr id="16" name="Oval 15"/>
          <p:cNvSpPr/>
          <p:nvPr/>
        </p:nvSpPr>
        <p:spPr>
          <a:xfrm>
            <a:off x="7059168" y="2331720"/>
            <a:ext cx="658368" cy="65836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59168" y="2331720"/>
            <a:ext cx="658368" cy="65836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3568" y="2212848"/>
            <a:ext cx="315468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900" b="1">
                <a:solidFill>
                  <a:srgbClr val="0D3056"/>
                </a:solidFill>
                <a:latin typeface="Arial"/>
              </a:rPr>
              <a:t>After release, save what worked as examples and revise the series skill before the next episode.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74519" y="5010912"/>
            <a:ext cx="8439912" cy="749808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48840" y="5212080"/>
            <a:ext cx="7891272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The team improves over time when each episode updates reusable story and visual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COPY AND ADAPT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Use the agentic pipeline for a series: prompt example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111</a:t>
            </a:r>
          </a:p>
        </p:txBody>
      </p:sp>
      <p:pic>
        <p:nvPicPr>
          <p:cNvPr id="8" name="Picture 7" descr="topic-4-mei-storyboard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4096512" cy="449884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1417320"/>
            <a:ext cx="6766560" cy="4498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09928"/>
            <a:ext cx="6217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COPYABLE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84831"/>
            <a:ext cx="6217920" cy="148132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Episode 02 reuses the same character pack, cafe reference, title style, sound palette and review checklist.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22191"/>
            <a:ext cx="6217920" cy="2468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KEEP THESE CHOICES IN 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4169663"/>
            <a:ext cx="3008376" cy="43891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Series bible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38744" y="4169663"/>
            <a:ext cx="3008376" cy="43891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608" y="4261103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Episode brief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4773168"/>
            <a:ext cx="3008376" cy="43891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84064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Approved references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38744" y="4773168"/>
            <a:ext cx="3008376" cy="438912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93608" y="4864607"/>
            <a:ext cx="2898648" cy="2103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4202C"/>
                </a:solidFill>
                <a:latin typeface="Arial"/>
              </a:rPr>
              <a:t>Continuity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5422392"/>
            <a:ext cx="621792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>
                <a:solidFill>
                  <a:srgbClr val="536577"/>
                </a:solidFill>
                <a:latin typeface="Arial"/>
              </a:rPr>
              <a:t>The team improves over time when each episode updates reusable story and visual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The one-minute story arc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Hook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Set-up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Complication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Choice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Reveal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520439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0768" y="3867911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Final image</a:t>
            </a:r>
          </a:p>
        </p:txBody>
      </p:sp>
    </p:spTree>
  </p:cSld>
  <p:transition spd="med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 character is more than a name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Hair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Wardrobe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Manner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Voice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3520439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0768" y="3867911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1715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Reference image</a:t>
            </a:r>
          </a:p>
        </p:txBody>
      </p:sp>
    </p:spTree>
  </p:cSld>
  <p:transition spd="med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Continuity travels shot to 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person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42900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239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place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42900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30768" y="1901952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17152" y="1901952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props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20439"/>
            <a:ext cx="342900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light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520439"/>
            <a:ext cx="342900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36008" y="3867911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3600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2392" y="3867911"/>
            <a:ext cx="224028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Same direction</a:t>
            </a:r>
          </a:p>
        </p:txBody>
      </p:sp>
    </p:spTree>
  </p:cSld>
  <p:transition spd="med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 series grows from reusable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120640" cy="150876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1901952"/>
            <a:ext cx="640080" cy="6400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Series bible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554480"/>
            <a:ext cx="5120640" cy="150876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73368" y="1901952"/>
            <a:ext cx="640080" cy="64008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1901952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9752" y="1901952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Character bible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20439"/>
            <a:ext cx="5120640" cy="150876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7" y="3867911"/>
            <a:ext cx="640080" cy="6400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Location pack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520439"/>
            <a:ext cx="5120640" cy="150876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73368" y="3867911"/>
            <a:ext cx="640080" cy="6400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867911"/>
            <a:ext cx="640080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9752" y="3867911"/>
            <a:ext cx="3931920" cy="7498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Approved examples</a:t>
            </a:r>
          </a:p>
        </p:txBody>
      </p:sp>
    </p:spTree>
  </p:cSld>
  <p:transition spd="med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Build the micro-drama visually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116</a:t>
            </a:r>
          </a:p>
        </p:txBody>
      </p:sp>
      <p:pic>
        <p:nvPicPr>
          <p:cNvPr id="8" name="Picture 7" descr="topic-4-micro-drama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THREE PRACTICAL TIPS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Write one sentence that describes the world, character and recurring emotional question.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Use the same reference image and repeat five essential traits in every character prompt.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Create the storyboard first, then generate each shot separately using the same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VISUAL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Check character consistency shot by 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117</a:t>
            </a:r>
          </a:p>
        </p:txBody>
      </p:sp>
      <p:pic>
        <p:nvPicPr>
          <p:cNvPr id="8" name="Picture 7" descr="topic-4-micro-drama-v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53312"/>
            <a:ext cx="6812280" cy="44348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54112" y="1353312"/>
            <a:ext cx="37033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1664208"/>
            <a:ext cx="3108960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875C4"/>
                </a:solidFill>
                <a:latin typeface="Arial"/>
              </a:rPr>
              <a:t>PROMPT EXAMPLES</a:t>
            </a:r>
          </a:p>
        </p:txBody>
      </p:sp>
      <p:sp>
        <p:nvSpPr>
          <p:cNvPr id="11" name="Oval 10"/>
          <p:cNvSpPr/>
          <p:nvPr/>
        </p:nvSpPr>
        <p:spPr>
          <a:xfrm>
            <a:off x="8028431" y="224028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224028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68512" y="2139696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14202C"/>
                </a:solidFill>
                <a:latin typeface="Arial"/>
              </a:rPr>
              <a:t>Six shots: arrival, clue, reaction, misunderstanding, reveal, emotional closing image.</a:t>
            </a:r>
          </a:p>
        </p:txBody>
      </p:sp>
      <p:sp>
        <p:nvSpPr>
          <p:cNvPr id="14" name="Oval 13"/>
          <p:cNvSpPr/>
          <p:nvPr/>
        </p:nvSpPr>
        <p:spPr>
          <a:xfrm>
            <a:off x="8028431" y="3300984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28431" y="3300984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200400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Keep Mei's teal overshirt, cream apron, hairstyle and left-to-right movement unchanged; same morning cafe lighting.</a:t>
            </a:r>
          </a:p>
        </p:txBody>
      </p:sp>
      <p:sp>
        <p:nvSpPr>
          <p:cNvPr id="17" name="Oval 16"/>
          <p:cNvSpPr/>
          <p:nvPr/>
        </p:nvSpPr>
        <p:spPr>
          <a:xfrm>
            <a:off x="8028431" y="4361688"/>
            <a:ext cx="475488" cy="475488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4361688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4261104"/>
            <a:ext cx="2404872" cy="8412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14202C"/>
                </a:solidFill>
                <a:latin typeface="Arial"/>
              </a:rPr>
              <a:t>Episode 02 reuses the same character pack, cafe reference, title style, sound palette and review checklist.</a:t>
            </a:r>
          </a:p>
        </p:txBody>
      </p:sp>
    </p:spTree>
  </p:cSld>
  <p:transition spd="med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LAB BRIEF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Create a One-Minute Micro-Drama Episode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6967728" cy="1847088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875C4"/>
                </a:solidFill>
                <a:latin typeface="Arial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630936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>
                <a:solidFill>
                  <a:srgbClr val="0D3056"/>
                </a:solidFill>
                <a:latin typeface="Arial"/>
              </a:rPr>
              <a:t>Create a series promise, character bible, six-shot storyboard and consistent one-minute pilot episode using the Hermes agentic pipeline.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6992" y="1508760"/>
            <a:ext cx="3538728" cy="1847088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74736" y="1755648"/>
            <a:ext cx="18288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EXPECTED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176272"/>
            <a:ext cx="301752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A one-minute pilot, storyboard and continuity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86784"/>
            <a:ext cx="1037844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000" b="1">
                <a:solidFill>
                  <a:srgbClr val="0D3056"/>
                </a:solidFill>
                <a:latin typeface="Arial"/>
              </a:rPr>
              <a:t>Detailed click paths, prompts, troubleshooting and acceptance checks are in the Learner Guide and lab PDF.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57400" y="5074920"/>
            <a:ext cx="8092440" cy="640080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5212080"/>
            <a:ext cx="7543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14202C"/>
                </a:solidFill>
                <a:latin typeface="Arial"/>
              </a:rPr>
              <a:t>Open Lab 04 from the course repository.</a:t>
            </a:r>
          </a:p>
        </p:txBody>
      </p:sp>
    </p:spTree>
  </p:cSld>
  <p:transition spd="med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WILL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creative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119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340864"/>
            <a:ext cx="621792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04888" y="2340864"/>
            <a:ext cx="621791" cy="0"/>
          </a:xfrm>
          <a:prstGeom prst="line">
            <a:avLst/>
          </a:prstGeom>
          <a:ln w="25400">
            <a:solidFill>
              <a:srgbClr val="1875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150608" y="4352544"/>
            <a:ext cx="576071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3611880" y="4352544"/>
            <a:ext cx="576072" cy="0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72016" y="2944368"/>
            <a:ext cx="0" cy="512064"/>
          </a:xfrm>
          <a:prstGeom prst="line">
            <a:avLst/>
          </a:prstGeom>
          <a:ln w="25400">
            <a:solidFill>
              <a:srgbClr val="1293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157276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41832" y="1737360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Define series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15968" y="157276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80559" y="1737360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0328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character bible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54696" y="157276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19288" y="1737360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19288" y="1737360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182880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Write episode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54696" y="3584448"/>
            <a:ext cx="2834640" cy="1536192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19288" y="3749039"/>
            <a:ext cx="475488" cy="475488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19288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056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Storyboard six shots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15968" y="3584448"/>
            <a:ext cx="2834640" cy="1536192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80559" y="3749039"/>
            <a:ext cx="475488" cy="475488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59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0328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Create and assemble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3584448"/>
            <a:ext cx="2834640" cy="1536192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1832" y="3749039"/>
            <a:ext cx="475488" cy="475488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1832" y="3749039"/>
            <a:ext cx="475488" cy="47548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840480"/>
            <a:ext cx="2011680" cy="8229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D3056"/>
                </a:solidFill>
                <a:latin typeface="Arial"/>
              </a:rPr>
              <a:t>Audit continuity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10058400" cy="6217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0D3056"/>
                </a:solidFill>
                <a:latin typeface="Arial"/>
              </a:rPr>
              <a:t>Move from idea to draft, then pause to review what a viewer will actually experience.</a:t>
            </a:r>
          </a:p>
        </p:txBody>
      </p:sp>
    </p:spTree>
  </p:cSld>
  <p:transition spd="med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VIEWER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Lab 04 · review and improve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81328"/>
            <a:ext cx="6812280" cy="2011680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55648"/>
            <a:ext cx="20116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129367"/>
                </a:solidFill>
                <a:latin typeface="Arial"/>
              </a:rPr>
              <a:t>SUCCESS LOOKS LIKE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6272784" cy="9875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The series and character bibles are complete, the storyboard covers six timed shots, the same character and setting details appear throughout, and the continuity review identifies or clears visible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481328"/>
            <a:ext cx="3621024" cy="2011680"/>
          </a:xfrm>
          <a:prstGeom prst="roundRect">
            <a:avLst/>
          </a:prstGeom>
          <a:solidFill>
            <a:srgbClr val="FDF1F0"/>
          </a:solidFill>
          <a:ln w="12700">
            <a:solidFill>
              <a:srgbClr val="C93E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65008" y="1755648"/>
            <a:ext cx="228600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>
                <a:solidFill>
                  <a:srgbClr val="C93E36"/>
                </a:solidFill>
                <a:latin typeface="Arial"/>
              </a:rPr>
              <a:t>PAUSE AND REWORK WHEN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2176272"/>
            <a:ext cx="3090672" cy="9692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4202C"/>
                </a:solidFill>
                <a:latin typeface="Arial"/>
              </a:rPr>
              <a:t>the story is unclear, style changes between shots, an asset is not authorised, or publishing approval is missing.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save what you asked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1296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DRAFT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watch as a viewer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2784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name exact changes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34272" y="4069080"/>
            <a:ext cx="2450592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0576" y="4270248"/>
            <a:ext cx="215798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500" b="1">
                <a:solidFill>
                  <a:srgbClr val="0D3056"/>
                </a:solidFill>
                <a:latin typeface="Arial"/>
              </a:rPr>
              <a:t>VERSION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0576" y="4754880"/>
            <a:ext cx="2157984" cy="2926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>
                <a:solidFill>
                  <a:srgbClr val="14202C"/>
                </a:solidFill>
                <a:latin typeface="Arial"/>
              </a:rPr>
              <a:t>compare the result</a:t>
            </a:r>
          </a:p>
        </p:txBody>
      </p:sp>
    </p:spTree>
  </p:cSld>
  <p:transition spd="med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4 creative checkpoint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will the viewer understand in the opening seconds?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Which visual choice makes the message easier to follow?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should remain consistent from shot to shot?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What feedback would improve the next version most?</a:t>
            </a:r>
          </a:p>
        </p:txBody>
      </p:sp>
    </p:spTree>
  </p:cSld>
  <p:transition spd="med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REFLECT AND APPLY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Topic 4 try it your 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536192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" y="179222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Adapt one example prompt to your own audience and subject.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36192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1792224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79222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1810512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Replace vague style words with visible creative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694176"/>
            <a:ext cx="5193792" cy="169164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23544" y="3950208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Plan one review question before asking Hermes to create.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694176"/>
            <a:ext cx="5193792" cy="169164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73952" y="3950208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950208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968496"/>
            <a:ext cx="3913632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0D3056"/>
                </a:solidFill>
                <a:latin typeface="Arial"/>
              </a:rPr>
              <a:t>Name the one improvement you will make before adding effects.</a:t>
            </a:r>
          </a:p>
        </p:txBody>
      </p:sp>
    </p:spTree>
  </p:cSld>
  <p:transition spd="med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WHAT YOU CAN NOW CREATE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Course achievement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353312"/>
            <a:ext cx="10808208" cy="877824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1875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517904"/>
            <a:ext cx="530352" cy="530352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517904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499616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LO1: Explain the agentic loop, set up Hermes Agent with MiniMax M3, and create a first short video from a clear prompt.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578608"/>
            <a:ext cx="10808208" cy="877824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17AB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743200"/>
            <a:ext cx="530352" cy="530352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743200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724912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LO2: Improve the first video by choosing suitable video tools, adding reusable skills, and applying brand, tone and style guidance.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03904"/>
            <a:ext cx="10808208" cy="877824"/>
          </a:xfrm>
          <a:prstGeom prst="roundRect">
            <a:avLst/>
          </a:prstGeom>
          <a:solidFill>
            <a:srgbClr val="EFFAF5"/>
          </a:solidFill>
          <a:ln w="12700">
            <a:solidFill>
              <a:srgbClr val="1293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968496"/>
            <a:ext cx="530352" cy="530352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968496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950208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LO3: Coordinate research, script, video, review and YouTube agents on a Kanban board and schedule the workflow.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5029200"/>
            <a:ext cx="10808208" cy="877824"/>
          </a:xfrm>
          <a:prstGeom prst="roundRect">
            <a:avLst/>
          </a:prstGeom>
          <a:solidFill>
            <a:srgbClr val="FEF8EC"/>
          </a:solidFill>
          <a:ln w="12700">
            <a:solidFill>
              <a:srgbClr val="E0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5193792"/>
            <a:ext cx="530352" cy="530352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193792"/>
            <a:ext cx="530352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5175504"/>
            <a:ext cx="9418320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0D3056"/>
                </a:solidFill>
                <a:latin typeface="Arial"/>
              </a:rPr>
              <a:t>LO4: Plan a consistent one-minute micro-drama series with reusable story, character, location and visual references.</a:t>
            </a:r>
          </a:p>
        </p:txBody>
      </p:sp>
    </p:spTree>
  </p:cSld>
  <p:transition spd="med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Access the learning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Use the LMS for attendance evidence, learner resources and assessment instructions.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Open https://lms-tms.tertiaryinfotech.com/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your assigned learner account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Confirm the course title and code before submitting evidence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Ask the trainer if access is blocked</a:t>
            </a:r>
          </a:p>
        </p:txBody>
      </p:sp>
    </p:spTree>
  </p:cSld>
  <p:transition spd="med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Before you publish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125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Pause once and watch the video as your audience would.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Is the story clear without explanation?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Are the people, places and style consistent?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Are the facts and assets authorised?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293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Has a person approved the final version?</a:t>
            </a:r>
          </a:p>
        </p:txBody>
      </p:sp>
    </p:spTree>
  </p:cSld>
  <p:transition spd="med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reminder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Demonstrate understanding and an evidence-backed end-to-end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Written Assessment (SAQ): 5 questions / 60 minutes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Practical Performance: 3 tasks / 60 minutes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only learner-safe lab data and workflow exports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E0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Submit through the instructed LMS route</a:t>
            </a:r>
          </a:p>
        </p:txBody>
      </p:sp>
    </p:spTree>
  </p:cSld>
  <p:transition spd="med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Assessment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1→4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Complete both components and retain the requested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Briefing and identity check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Written Assessment (K1–K5)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Practical Performance (A1–A6)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Assessor review and outcome</a:t>
            </a:r>
          </a:p>
        </p:txBody>
      </p:sp>
    </p:spTree>
  </p:cSld>
  <p:transition spd="med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41148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1875C4"/>
                </a:solidFill>
                <a:latin typeface="Arial"/>
              </a:rPr>
              <a:t>COURSE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55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0D3056"/>
                </a:solidFill>
                <a:latin typeface="Arial"/>
              </a:rPr>
              <a:t>Digital attendance is mandatory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22860"/>
          </a:xfrm>
          <a:prstGeom prst="rect">
            <a:avLst/>
          </a:prstGeom>
          <a:solidFill>
            <a:srgbClr val="1875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65392"/>
            <a:ext cx="7223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rial"/>
              </a:rPr>
              <a:t>Agentic AI for Video Creation  •  TGS-2023036088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6565392"/>
            <a:ext cx="33375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Arial"/>
              </a:rPr>
              <a:t>© Tertiary Infotech Academy Pte Ltd  |  Slide 128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08760"/>
            <a:ext cx="1097280" cy="1097280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08760"/>
            <a:ext cx="1097280" cy="10972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3392" y="1508760"/>
            <a:ext cx="9144000" cy="74980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0D3056"/>
                </a:solidFill>
                <a:latin typeface="Arial"/>
              </a:rPr>
              <a:t>Attendance evidence is part of the course administration record.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2523744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607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93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14202C"/>
                </a:solidFill>
                <a:latin typeface="Arial"/>
              </a:rPr>
              <a:t>Check in at the instructed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523744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47104" y="2770632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2770632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5744" y="2688336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Use the correct learner identity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694176"/>
            <a:ext cx="5212080" cy="914400"/>
          </a:xfrm>
          <a:prstGeom prst="roundRect">
            <a:avLst/>
          </a:prstGeom>
          <a:solidFill>
            <a:srgbClr val="EFF7FD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07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Complete both attendance events each training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3694176"/>
            <a:ext cx="5212080" cy="914400"/>
          </a:xfrm>
          <a:prstGeom prst="roundRect">
            <a:avLst/>
          </a:prstGeom>
          <a:solidFill>
            <a:srgbClr val="EDFBFA"/>
          </a:solidFill>
          <a:ln w="1270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47104" y="3941064"/>
            <a:ext cx="420624" cy="420624"/>
          </a:xfrm>
          <a:prstGeom prst="ellipse">
            <a:avLst/>
          </a:prstGeom>
          <a:solidFill>
            <a:srgbClr val="C93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4" y="3941064"/>
            <a:ext cx="420624" cy="42062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95744" y="3858768"/>
            <a:ext cx="4352544" cy="5943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0">
                <a:solidFill>
                  <a:srgbClr val="14202C"/>
                </a:solidFill>
                <a:latin typeface="Arial"/>
              </a:rPr>
              <a:t>Notify the trainer immediately if the form fails</a:t>
            </a:r>
          </a:p>
        </p:txBody>
      </p:sp>
    </p:spTree>
  </p:cSld>
  <p:transition spd="med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0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1234440"/>
            <a:ext cx="1024128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Arial"/>
              </a:rPr>
              <a:t>Create stories people can follow and remember.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523744"/>
            <a:ext cx="1024128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900" b="1">
                <a:solidFill>
                  <a:srgbClr val="17ABB7"/>
                </a:solidFill>
                <a:latin typeface="Arial"/>
              </a:rPr>
              <a:t>Clear prompt  •  Consistent style  •  Thoughtful review</a:t>
            </a:r>
          </a:p>
        </p:txBody>
      </p:sp>
      <p:sp>
        <p:nvSpPr>
          <p:cNvPr id="5" name="Oval 4"/>
          <p:cNvSpPr/>
          <p:nvPr/>
        </p:nvSpPr>
        <p:spPr>
          <a:xfrm>
            <a:off x="5376672" y="3474720"/>
            <a:ext cx="1417320" cy="1417320"/>
          </a:xfrm>
          <a:prstGeom prst="ellipse">
            <a:avLst/>
          </a:prstGeom>
          <a:solidFill>
            <a:srgbClr val="17AB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76672" y="3474720"/>
            <a:ext cx="1417320" cy="1417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>
                <a:solidFill>
                  <a:srgbClr val="0D3056"/>
                </a:solidFill>
                <a:latin typeface="Arial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5239512"/>
            <a:ext cx="9738360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Dr Alfred Ang  |  Tertiary Infotech Academy Pte Ltd
TGS-2023036088  •  v4.0  •  16 September 2026</a:t>
            </a:r>
          </a:p>
        </p:txBody>
      </p:sp>
    </p:spTree>
  </p:cSld>
  <p:transition spd="med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for Video Creation</dc:title>
  <dc:subject>TGS-2023036088 • MED-MPN-4005-1.1 - Video Editing-4</dc:subject>
  <dc:creator>Tertiary Infotech Academy Pte Ltd</dc:creator>
  <cp:keywords/>
  <dc:description>Highly visual, learner-friendly WSQ courseware; detailed procedures are in the Learner Guide and lab PDFs.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