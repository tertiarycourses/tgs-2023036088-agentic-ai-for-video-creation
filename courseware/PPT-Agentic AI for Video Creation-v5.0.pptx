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326" r:id="rId73"/>
    <p:sldId id="327" r:id="rId60"/>
    <p:sldId id="328" r:id="rId59"/>
    <p:sldId id="329" r:id="rId77"/>
    <p:sldId id="330" r:id="rId78"/>
    <p:sldId id="331" r:id="rId79"/>
    <p:sldId id="332" r:id="rId80"/>
    <p:sldId id="333" r:id="rId81"/>
    <p:sldId id="334" r:id="rId82"/>
    <p:sldId id="264" r:id="rId10"/>
    <p:sldId id="265" r:id="rId11"/>
    <p:sldId id="266" r:id="rId12"/>
    <p:sldId id="318" r:id="rId64"/>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317" r:id="rId63"/>
    <p:sldId id="455" r:id="rId203"/>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knowledge statements come from the Video Editing TSC at proficiency level 4. The Written Assessment has one question for each.</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Learning Outcomes are those approved for this WSQ course. Each topic in the course serves one of them, and the assessment checks each one.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ability statements are what you do in the labs and demonstrate in the Practical Performance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learners which Learning Outcome this topic serves (LO1) and read the K and A statements aloud. They are assessed in WA Q1 and PP Task 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Artificial intelligence began as a question — can machines think? — and moved from hand-written rules, to search, to systems that learn from data. Two breakthroughs made today's tools possible: deep learning (2012), which let neural networks learn from millions of examples, and the Transformer (2017), the architecture behind every large language model.</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 made generative AI an everyday tool in 2022. Models then learned to see and make images and video. From 2025 models began to plan, use tools and check their own work — agentic AI. By 2026 always-on AI agents such as Hermes, and video agents such as Flova, can run whole creative workflows under human direction.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terms are often used loosely. In this course: both use tool calling and skills, and both use memory. Agentic AI is task-oriented — it is given a task, works through it and stops, so it need not run 24/7. An AI agent is always on: it lives on a computer or server, keeps long-term memory and can be woken by a schedule, a message or another agent.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language model on its own can only answer. An agent wraps the model with instructions, tools, skills, memory, context and guardrails so it can take actions and check them. Start every project with one agent; add more only when the work clearly splits into different jobs.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is goal, plan, act, observe, reflect — repeated until the goal is met or the agent needs approval. Your job is to give a clear goal and rules, and to review at the points where a mistake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does not remove the classic stages of production; it changes who does them and how fast. Skipping pre-production is the most common reason AI video looks random — there is no brief, no storyboard and no character reference for the model to follow.</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Short-form video compresses the three-act structure into about six beats. The hook must make the viewer feel the problem within five seconds; the payoff should mirror the hook so the change is obvious.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storyboard breaks the script into shots. Each shot has one size, one angle, one movement and one action, plus a continuity line that says what must stay the same. This is also the right unit for an AI video model: one prompt per shot.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Consistency comes from repeating concrete traits, not names. A character bible lists five visible traits that never change; reference images (Elements in Flova) let the model reproduce them in every shot.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issues fall into five types: technical picture problems, technical sound problems, issues typical of AI generation, story and continuity problems, and compliance problems. Knowing the type tells you how to spot the issue and which kind of solution will fix it.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Reviewing a script means deciding, scene by scene, which edits will create the intended feeling. A match cut links two ideas, a montage compresses time, a J-cut or L-cut lets sound lead or trail the picture, and a text overlay fixes the key idea in the viewer's memory.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(50 min, K1, A1). Use one AI agent to turn an idea into a brief and a timed script, then review the script to decide the edits each scene needs. One agent is enough here. Planning is a single line of thought — brief, script, review — and a second agent would only repeat it. You will add agents in Topic 3, when the work splits into different jobs. Attach the two files rather than pasting them, so the agent can re-read them at every step. That is the agent's context. The brief comes before the script because it fixes the audience, the one message and the rules. A script written without a brief drifts into generic money tips. The script review is the A1 skill: reading a script and deciding which edits will deliver the creative vision — a match cut between the tin and the banking app, a montage for "six months later", a text overlay for the rule. Your decision step matters. The agent proposes; the producer decides. Record why you rejected a suggestion — that note is evidence of judgement.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Editing standards are the written rules every episode must meet. Writing them down makes them checkable by a reviewer — and usable by an AI agent as a skill. Each rule should have a number or a yes/no test.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studio publishing money education in Singapore must respect copyright, personal data protection, the line between general education and regulated financial advice, advertising standards, and platform rules on AI-generated content. This table is general guidance for the course scenario,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loudness is set by EBU R128 (-23 LUFS) in Europe and ATSC A/85 (-24 LKFS) in the US; streaming platforms normalise playback to roughly -14 LUFS. Picture, captions and framing have their own standards. Quote them with numbers in your guidelines.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 plan lists each post-production stage with its owner, duration, dependency and review gate. The dependencies define the critical path; the gates define where work stops until someone approves.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(60 min, A2, A3). Turn the approved script into the documents a production team — human or AI — works from. A character bible lists the traits that must never change — face, hair, glasses, clothes, the prop. AI video models forget; repeating the same five traits in every shot prompt is how you keep Rachel recognisable. Storyboard in shots, not scenes. A shot has one size (close-up, medium, wide), one angle, one movement and one action. That is the unit a video model generates well. The continuity line tells the next shot what must stay the same: same cardigan, same tin, same light, Rachel moving left to right. Editing standards are the A2 skill: guidelines every editor (and every agent) follows, written against legal requirements — copyright, personal data, fair money messaging — and broadcasting or platform standards such as loudness, safe areas and captions. The work plan is the A3 skill: the post-production stages in order, each with an owner, a duration and a review gate, so the episode can hit its date.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learners which Learning Outcome this topic serves (LO2) and read the K and A statements aloud. They are assessed in WA Q2, WA Q3 and PP Task 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video generator turns one prompt into one short clip. A video agent such as Flova runs the production: it agrees the brief, writes the storyboard, generates every asset, assembles the timeline and lets you change any part.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Flova's agent moves through a creative brief, script, storyboard, visual strategy, parallel generation of images, video, voice and music, a rough cut on the timeline and export. If you choose to pause at key checkpoints, it stops for your approval before spending credits on media.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Elements are Flova's reusable characters and props, each with a reference sheet. Mentioning an Element with @ in a project makes every shot use the same reference — the most effective way to keep a face consistent.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(75 min, K2, A4 (preparation)). Direct a video agent through brief, storyboard, generation and assembly — confirming at each checkpoint instead of hoping. Flova calls itself an all-in-one video agent: one chat that writes, storyboards, generates images, video, voice and music, and edits the timeline. You stay the director. Elements are Flova's reusable characters and props. Building them first, from your character bible, is what keeps Rachel the same person in shot 1 and shot 5. The Creative Brief card asks for project name, video type, target audience, output language, aspect ratio, duration, narrative driver, visual style and sound tonality. These are the same decisions you made in Lab 1. Choose to pause at key checkpoints rather than run everything in one pass. A checkpoint costs you a minute; a wrong generation costs credits. Generation runs in parallel and uses credits by model, length and resolution. Export the first cut at 720p; you will export the final at 1080p in Lab 4.</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edited footage twice. The story pass (ability A4) asks what the viewer feels in each scene and what change would strengthen it. The technical pass (ability A5) measures each parameter against its target.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Editing controls emotion: shot length sets energy, reaction shots let us feel through a character, music and silence frame a reveal, and a payoff that mirrors the hook makes the change visible.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kind of issue has a matching kind of solution: regenerate with locked references, re-edit on the timeline, re-mix the audio, re-caption, replace generated text with a graphic, or re-export and enhance. Choose the cheapest solution that fixes the problem, and prevent it next time in the prompt or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QC compares the edited footage with measurable targets: resolution, frame rate, duration, loudness, captions and continuity. Record the actual value, the target and PASS or FAIL, so that anyone can repeat the check.</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4 (60 min, K2, K3, A4, A5). Review edited footage twice — once for story and emotion, once against technical parameters — then fix only what needs fixing. Two passes, two questions. The story pass asks "what does the viewer feel in this scene, and is it what we intended?" — the A4 skill. The technical pass asks "does this meet the parameter?" — the A5 skill. Watch on a phone first. Vertical video is judged on a phone, with thumbs ready to swipe; a laptop hides problems with caption size and pacing. Parameters are the measurable qualities of a video: resolution, aspect ratio, frame rate, duration, loudness and peaks, dialogue clarity, sync, caption accuracy and timing, colour and exposure consistency, and continuity (K3). Match each issue to a solution type (K2): regenerate one shot with locked references, re-time or trim on the timeline, lower the music under the voice, correct the captions, add a missing disclaimer, or replace an asset whose rights are unclear. Regenerate only the broken shot. Regenerating the whole episode spends credits and can break shots that were already right.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learners which Learning Outcome this topic serves (LO3) and read the K and A statements aloud. They are assessed in WA Q4, WA Q5 and PP Task 3.</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Hermes Agent is an open-source AI agent from Nous Research. It runs on your machine or a server, keeps long-term memory, connects to messaging apps, schedules its own work and saves good workflows as skills.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Hermes can be extended in five ways. Tools are built-in actions. Skills are instruction folders loaded when a task matches. Plugins are Python code that adds tools, hooks or backends. MCP servers are outside services. Profiles are whole separate agents.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Flova's Agent CLI lets an external agent create Flova projects, send natural-language requests, read the real project state and export the final video. The setup prompt installs the CLI and a skill; Hermes uses the skill like any other.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Industry quality standards are published, measurable rules — loudness, colour, platform specifications and accessibility. A video that meets them plays correctly and comfortably wherever it is published.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standards protect viewers and the publisher: rights to every asset, personal data protection, fair and lawful money messaging, honest advertising and clear labelling of AI-generated media.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remedial action plan turns each non-compliance into a corrective action with an owner and a due date, ordered by risk. The final step — updating the standard or the skill — stops the same issue returning in the next episode.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5 (60 min, K4, A6). Give an always-on agent the tools (Flova), skills (compliance review) and plugins it needs, then use it to find and fix non-compliance in Episode 1. Hermes Agent (Nous Research) is an open-source agent that runs on your computer or a server, remembers across sessions and can stay on all day — that is the "AI agent" in this course's sense. Flova publishes an Agent CLI with a skill that tells other agents how to drive it. Hermes reads that skill, so it can create Flova projects, read real progress and export videos for you. A skill is instructions (SKILL.md plus references) loaded when the task matches. A plugin is code that adds tools, hooks or commands to Hermes. MCP connects an outside server. Use the lightest one that does the job. The compliance skill turns the studio's standards into a repeatable review: platform specs, loudness, captions, copyright, personal data, money messaging and AI-content labelling (K4). A finding is only useful with a remedy. The remedial action plan is the A6 skill: for each non-compliance, the standard it breaks, the risk, the corrective action, the owner and the due date.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role in the studio is a separate Hermes profile with its own instructions and skills. Separating the reviewer from the director gives an independent check; the human approval card keeps a person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Hermes Kanban stores tasks, owners, dependencies, comments and hand-offs. The dispatcher in the gateway starts each assigned profile as a worker; a child task waits until all its parents are done.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new technology improves something specific — speed, consistency, accessibility or final quality — and brings a risk to manage. Knowing both is what lets you recommend it responsibly.</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Adoption is a change process: measure a baseline, run a small pilot with clear success measures, train people, put governance in place, measure weekly and decide with evidence whether to scale.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6 (50 min, K5, A7). Coordinate several Hermes agents on a Kanban board to produce Episode 2, and plan how the studio adopts the new technology. One agent became a team because the work split into jobs with different skills and different points of view. The reviewer must not be the agent that made the video. Each profile is a separate Hermes home with its own SOUL.md (personality and rules), memory, skills and keys. The Director is the only one that needs the Flova skill. Kanban makes the order visible and durable: a child task stays in todo until every parent is done, crashed work can be retried, and a human can comment on any card. Publishing waits for your approval card. Scheduling is the last step, not the first. Run the pipeline by hand once, inspect every handoff, then create the schedule — and keep it paused until the owner approves. Adoption is the A7 skill: a pilot with a baseline, measures (time per episode, credits per episode, rework rate, compliance pass rate), training, governance and a decision point to scale.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9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hermes-agent.nousresearch.com/"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9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CODE  •  TGS-2023036088</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Agentic AI for</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Video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5.0  ·  8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10" name="Rounded Rectangle 9"/>
          <p:cNvSpPr/>
          <p:nvPr/>
        </p:nvSpPr>
        <p:spPr>
          <a:xfrm>
            <a:off x="8183879" y="5029200"/>
            <a:ext cx="342900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rtiary-infotech-logo.png"/>
          <p:cNvPicPr>
            <a:picLocks noChangeAspect="1"/>
          </p:cNvPicPr>
          <p:nvPr/>
        </p:nvPicPr>
        <p:blipFill>
          <a:blip r:embed="rId3"/>
          <a:stretch>
            <a:fillRect/>
          </a:stretch>
        </p:blipFill>
        <p:spPr>
          <a:xfrm>
            <a:off x="8366760" y="5138928"/>
            <a:ext cx="877824" cy="877824"/>
          </a:xfrm>
          <a:prstGeom prst="rect">
            <a:avLst/>
          </a:prstGeom>
        </p:spPr>
      </p:pic>
      <p:pic>
        <p:nvPicPr>
          <p:cNvPr id="12" name="Picture 11" descr="wsq-logo.png"/>
          <p:cNvPicPr>
            <a:picLocks noChangeAspect="1"/>
          </p:cNvPicPr>
          <p:nvPr/>
        </p:nvPicPr>
        <p:blipFill>
          <a:blip r:embed="rId4"/>
          <a:stretch>
            <a:fillRect/>
          </a:stretch>
        </p:blipFill>
        <p:spPr>
          <a:xfrm>
            <a:off x="9418320" y="5157216"/>
            <a:ext cx="1920240" cy="876910"/>
          </a:xfrm>
          <a:prstGeom prst="rect">
            <a:avLst/>
          </a:prstGeom>
        </p:spPr>
      </p:pic>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transition spd="fast">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transition spd="fast">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agentic AI video and content pipelines with Hermes, Flova and Codex.</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coding experience</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Agentic AI for Video Creation · TGS-2023036088 </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transition spd="fast">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transition spd="fast">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a:t>
            </a:r>
            <a:endParaRPr lang="en-US" sz="900" dirty="0"/>
          </a:p>
        </p:txBody>
      </p:sp>
    </p:spTree>
  </p:cSld>
  <p:clrMapOvr>
    <a:masterClrMapping/>
  </p:clrMapOvr>
  <p:transition spd="fast">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4:30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6:30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a:t>
            </a:r>
            <a:endParaRPr lang="en-US" sz="900" dirty="0"/>
          </a:p>
        </p:txBody>
      </p:sp>
    </p:spTree>
  </p:cSld>
  <p:clrMapOvr>
    <a:masterClrMapping/>
  </p:clrMapOvr>
  <p:transition spd="fast">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
        <p:nvSpPr>
          <p:cNvPr id="91" name="TextBox 90"/>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Agentic AI for Video Creation  ·  TGS-2023036088 </a:t>
            </a:r>
          </a:p>
        </p:txBody>
      </p:sp>
      <p:sp>
        <p:nvSpPr>
          <p:cNvPr id="92" name="TextBox 91"/>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Tree>
  </p:cSld>
  <p:clrMapOvr>
    <a:masterClrMapping/>
  </p:clrMapOvr>
  <p:transition spd="fast">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140</a:t>
            </a:r>
            <a:endParaRPr lang="en-US" sz="900" dirty="0"/>
          </a:p>
        </p:txBody>
      </p:sp>
    </p:spTree>
  </p:cSld>
  <p:clrMapOvr>
    <a:masterClrMapping/>
  </p:clrMapOvr>
  <p:transition spd="fast">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19</a:t>
            </a:r>
            <a:endParaRPr lang="en-US" sz="900" dirty="0"/>
          </a:p>
        </p:txBody>
      </p:sp>
    </p:spTree>
  </p:cSld>
  <p:clrMapOvr>
    <a:masterClrMapping/>
  </p:clrMapOvr>
  <p:transition spd="fast">
    <p:fade/>
  </p:transition>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transition spd="fast">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2359151"/>
            <a:ext cx="91440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libri"/>
              </a:defRPr>
            </a:pPr>
            <a:r>
              <a:t>LO1</a:t>
            </a:r>
          </a:p>
        </p:txBody>
      </p:sp>
      <p:sp>
        <p:nvSpPr>
          <p:cNvPr id="11" name="TextBox 10"/>
          <p:cNvSpPr txBox="1"/>
          <p:nvPr/>
        </p:nvSpPr>
        <p:spPr>
          <a:xfrm>
            <a:off x="786384" y="2834639"/>
            <a:ext cx="3066287" cy="1371600"/>
          </a:xfrm>
          <a:prstGeom prst="rect">
            <a:avLst/>
          </a:prstGeom>
          <a:noFill/>
        </p:spPr>
        <p:txBody>
          <a:bodyPr wrap="square" lIns="18288" rIns="18288" tIns="9144" bIns="9144">
            <a:spAutoFit/>
          </a:bodyPr>
          <a:lstStyle/>
          <a:p>
            <a:pPr>
              <a:lnSpc>
                <a:spcPct val="108000"/>
              </a:lnSpc>
              <a:defRPr sz="1700" b="0">
                <a:solidFill>
                  <a:srgbClr val="21201C"/>
                </a:solidFill>
                <a:latin typeface="Cambria"/>
              </a:defRPr>
            </a:pPr>
            <a:r>
              <a:t>Develop editing strategies and work plans to achieve creative vision.</a:t>
            </a:r>
          </a:p>
        </p:txBody>
      </p:sp>
      <p:sp>
        <p:nvSpPr>
          <p:cNvPr id="12" name="Rectangle 11"/>
          <p:cNvSpPr/>
          <p:nvPr/>
        </p:nvSpPr>
        <p:spPr>
          <a:xfrm>
            <a:off x="786384" y="4462271"/>
            <a:ext cx="3066287"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553711"/>
            <a:ext cx="3066287" cy="237744"/>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TOPIC</a:t>
            </a:r>
          </a:p>
        </p:txBody>
      </p:sp>
      <p:sp>
        <p:nvSpPr>
          <p:cNvPr id="14" name="TextBox 13"/>
          <p:cNvSpPr txBox="1"/>
          <p:nvPr/>
        </p:nvSpPr>
        <p:spPr>
          <a:xfrm>
            <a:off x="786384" y="4773167"/>
            <a:ext cx="3066287"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LU1 · Topic 1 · Creative Strategy and End-to-End Video Production with Agentic AI</a:t>
            </a:r>
          </a:p>
        </p:txBody>
      </p:sp>
      <p:sp>
        <p:nvSpPr>
          <p:cNvPr id="15" name="TextBox 14"/>
          <p:cNvSpPr txBox="1"/>
          <p:nvPr/>
        </p:nvSpPr>
        <p:spPr>
          <a:xfrm>
            <a:off x="786384" y="5340095"/>
            <a:ext cx="3066287" cy="274320"/>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Knowledge  K1     ·     Abilities  A1, A2, A3</a:t>
            </a:r>
          </a:p>
        </p:txBody>
      </p:sp>
      <p:sp>
        <p:nvSpPr>
          <p:cNvPr id="16" name="Rounded Rectangle 15"/>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47615" y="2359151"/>
            <a:ext cx="91440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libri"/>
              </a:defRPr>
            </a:pPr>
            <a:r>
              <a:t>LO2</a:t>
            </a:r>
          </a:p>
        </p:txBody>
      </p:sp>
      <p:sp>
        <p:nvSpPr>
          <p:cNvPr id="19" name="TextBox 18"/>
          <p:cNvSpPr txBox="1"/>
          <p:nvPr/>
        </p:nvSpPr>
        <p:spPr>
          <a:xfrm>
            <a:off x="4547615" y="2834639"/>
            <a:ext cx="3066287" cy="1371600"/>
          </a:xfrm>
          <a:prstGeom prst="rect">
            <a:avLst/>
          </a:prstGeom>
          <a:noFill/>
        </p:spPr>
        <p:txBody>
          <a:bodyPr wrap="square" lIns="18288" rIns="18288" tIns="9144" bIns="9144">
            <a:spAutoFit/>
          </a:bodyPr>
          <a:lstStyle/>
          <a:p>
            <a:pPr>
              <a:lnSpc>
                <a:spcPct val="108000"/>
              </a:lnSpc>
              <a:defRPr sz="1700" b="0">
                <a:solidFill>
                  <a:srgbClr val="21201C"/>
                </a:solidFill>
                <a:latin typeface="Cambria"/>
              </a:defRPr>
            </a:pPr>
            <a:r>
              <a:t>Assess edited footage to enhance storytelling and ensure technical compliance.</a:t>
            </a:r>
          </a:p>
        </p:txBody>
      </p:sp>
      <p:sp>
        <p:nvSpPr>
          <p:cNvPr id="20" name="Rectangle 19"/>
          <p:cNvSpPr/>
          <p:nvPr/>
        </p:nvSpPr>
        <p:spPr>
          <a:xfrm>
            <a:off x="4547615" y="4462271"/>
            <a:ext cx="3066287"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7615" y="4553711"/>
            <a:ext cx="3066287" cy="237744"/>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TOPIC</a:t>
            </a:r>
          </a:p>
        </p:txBody>
      </p:sp>
      <p:sp>
        <p:nvSpPr>
          <p:cNvPr id="22" name="TextBox 21"/>
          <p:cNvSpPr txBox="1"/>
          <p:nvPr/>
        </p:nvSpPr>
        <p:spPr>
          <a:xfrm>
            <a:off x="4547615" y="4773167"/>
            <a:ext cx="3066287"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LU2 · Topic 2 · AI-Assisted Video Editing, Storytelling and Quality Assurance</a:t>
            </a:r>
          </a:p>
        </p:txBody>
      </p:sp>
      <p:sp>
        <p:nvSpPr>
          <p:cNvPr id="23" name="TextBox 22"/>
          <p:cNvSpPr txBox="1"/>
          <p:nvPr/>
        </p:nvSpPr>
        <p:spPr>
          <a:xfrm>
            <a:off x="4547615" y="5340095"/>
            <a:ext cx="3066287" cy="274320"/>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Knowledge  K2, K3     ·     Abilities  A4, A5</a:t>
            </a:r>
          </a:p>
        </p:txBody>
      </p:sp>
      <p:sp>
        <p:nvSpPr>
          <p:cNvPr id="24" name="Rounded Rectangle 23"/>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308847" y="2359151"/>
            <a:ext cx="91440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libri"/>
              </a:defRPr>
            </a:pPr>
            <a:r>
              <a:t>LO3</a:t>
            </a:r>
          </a:p>
        </p:txBody>
      </p:sp>
      <p:sp>
        <p:nvSpPr>
          <p:cNvPr id="27" name="TextBox 26"/>
          <p:cNvSpPr txBox="1"/>
          <p:nvPr/>
        </p:nvSpPr>
        <p:spPr>
          <a:xfrm>
            <a:off x="8308847" y="2834639"/>
            <a:ext cx="3066287" cy="1371600"/>
          </a:xfrm>
          <a:prstGeom prst="rect">
            <a:avLst/>
          </a:prstGeom>
          <a:noFill/>
        </p:spPr>
        <p:txBody>
          <a:bodyPr wrap="square" lIns="18288" rIns="18288" tIns="9144" bIns="9144">
            <a:spAutoFit/>
          </a:bodyPr>
          <a:lstStyle/>
          <a:p>
            <a:pPr>
              <a:lnSpc>
                <a:spcPct val="108000"/>
              </a:lnSpc>
              <a:defRPr sz="1700" b="0">
                <a:solidFill>
                  <a:srgbClr val="21201C"/>
                </a:solidFill>
                <a:latin typeface="Cambria"/>
              </a:defRPr>
            </a:pPr>
            <a:r>
              <a:t>Develop remedial actions to ensure industry compliance and facilitate the adoption of new technologies in visual editing.</a:t>
            </a:r>
          </a:p>
        </p:txBody>
      </p:sp>
      <p:sp>
        <p:nvSpPr>
          <p:cNvPr id="28" name="Rectangle 27"/>
          <p:cNvSpPr/>
          <p:nvPr/>
        </p:nvSpPr>
        <p:spPr>
          <a:xfrm>
            <a:off x="8308847" y="4462271"/>
            <a:ext cx="3066287"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08847" y="4553711"/>
            <a:ext cx="3066287" cy="237744"/>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TOPIC</a:t>
            </a:r>
          </a:p>
        </p:txBody>
      </p:sp>
      <p:sp>
        <p:nvSpPr>
          <p:cNvPr id="30" name="TextBox 29"/>
          <p:cNvSpPr txBox="1"/>
          <p:nvPr/>
        </p:nvSpPr>
        <p:spPr>
          <a:xfrm>
            <a:off x="8308847" y="4773167"/>
            <a:ext cx="3066287"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LU3 · Topic 3 · Workflow Optimisation, Industry Compliance and Emerging Video Technologies</a:t>
            </a:r>
          </a:p>
        </p:txBody>
      </p:sp>
      <p:sp>
        <p:nvSpPr>
          <p:cNvPr id="31" name="TextBox 30"/>
          <p:cNvSpPr txBox="1"/>
          <p:nvPr/>
        </p:nvSpPr>
        <p:spPr>
          <a:xfrm>
            <a:off x="8308847" y="5340095"/>
            <a:ext cx="3066287" cy="274320"/>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Knowledge  K4, K5     ·     Abilities  A6, A7</a:t>
            </a:r>
          </a:p>
        </p:txBody>
      </p:sp>
    </p:spTree>
  </p:cSld>
  <p:clrMapOvr>
    <a:masterClrMapping/>
  </p:clrMapOvr>
  <p:transition spd="fast">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TSC · VIDEO EDITING-4 · MED-MPN-4005-1.1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Knowledge Statements (K)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underpinning knowledge you will be assessed on in the Written Assessment.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a:t>
            </a:r>
          </a:p>
        </p:txBody>
      </p:sp>
      <p:sp>
        <p:nvSpPr>
          <p:cNvPr id="8" name="Rounded Rectangle 7"/>
          <p:cNvSpPr/>
          <p:nvPr/>
        </p:nvSpPr>
        <p:spPr>
          <a:xfrm>
            <a:off x="548640" y="2084831"/>
            <a:ext cx="11064240" cy="68031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84831"/>
            <a:ext cx="731520" cy="680313"/>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84831"/>
            <a:ext cx="731520" cy="680313"/>
          </a:xfrm>
          <a:prstGeom prst="rect">
            <a:avLst/>
          </a:prstGeom>
          <a:noFill/>
        </p:spPr>
        <p:txBody>
          <a:bodyPr wrap="square" lIns="18288" rIns="18288" tIns="9144" bIns="9144" anchor="ctr">
            <a:spAutoFit/>
          </a:bodyPr>
          <a:lstStyle/>
          <a:p>
            <a:pPr algn="ctr">
              <a:lnSpc>
                <a:spcPct val="100000"/>
              </a:lnSpc>
              <a:defRPr sz="1600" b="1">
                <a:solidFill>
                  <a:srgbClr val="FFFFFF"/>
                </a:solidFill>
                <a:latin typeface="Cambria"/>
              </a:defRPr>
            </a:pPr>
            <a:r>
              <a:t>K1</a:t>
            </a:r>
          </a:p>
        </p:txBody>
      </p:sp>
      <p:sp>
        <p:nvSpPr>
          <p:cNvPr id="11" name="TextBox 10"/>
          <p:cNvSpPr txBox="1"/>
          <p:nvPr/>
        </p:nvSpPr>
        <p:spPr>
          <a:xfrm>
            <a:off x="1481328" y="2084831"/>
            <a:ext cx="6766560" cy="680313"/>
          </a:xfrm>
          <a:prstGeom prst="rect">
            <a:avLst/>
          </a:prstGeom>
          <a:noFill/>
        </p:spPr>
        <p:txBody>
          <a:bodyPr wrap="square" lIns="18288" rIns="18288" tIns="9144" bIns="9144" anchor="ctr">
            <a:spAutoFit/>
          </a:bodyPr>
          <a:lstStyle/>
          <a:p>
            <a:pPr>
              <a:lnSpc>
                <a:spcPct val="100000"/>
              </a:lnSpc>
              <a:defRPr sz="1500" b="0">
                <a:solidFill>
                  <a:srgbClr val="21201C"/>
                </a:solidFill>
                <a:latin typeface="Calibri"/>
              </a:defRPr>
            </a:pPr>
            <a:r>
              <a:t>Types of quality issues in video content</a:t>
            </a:r>
          </a:p>
        </p:txBody>
      </p:sp>
      <p:sp>
        <p:nvSpPr>
          <p:cNvPr id="12" name="TextBox 11"/>
          <p:cNvSpPr txBox="1"/>
          <p:nvPr/>
        </p:nvSpPr>
        <p:spPr>
          <a:xfrm>
            <a:off x="8412480" y="2084831"/>
            <a:ext cx="3072384" cy="680313"/>
          </a:xfrm>
          <a:prstGeom prst="rect">
            <a:avLst/>
          </a:prstGeom>
          <a:noFill/>
        </p:spPr>
        <p:txBody>
          <a:bodyPr wrap="square" lIns="18288" rIns="18288" tIns="9144" bIns="9144" anchor="ctr">
            <a:spAutoFit/>
          </a:bodyPr>
          <a:lstStyle/>
          <a:p>
            <a:pPr>
              <a:lnSpc>
                <a:spcPct val="100000"/>
              </a:lnSpc>
              <a:defRPr sz="1050" b="0">
                <a:solidFill>
                  <a:srgbClr val="6B6862"/>
                </a:solidFill>
                <a:latin typeface="Calibri"/>
              </a:defRPr>
            </a:pPr>
            <a:r>
              <a:t>T1 · Quality issues in video content · Lab 1</a:t>
            </a:r>
          </a:p>
        </p:txBody>
      </p:sp>
      <p:sp>
        <p:nvSpPr>
          <p:cNvPr id="13" name="Rounded Rectangle 12"/>
          <p:cNvSpPr/>
          <p:nvPr/>
        </p:nvSpPr>
        <p:spPr>
          <a:xfrm>
            <a:off x="548640" y="2838297"/>
            <a:ext cx="11064240" cy="68031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2838297"/>
            <a:ext cx="731520" cy="680313"/>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838297"/>
            <a:ext cx="731520" cy="680313"/>
          </a:xfrm>
          <a:prstGeom prst="rect">
            <a:avLst/>
          </a:prstGeom>
          <a:noFill/>
        </p:spPr>
        <p:txBody>
          <a:bodyPr wrap="square" lIns="18288" rIns="18288" tIns="9144" bIns="9144" anchor="ctr">
            <a:spAutoFit/>
          </a:bodyPr>
          <a:lstStyle/>
          <a:p>
            <a:pPr algn="ctr">
              <a:lnSpc>
                <a:spcPct val="100000"/>
              </a:lnSpc>
              <a:defRPr sz="1600" b="1">
                <a:solidFill>
                  <a:srgbClr val="FFFFFF"/>
                </a:solidFill>
                <a:latin typeface="Cambria"/>
              </a:defRPr>
            </a:pPr>
            <a:r>
              <a:t>K2</a:t>
            </a:r>
          </a:p>
        </p:txBody>
      </p:sp>
      <p:sp>
        <p:nvSpPr>
          <p:cNvPr id="16" name="TextBox 15"/>
          <p:cNvSpPr txBox="1"/>
          <p:nvPr/>
        </p:nvSpPr>
        <p:spPr>
          <a:xfrm>
            <a:off x="1481328" y="2838297"/>
            <a:ext cx="6766560" cy="680313"/>
          </a:xfrm>
          <a:prstGeom prst="rect">
            <a:avLst/>
          </a:prstGeom>
          <a:noFill/>
        </p:spPr>
        <p:txBody>
          <a:bodyPr wrap="square" lIns="18288" rIns="18288" tIns="9144" bIns="9144" anchor="ctr">
            <a:spAutoFit/>
          </a:bodyPr>
          <a:lstStyle/>
          <a:p>
            <a:pPr>
              <a:lnSpc>
                <a:spcPct val="100000"/>
              </a:lnSpc>
              <a:defRPr sz="1500" b="0">
                <a:solidFill>
                  <a:srgbClr val="21201C"/>
                </a:solidFill>
                <a:latin typeface="Calibri"/>
              </a:defRPr>
            </a:pPr>
            <a:r>
              <a:t>Types of solutions to rectify quality issues</a:t>
            </a:r>
          </a:p>
        </p:txBody>
      </p:sp>
      <p:sp>
        <p:nvSpPr>
          <p:cNvPr id="17" name="TextBox 16"/>
          <p:cNvSpPr txBox="1"/>
          <p:nvPr/>
        </p:nvSpPr>
        <p:spPr>
          <a:xfrm>
            <a:off x="8412480" y="2838297"/>
            <a:ext cx="3072384" cy="680313"/>
          </a:xfrm>
          <a:prstGeom prst="rect">
            <a:avLst/>
          </a:prstGeom>
          <a:noFill/>
        </p:spPr>
        <p:txBody>
          <a:bodyPr wrap="square" lIns="18288" rIns="18288" tIns="9144" bIns="9144" anchor="ctr">
            <a:spAutoFit/>
          </a:bodyPr>
          <a:lstStyle/>
          <a:p>
            <a:pPr>
              <a:lnSpc>
                <a:spcPct val="100000"/>
              </a:lnSpc>
              <a:defRPr sz="1050" b="0">
                <a:solidFill>
                  <a:srgbClr val="6B6862"/>
                </a:solidFill>
                <a:latin typeface="Calibri"/>
              </a:defRPr>
            </a:pPr>
            <a:r>
              <a:t>T2 · Quality issue → solution · Labs 3-4</a:t>
            </a:r>
          </a:p>
        </p:txBody>
      </p:sp>
      <p:sp>
        <p:nvSpPr>
          <p:cNvPr id="18" name="Rounded Rectangle 17"/>
          <p:cNvSpPr/>
          <p:nvPr/>
        </p:nvSpPr>
        <p:spPr>
          <a:xfrm>
            <a:off x="548640" y="3591763"/>
            <a:ext cx="11064240" cy="68031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3591763"/>
            <a:ext cx="731520" cy="680313"/>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591763"/>
            <a:ext cx="731520" cy="680313"/>
          </a:xfrm>
          <a:prstGeom prst="rect">
            <a:avLst/>
          </a:prstGeom>
          <a:noFill/>
        </p:spPr>
        <p:txBody>
          <a:bodyPr wrap="square" lIns="18288" rIns="18288" tIns="9144" bIns="9144" anchor="ctr">
            <a:spAutoFit/>
          </a:bodyPr>
          <a:lstStyle/>
          <a:p>
            <a:pPr algn="ctr">
              <a:lnSpc>
                <a:spcPct val="100000"/>
              </a:lnSpc>
              <a:defRPr sz="1600" b="1">
                <a:solidFill>
                  <a:srgbClr val="FFFFFF"/>
                </a:solidFill>
                <a:latin typeface="Cambria"/>
              </a:defRPr>
            </a:pPr>
            <a:r>
              <a:t>K3</a:t>
            </a:r>
          </a:p>
        </p:txBody>
      </p:sp>
      <p:sp>
        <p:nvSpPr>
          <p:cNvPr id="21" name="TextBox 20"/>
          <p:cNvSpPr txBox="1"/>
          <p:nvPr/>
        </p:nvSpPr>
        <p:spPr>
          <a:xfrm>
            <a:off x="1481328" y="3591763"/>
            <a:ext cx="6766560" cy="680313"/>
          </a:xfrm>
          <a:prstGeom prst="rect">
            <a:avLst/>
          </a:prstGeom>
          <a:noFill/>
        </p:spPr>
        <p:txBody>
          <a:bodyPr wrap="square" lIns="18288" rIns="18288" tIns="9144" bIns="9144" anchor="ctr">
            <a:spAutoFit/>
          </a:bodyPr>
          <a:lstStyle/>
          <a:p>
            <a:pPr>
              <a:lnSpc>
                <a:spcPct val="100000"/>
              </a:lnSpc>
              <a:defRPr sz="1500" b="0">
                <a:solidFill>
                  <a:srgbClr val="21201C"/>
                </a:solidFill>
                <a:latin typeface="Calibri"/>
              </a:defRPr>
            </a:pPr>
            <a:r>
              <a:t>Parameters to assess video quality</a:t>
            </a:r>
          </a:p>
        </p:txBody>
      </p:sp>
      <p:sp>
        <p:nvSpPr>
          <p:cNvPr id="22" name="TextBox 21"/>
          <p:cNvSpPr txBox="1"/>
          <p:nvPr/>
        </p:nvSpPr>
        <p:spPr>
          <a:xfrm>
            <a:off x="8412480" y="3591763"/>
            <a:ext cx="3072384" cy="680313"/>
          </a:xfrm>
          <a:prstGeom prst="rect">
            <a:avLst/>
          </a:prstGeom>
          <a:noFill/>
        </p:spPr>
        <p:txBody>
          <a:bodyPr wrap="square" lIns="18288" rIns="18288" tIns="9144" bIns="9144" anchor="ctr">
            <a:spAutoFit/>
          </a:bodyPr>
          <a:lstStyle/>
          <a:p>
            <a:pPr>
              <a:lnSpc>
                <a:spcPct val="100000"/>
              </a:lnSpc>
              <a:defRPr sz="1050" b="0">
                <a:solidFill>
                  <a:srgbClr val="6B6862"/>
                </a:solidFill>
                <a:latin typeface="Calibri"/>
              </a:defRPr>
            </a:pPr>
            <a:r>
              <a:t>T2 · Parameters to assess video quality · Lab 4</a:t>
            </a:r>
          </a:p>
        </p:txBody>
      </p:sp>
      <p:sp>
        <p:nvSpPr>
          <p:cNvPr id="23" name="Rounded Rectangle 22"/>
          <p:cNvSpPr/>
          <p:nvPr/>
        </p:nvSpPr>
        <p:spPr>
          <a:xfrm>
            <a:off x="548640" y="4345228"/>
            <a:ext cx="11064240" cy="68031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345228"/>
            <a:ext cx="731520" cy="680313"/>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345228"/>
            <a:ext cx="731520" cy="680313"/>
          </a:xfrm>
          <a:prstGeom prst="rect">
            <a:avLst/>
          </a:prstGeom>
          <a:noFill/>
        </p:spPr>
        <p:txBody>
          <a:bodyPr wrap="square" lIns="18288" rIns="18288" tIns="9144" bIns="9144" anchor="ctr">
            <a:spAutoFit/>
          </a:bodyPr>
          <a:lstStyle/>
          <a:p>
            <a:pPr algn="ctr">
              <a:lnSpc>
                <a:spcPct val="100000"/>
              </a:lnSpc>
              <a:defRPr sz="1600" b="1">
                <a:solidFill>
                  <a:srgbClr val="FFFFFF"/>
                </a:solidFill>
                <a:latin typeface="Cambria"/>
              </a:defRPr>
            </a:pPr>
            <a:r>
              <a:t>K4</a:t>
            </a:r>
          </a:p>
        </p:txBody>
      </p:sp>
      <p:sp>
        <p:nvSpPr>
          <p:cNvPr id="26" name="TextBox 25"/>
          <p:cNvSpPr txBox="1"/>
          <p:nvPr/>
        </p:nvSpPr>
        <p:spPr>
          <a:xfrm>
            <a:off x="1481328" y="4345228"/>
            <a:ext cx="6766560" cy="680313"/>
          </a:xfrm>
          <a:prstGeom prst="rect">
            <a:avLst/>
          </a:prstGeom>
          <a:noFill/>
        </p:spPr>
        <p:txBody>
          <a:bodyPr wrap="square" lIns="18288" rIns="18288" tIns="9144" bIns="9144" anchor="ctr">
            <a:spAutoFit/>
          </a:bodyPr>
          <a:lstStyle/>
          <a:p>
            <a:pPr>
              <a:lnSpc>
                <a:spcPct val="100000"/>
              </a:lnSpc>
              <a:defRPr sz="1500" b="0">
                <a:solidFill>
                  <a:srgbClr val="21201C"/>
                </a:solidFill>
                <a:latin typeface="Calibri"/>
              </a:defRPr>
            </a:pPr>
            <a:r>
              <a:t>Industry quality standards</a:t>
            </a:r>
          </a:p>
        </p:txBody>
      </p:sp>
      <p:sp>
        <p:nvSpPr>
          <p:cNvPr id="27" name="TextBox 26"/>
          <p:cNvSpPr txBox="1"/>
          <p:nvPr/>
        </p:nvSpPr>
        <p:spPr>
          <a:xfrm>
            <a:off x="8412480" y="4345228"/>
            <a:ext cx="3072384" cy="680313"/>
          </a:xfrm>
          <a:prstGeom prst="rect">
            <a:avLst/>
          </a:prstGeom>
          <a:noFill/>
        </p:spPr>
        <p:txBody>
          <a:bodyPr wrap="square" lIns="18288" rIns="18288" tIns="9144" bIns="9144" anchor="ctr">
            <a:spAutoFit/>
          </a:bodyPr>
          <a:lstStyle/>
          <a:p>
            <a:pPr>
              <a:lnSpc>
                <a:spcPct val="100000"/>
              </a:lnSpc>
              <a:defRPr sz="1050" b="0">
                <a:solidFill>
                  <a:srgbClr val="6B6862"/>
                </a:solidFill>
                <a:latin typeface="Calibri"/>
              </a:defRPr>
            </a:pPr>
            <a:r>
              <a:t>T3 · Industry quality standards · Lab 5</a:t>
            </a:r>
          </a:p>
        </p:txBody>
      </p:sp>
      <p:sp>
        <p:nvSpPr>
          <p:cNvPr id="28" name="Rounded Rectangle 27"/>
          <p:cNvSpPr/>
          <p:nvPr/>
        </p:nvSpPr>
        <p:spPr>
          <a:xfrm>
            <a:off x="548640" y="5098694"/>
            <a:ext cx="11064240" cy="68031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5098694"/>
            <a:ext cx="731520" cy="680313"/>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098694"/>
            <a:ext cx="731520" cy="680313"/>
          </a:xfrm>
          <a:prstGeom prst="rect">
            <a:avLst/>
          </a:prstGeom>
          <a:noFill/>
        </p:spPr>
        <p:txBody>
          <a:bodyPr wrap="square" lIns="18288" rIns="18288" tIns="9144" bIns="9144" anchor="ctr">
            <a:spAutoFit/>
          </a:bodyPr>
          <a:lstStyle/>
          <a:p>
            <a:pPr algn="ctr">
              <a:lnSpc>
                <a:spcPct val="100000"/>
              </a:lnSpc>
              <a:defRPr sz="1600" b="1">
                <a:solidFill>
                  <a:srgbClr val="FFFFFF"/>
                </a:solidFill>
                <a:latin typeface="Cambria"/>
              </a:defRPr>
            </a:pPr>
            <a:r>
              <a:t>K5</a:t>
            </a:r>
          </a:p>
        </p:txBody>
      </p:sp>
      <p:sp>
        <p:nvSpPr>
          <p:cNvPr id="31" name="TextBox 30"/>
          <p:cNvSpPr txBox="1"/>
          <p:nvPr/>
        </p:nvSpPr>
        <p:spPr>
          <a:xfrm>
            <a:off x="1481328" y="5098694"/>
            <a:ext cx="6766560" cy="680313"/>
          </a:xfrm>
          <a:prstGeom prst="rect">
            <a:avLst/>
          </a:prstGeom>
          <a:noFill/>
        </p:spPr>
        <p:txBody>
          <a:bodyPr wrap="square" lIns="18288" rIns="18288" tIns="9144" bIns="9144" anchor="ctr">
            <a:spAutoFit/>
          </a:bodyPr>
          <a:lstStyle/>
          <a:p>
            <a:pPr>
              <a:lnSpc>
                <a:spcPct val="100000"/>
              </a:lnSpc>
              <a:defRPr sz="1500" b="0">
                <a:solidFill>
                  <a:srgbClr val="21201C"/>
                </a:solidFill>
                <a:latin typeface="Calibri"/>
              </a:defRPr>
            </a:pPr>
            <a:r>
              <a:t>Technologies that improve efficiency and quality of video edits</a:t>
            </a:r>
          </a:p>
        </p:txBody>
      </p:sp>
      <p:sp>
        <p:nvSpPr>
          <p:cNvPr id="32" name="TextBox 31"/>
          <p:cNvSpPr txBox="1"/>
          <p:nvPr/>
        </p:nvSpPr>
        <p:spPr>
          <a:xfrm>
            <a:off x="8412480" y="5098694"/>
            <a:ext cx="3072384" cy="680313"/>
          </a:xfrm>
          <a:prstGeom prst="rect">
            <a:avLst/>
          </a:prstGeom>
          <a:noFill/>
        </p:spPr>
        <p:txBody>
          <a:bodyPr wrap="square" lIns="18288" rIns="18288" tIns="9144" bIns="9144" anchor="ctr">
            <a:spAutoFit/>
          </a:bodyPr>
          <a:lstStyle/>
          <a:p>
            <a:pPr>
              <a:lnSpc>
                <a:spcPct val="100000"/>
              </a:lnSpc>
              <a:defRPr sz="1050" b="0">
                <a:solidFill>
                  <a:srgbClr val="6B6862"/>
                </a:solidFill>
                <a:latin typeface="Calibri"/>
              </a:defRPr>
            </a:pPr>
            <a:r>
              <a:t>T3 · Emerging video technologies · Labs 5-6</a:t>
            </a:r>
          </a:p>
        </p:txBody>
      </p:sp>
    </p:spTree>
  </p:cSld>
  <p:clrMapOvr>
    <a:masterClrMapping/>
  </p:clrMapOvr>
  <p:transition spd="fast">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TSC · VIDEO EDITING-4 · MED-MPN-4005-1.1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Ability Statements (A)</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abilities you will demonstrate in the labs and the Practical Performance assessment.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a:t>
            </a:r>
          </a:p>
        </p:txBody>
      </p:sp>
      <p:sp>
        <p:nvSpPr>
          <p:cNvPr id="8" name="Rounded Rectangle 7"/>
          <p:cNvSpPr/>
          <p:nvPr/>
        </p:nvSpPr>
        <p:spPr>
          <a:xfrm>
            <a:off x="548640" y="208483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8483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8483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A1</a:t>
            </a:r>
          </a:p>
        </p:txBody>
      </p:sp>
      <p:sp>
        <p:nvSpPr>
          <p:cNvPr id="11" name="TextBox 10"/>
          <p:cNvSpPr txBox="1"/>
          <p:nvPr/>
        </p:nvSpPr>
        <p:spPr>
          <a:xfrm>
            <a:off x="1481328" y="208483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Review scripts to conceptualize the types of edits required to achieve creative vision of production</a:t>
            </a:r>
          </a:p>
        </p:txBody>
      </p:sp>
      <p:sp>
        <p:nvSpPr>
          <p:cNvPr id="12" name="TextBox 11"/>
          <p:cNvSpPr txBox="1"/>
          <p:nvPr/>
        </p:nvSpPr>
        <p:spPr>
          <a:xfrm>
            <a:off x="8412480" y="208483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T1 · Reviewing a script for edits · Lab 1</a:t>
            </a:r>
          </a:p>
        </p:txBody>
      </p:sp>
      <p:sp>
        <p:nvSpPr>
          <p:cNvPr id="13" name="Rounded Rectangle 12"/>
          <p:cNvSpPr/>
          <p:nvPr/>
        </p:nvSpPr>
        <p:spPr>
          <a:xfrm>
            <a:off x="548640" y="262302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262302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62302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A2</a:t>
            </a:r>
          </a:p>
        </p:txBody>
      </p:sp>
      <p:sp>
        <p:nvSpPr>
          <p:cNvPr id="16" name="TextBox 15"/>
          <p:cNvSpPr txBox="1"/>
          <p:nvPr/>
        </p:nvSpPr>
        <p:spPr>
          <a:xfrm>
            <a:off x="1481328" y="262302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editing standards and guidelines in accordance to legal requirements and broadcasting standards</a:t>
            </a:r>
          </a:p>
        </p:txBody>
      </p:sp>
      <p:sp>
        <p:nvSpPr>
          <p:cNvPr id="17" name="TextBox 16"/>
          <p:cNvSpPr txBox="1"/>
          <p:nvPr/>
        </p:nvSpPr>
        <p:spPr>
          <a:xfrm>
            <a:off x="8412480" y="262302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T1 · Editing standards and guidelines · Lab 2</a:t>
            </a:r>
          </a:p>
        </p:txBody>
      </p:sp>
      <p:sp>
        <p:nvSpPr>
          <p:cNvPr id="18" name="Rounded Rectangle 17"/>
          <p:cNvSpPr/>
          <p:nvPr/>
        </p:nvSpPr>
        <p:spPr>
          <a:xfrm>
            <a:off x="548640" y="316121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316121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16121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A3</a:t>
            </a:r>
          </a:p>
        </p:txBody>
      </p:sp>
      <p:sp>
        <p:nvSpPr>
          <p:cNvPr id="21" name="TextBox 20"/>
          <p:cNvSpPr txBox="1"/>
          <p:nvPr/>
        </p:nvSpPr>
        <p:spPr>
          <a:xfrm>
            <a:off x="1481328" y="316121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work plans to outline the processes and timelines needed for the post production processes</a:t>
            </a:r>
          </a:p>
        </p:txBody>
      </p:sp>
      <p:sp>
        <p:nvSpPr>
          <p:cNvPr id="22" name="TextBox 21"/>
          <p:cNvSpPr txBox="1"/>
          <p:nvPr/>
        </p:nvSpPr>
        <p:spPr>
          <a:xfrm>
            <a:off x="8412480" y="316121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T1 · Post-production work plans · Lab 2</a:t>
            </a:r>
          </a:p>
        </p:txBody>
      </p:sp>
      <p:sp>
        <p:nvSpPr>
          <p:cNvPr id="23" name="Rounded Rectangle 22"/>
          <p:cNvSpPr/>
          <p:nvPr/>
        </p:nvSpPr>
        <p:spPr>
          <a:xfrm>
            <a:off x="548640" y="369940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369940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69940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A4</a:t>
            </a:r>
          </a:p>
        </p:txBody>
      </p:sp>
      <p:sp>
        <p:nvSpPr>
          <p:cNvPr id="26" name="TextBox 25"/>
          <p:cNvSpPr txBox="1"/>
          <p:nvPr/>
        </p:nvSpPr>
        <p:spPr>
          <a:xfrm>
            <a:off x="1481328" y="369940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Review edited footage to propose changes that will enhance the story and emotions in each scene</a:t>
            </a:r>
          </a:p>
        </p:txBody>
      </p:sp>
      <p:sp>
        <p:nvSpPr>
          <p:cNvPr id="27" name="TextBox 26"/>
          <p:cNvSpPr txBox="1"/>
          <p:nvPr/>
        </p:nvSpPr>
        <p:spPr>
          <a:xfrm>
            <a:off x="8412480" y="369940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T2 · Story and emotion review · Lab 4</a:t>
            </a:r>
          </a:p>
        </p:txBody>
      </p:sp>
      <p:sp>
        <p:nvSpPr>
          <p:cNvPr id="28" name="Rounded Rectangle 27"/>
          <p:cNvSpPr/>
          <p:nvPr/>
        </p:nvSpPr>
        <p:spPr>
          <a:xfrm>
            <a:off x="548640" y="4237590"/>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4237590"/>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237590"/>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A5</a:t>
            </a:r>
          </a:p>
        </p:txBody>
      </p:sp>
      <p:sp>
        <p:nvSpPr>
          <p:cNvPr id="31" name="TextBox 30"/>
          <p:cNvSpPr txBox="1"/>
          <p:nvPr/>
        </p:nvSpPr>
        <p:spPr>
          <a:xfrm>
            <a:off x="1481328" y="4237590"/>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Assess edited footage against technical parameters to ensure alignment to requirements</a:t>
            </a:r>
          </a:p>
        </p:txBody>
      </p:sp>
      <p:sp>
        <p:nvSpPr>
          <p:cNvPr id="32" name="TextBox 31"/>
          <p:cNvSpPr txBox="1"/>
          <p:nvPr/>
        </p:nvSpPr>
        <p:spPr>
          <a:xfrm>
            <a:off x="8412480" y="4237590"/>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T2 · Technical QC against parameters · Lab 4</a:t>
            </a:r>
          </a:p>
        </p:txBody>
      </p:sp>
      <p:sp>
        <p:nvSpPr>
          <p:cNvPr id="33" name="Rounded Rectangle 32"/>
          <p:cNvSpPr/>
          <p:nvPr/>
        </p:nvSpPr>
        <p:spPr>
          <a:xfrm>
            <a:off x="548640" y="4775780"/>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4775780"/>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775780"/>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A6</a:t>
            </a:r>
          </a:p>
        </p:txBody>
      </p:sp>
      <p:sp>
        <p:nvSpPr>
          <p:cNvPr id="36" name="TextBox 35"/>
          <p:cNvSpPr txBox="1"/>
          <p:nvPr/>
        </p:nvSpPr>
        <p:spPr>
          <a:xfrm>
            <a:off x="1481328" y="4775780"/>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remedial actions to resolve issues that do not comply with industry standards</a:t>
            </a:r>
          </a:p>
        </p:txBody>
      </p:sp>
      <p:sp>
        <p:nvSpPr>
          <p:cNvPr id="37" name="TextBox 36"/>
          <p:cNvSpPr txBox="1"/>
          <p:nvPr/>
        </p:nvSpPr>
        <p:spPr>
          <a:xfrm>
            <a:off x="8412480" y="4775780"/>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T3 · Remedial action plans · Lab 5</a:t>
            </a:r>
          </a:p>
        </p:txBody>
      </p:sp>
      <p:sp>
        <p:nvSpPr>
          <p:cNvPr id="38" name="Rounded Rectangle 37"/>
          <p:cNvSpPr/>
          <p:nvPr/>
        </p:nvSpPr>
        <p:spPr>
          <a:xfrm>
            <a:off x="548640" y="5313970"/>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5313970"/>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313970"/>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A7</a:t>
            </a:r>
          </a:p>
        </p:txBody>
      </p:sp>
      <p:sp>
        <p:nvSpPr>
          <p:cNvPr id="41" name="TextBox 40"/>
          <p:cNvSpPr txBox="1"/>
          <p:nvPr/>
        </p:nvSpPr>
        <p:spPr>
          <a:xfrm>
            <a:off x="1481328" y="5313970"/>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Facilitate the adoption of new technologies to improve the efficiency and quality of visual outputs</a:t>
            </a:r>
          </a:p>
        </p:txBody>
      </p:sp>
      <p:sp>
        <p:nvSpPr>
          <p:cNvPr id="42" name="TextBox 41"/>
          <p:cNvSpPr txBox="1"/>
          <p:nvPr/>
        </p:nvSpPr>
        <p:spPr>
          <a:xfrm>
            <a:off x="8412480" y="5313970"/>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T3 · Adoption roadmap · Lab 6</a:t>
            </a:r>
          </a:p>
        </p:txBody>
      </p:sp>
    </p:spTree>
  </p:cSld>
  <p:clrMapOvr>
    <a:masterClrMapping/>
  </p:clrMapOvr>
  <p:transition spd="fast">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ALIGNMENT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 K &amp; A and Assessment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topic serves one Learning Unit of the approved course. Every K is assessed in the WA; every A in the PP.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LEARNING UNIT</a:t>
            </a:r>
          </a:p>
        </p:txBody>
      </p:sp>
      <p:sp>
        <p:nvSpPr>
          <p:cNvPr id="10" name="TextBox 9"/>
          <p:cNvSpPr txBox="1"/>
          <p:nvPr/>
        </p:nvSpPr>
        <p:spPr>
          <a:xfrm>
            <a:off x="4069079"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LEARNING OUTCOME</a:t>
            </a:r>
          </a:p>
        </p:txBody>
      </p:sp>
      <p:sp>
        <p:nvSpPr>
          <p:cNvPr id="11" name="TextBox 10"/>
          <p:cNvSpPr txBox="1"/>
          <p:nvPr/>
        </p:nvSpPr>
        <p:spPr>
          <a:xfrm>
            <a:off x="5839358" y="2203703"/>
            <a:ext cx="116403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KNOWLEDGE</a:t>
            </a:r>
          </a:p>
        </p:txBody>
      </p:sp>
      <p:sp>
        <p:nvSpPr>
          <p:cNvPr id="12" name="TextBox 11"/>
          <p:cNvSpPr txBox="1"/>
          <p:nvPr/>
        </p:nvSpPr>
        <p:spPr>
          <a:xfrm>
            <a:off x="7277709"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ABILITIES</a:t>
            </a:r>
          </a:p>
        </p:txBody>
      </p:sp>
      <p:sp>
        <p:nvSpPr>
          <p:cNvPr id="13" name="TextBox 12"/>
          <p:cNvSpPr txBox="1"/>
          <p:nvPr/>
        </p:nvSpPr>
        <p:spPr>
          <a:xfrm>
            <a:off x="8937345"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4" name="TextBox 13"/>
          <p:cNvSpPr txBox="1"/>
          <p:nvPr/>
        </p:nvSpPr>
        <p:spPr>
          <a:xfrm>
            <a:off x="10043769"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ASSESSED IN</a:t>
            </a:r>
          </a:p>
        </p:txBody>
      </p:sp>
      <p:sp>
        <p:nvSpPr>
          <p:cNvPr id="15" name="Rectangle 14"/>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2560320"/>
            <a:ext cx="304495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LU1 · Topic 1 · Creative Strategy and End-to-End Production</a:t>
            </a:r>
          </a:p>
        </p:txBody>
      </p:sp>
      <p:sp>
        <p:nvSpPr>
          <p:cNvPr id="17" name="TextBox 16"/>
          <p:cNvSpPr txBox="1"/>
          <p:nvPr/>
        </p:nvSpPr>
        <p:spPr>
          <a:xfrm>
            <a:off x="4069079" y="2560320"/>
            <a:ext cx="1495958"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LO1</a:t>
            </a:r>
          </a:p>
        </p:txBody>
      </p:sp>
      <p:sp>
        <p:nvSpPr>
          <p:cNvPr id="18" name="TextBox 17"/>
          <p:cNvSpPr txBox="1"/>
          <p:nvPr/>
        </p:nvSpPr>
        <p:spPr>
          <a:xfrm>
            <a:off x="5839358" y="2560320"/>
            <a:ext cx="116403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K1</a:t>
            </a:r>
          </a:p>
        </p:txBody>
      </p:sp>
      <p:sp>
        <p:nvSpPr>
          <p:cNvPr id="19" name="TextBox 18"/>
          <p:cNvSpPr txBox="1"/>
          <p:nvPr/>
        </p:nvSpPr>
        <p:spPr>
          <a:xfrm>
            <a:off x="7277709" y="2560320"/>
            <a:ext cx="138531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A1, A2, A3</a:t>
            </a:r>
          </a:p>
        </p:txBody>
      </p:sp>
      <p:sp>
        <p:nvSpPr>
          <p:cNvPr id="20" name="TextBox 19"/>
          <p:cNvSpPr txBox="1"/>
          <p:nvPr/>
        </p:nvSpPr>
        <p:spPr>
          <a:xfrm>
            <a:off x="8937345" y="2560320"/>
            <a:ext cx="83210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1-2</a:t>
            </a:r>
          </a:p>
        </p:txBody>
      </p:sp>
      <p:sp>
        <p:nvSpPr>
          <p:cNvPr id="21" name="TextBox 20"/>
          <p:cNvSpPr txBox="1"/>
          <p:nvPr/>
        </p:nvSpPr>
        <p:spPr>
          <a:xfrm>
            <a:off x="10043769" y="2560320"/>
            <a:ext cx="1495958"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WA Q1 · PP Task 1</a:t>
            </a:r>
          </a:p>
        </p:txBody>
      </p:sp>
      <p:sp>
        <p:nvSpPr>
          <p:cNvPr id="22" name="TextBox 21"/>
          <p:cNvSpPr txBox="1"/>
          <p:nvPr/>
        </p:nvSpPr>
        <p:spPr>
          <a:xfrm>
            <a:off x="749808" y="3273552"/>
            <a:ext cx="304495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LU2 · Topic 2 · AI-Assisted Editing, Storytelling and QA</a:t>
            </a:r>
          </a:p>
        </p:txBody>
      </p:sp>
      <p:sp>
        <p:nvSpPr>
          <p:cNvPr id="23" name="TextBox 22"/>
          <p:cNvSpPr txBox="1"/>
          <p:nvPr/>
        </p:nvSpPr>
        <p:spPr>
          <a:xfrm>
            <a:off x="4069079" y="3273552"/>
            <a:ext cx="1495958"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LO2</a:t>
            </a:r>
          </a:p>
        </p:txBody>
      </p:sp>
      <p:sp>
        <p:nvSpPr>
          <p:cNvPr id="24" name="TextBox 23"/>
          <p:cNvSpPr txBox="1"/>
          <p:nvPr/>
        </p:nvSpPr>
        <p:spPr>
          <a:xfrm>
            <a:off x="5839358" y="3273552"/>
            <a:ext cx="116403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K2, K3</a:t>
            </a:r>
          </a:p>
        </p:txBody>
      </p:sp>
      <p:sp>
        <p:nvSpPr>
          <p:cNvPr id="25" name="TextBox 24"/>
          <p:cNvSpPr txBox="1"/>
          <p:nvPr/>
        </p:nvSpPr>
        <p:spPr>
          <a:xfrm>
            <a:off x="7277709" y="3273552"/>
            <a:ext cx="138531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A4, A5</a:t>
            </a:r>
          </a:p>
        </p:txBody>
      </p:sp>
      <p:sp>
        <p:nvSpPr>
          <p:cNvPr id="26" name="TextBox 25"/>
          <p:cNvSpPr txBox="1"/>
          <p:nvPr/>
        </p:nvSpPr>
        <p:spPr>
          <a:xfrm>
            <a:off x="8937345" y="3273552"/>
            <a:ext cx="83210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3-4</a:t>
            </a:r>
          </a:p>
        </p:txBody>
      </p:sp>
      <p:sp>
        <p:nvSpPr>
          <p:cNvPr id="27" name="TextBox 26"/>
          <p:cNvSpPr txBox="1"/>
          <p:nvPr/>
        </p:nvSpPr>
        <p:spPr>
          <a:xfrm>
            <a:off x="10043769" y="3273552"/>
            <a:ext cx="1495958"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WA Q2-Q3 · PP Task 2</a:t>
            </a:r>
          </a:p>
        </p:txBody>
      </p:sp>
      <p:sp>
        <p:nvSpPr>
          <p:cNvPr id="28" name="Rectangle 27"/>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86784"/>
            <a:ext cx="304495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LU3 · Topic 3 · Workflow, Compliance and Emerging Tech</a:t>
            </a:r>
          </a:p>
        </p:txBody>
      </p:sp>
      <p:sp>
        <p:nvSpPr>
          <p:cNvPr id="30" name="TextBox 29"/>
          <p:cNvSpPr txBox="1"/>
          <p:nvPr/>
        </p:nvSpPr>
        <p:spPr>
          <a:xfrm>
            <a:off x="4069079" y="3986784"/>
            <a:ext cx="1495958"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LO3</a:t>
            </a:r>
          </a:p>
        </p:txBody>
      </p:sp>
      <p:sp>
        <p:nvSpPr>
          <p:cNvPr id="31" name="TextBox 30"/>
          <p:cNvSpPr txBox="1"/>
          <p:nvPr/>
        </p:nvSpPr>
        <p:spPr>
          <a:xfrm>
            <a:off x="5839358" y="3986784"/>
            <a:ext cx="116403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K4, K5</a:t>
            </a:r>
          </a:p>
        </p:txBody>
      </p:sp>
      <p:sp>
        <p:nvSpPr>
          <p:cNvPr id="32" name="TextBox 31"/>
          <p:cNvSpPr txBox="1"/>
          <p:nvPr/>
        </p:nvSpPr>
        <p:spPr>
          <a:xfrm>
            <a:off x="7277709" y="3986784"/>
            <a:ext cx="138531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A6, A7</a:t>
            </a:r>
          </a:p>
        </p:txBody>
      </p:sp>
      <p:sp>
        <p:nvSpPr>
          <p:cNvPr id="33" name="TextBox 32"/>
          <p:cNvSpPr txBox="1"/>
          <p:nvPr/>
        </p:nvSpPr>
        <p:spPr>
          <a:xfrm>
            <a:off x="8937345" y="3986784"/>
            <a:ext cx="83210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5-6</a:t>
            </a:r>
          </a:p>
        </p:txBody>
      </p:sp>
      <p:sp>
        <p:nvSpPr>
          <p:cNvPr id="34" name="TextBox 33"/>
          <p:cNvSpPr txBox="1"/>
          <p:nvPr/>
        </p:nvSpPr>
        <p:spPr>
          <a:xfrm>
            <a:off x="10043769" y="3986784"/>
            <a:ext cx="1495958"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WA Q4-Q5 · PP Task 3</a:t>
            </a:r>
          </a:p>
        </p:txBody>
      </p:sp>
      <p:sp>
        <p:nvSpPr>
          <p:cNvPr id="35" name="Rounded Rectangle 34"/>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TSC: Video Editing-4 (MED-MPN-4005-1.1) · Skills Framework for Media.</a:t>
            </a:r>
          </a:p>
        </p:txBody>
      </p:sp>
    </p:spTree>
  </p:cSld>
  <p:clrMapOvr>
    <a:masterClrMapping/>
  </p:clrMapOvr>
  <p:transition spd="fast">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Kopi &amp; Coins: One Studio, One Story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Singapore studio making 60-second money stories for young working adults. You are its new AI video producer.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Pentagon 7"/>
          <p:cNvSpPr/>
          <p:nvPr/>
        </p:nvSpPr>
        <p:spPr>
          <a:xfrm>
            <a:off x="548640" y="2084831"/>
            <a:ext cx="3749039"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360273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3602735"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334670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2" name="TextBox 11"/>
          <p:cNvSpPr txBox="1"/>
          <p:nvPr/>
        </p:nvSpPr>
        <p:spPr>
          <a:xfrm>
            <a:off x="676656" y="3694176"/>
            <a:ext cx="334670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AI agent writes the brief and script, reviews it for edits, and builds the storyboard, standards and work plan. Labs 1-2.</a:t>
            </a:r>
          </a:p>
        </p:txBody>
      </p:sp>
      <p:sp>
        <p:nvSpPr>
          <p:cNvPr id="13" name="Chevron 12"/>
          <p:cNvSpPr/>
          <p:nvPr/>
        </p:nvSpPr>
        <p:spPr>
          <a:xfrm>
            <a:off x="4206240" y="2084831"/>
            <a:ext cx="3749039"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42976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2962656"/>
            <a:ext cx="35112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5"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Make</a:t>
            </a:r>
          </a:p>
        </p:txBody>
      </p:sp>
      <p:sp>
        <p:nvSpPr>
          <p:cNvPr id="17" name="TextBox 16"/>
          <p:cNvSpPr txBox="1"/>
          <p:nvPr/>
        </p:nvSpPr>
        <p:spPr>
          <a:xfrm>
            <a:off x="4425695"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Flova video agent produces Episode 1, "The Rainy-Day Tin"; you review and refine it. Labs 3-4.</a:t>
            </a:r>
          </a:p>
        </p:txBody>
      </p:sp>
      <p:sp>
        <p:nvSpPr>
          <p:cNvPr id="18" name="Chevron 17"/>
          <p:cNvSpPr/>
          <p:nvPr/>
        </p:nvSpPr>
        <p:spPr>
          <a:xfrm>
            <a:off x="7863840" y="2084831"/>
            <a:ext cx="3749039"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79552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2962656"/>
            <a:ext cx="35112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Scale</a:t>
            </a:r>
          </a:p>
        </p:txBody>
      </p:sp>
      <p:sp>
        <p:nvSpPr>
          <p:cNvPr id="22" name="TextBox 21"/>
          <p:cNvSpPr txBox="1"/>
          <p:nvPr/>
        </p:nvSpPr>
        <p:spPr>
          <a:xfrm>
            <a:off x="8083296"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connects to Flova, reviews compliance, and runs a five-agent team that makes Episode 2. Labs 5-6.</a:t>
            </a:r>
          </a:p>
        </p:txBody>
      </p:sp>
    </p:spTree>
  </p:cSld>
  <p:clrMapOvr>
    <a:masterClrMapping/>
  </p:clrMapOvr>
  <p:transition spd="fast">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the Cast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people in every episode — so character consistency is a business requirement.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Priya Nair — founder</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Your boss. Sets the studio rules and approves every episode.</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Rachel Tan, 29</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Marketing executive, new to money planning. Round glasses, mustard cardigan.</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Ah Ma, 74</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Rachel's grandmother. Kept the family savings in labelled envelopes.</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Daniel Lim, 30</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Rachel's colleague who spends every bonus. Lead of Episode 2.</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blue tin</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series symbol: same tin, same dent, same labels every time.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studio's new AI video producer — you direct the agents.</a:t>
            </a:r>
          </a:p>
        </p:txBody>
      </p:sp>
    </p:spTree>
  </p:cSld>
  <p:clrMapOvr>
    <a:masterClrMapping/>
  </p:clrMapOvr>
  <p:transition spd="fast">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topics over two days — one per Learning Unit. Each ends in labs that move the studio forward.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Pentagon 7"/>
          <p:cNvSpPr/>
          <p:nvPr/>
        </p:nvSpPr>
        <p:spPr>
          <a:xfrm>
            <a:off x="548640" y="2084831"/>
            <a:ext cx="3749039"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360273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3602735"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334670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Creative Strategy</a:t>
            </a:r>
          </a:p>
        </p:txBody>
      </p:sp>
      <p:sp>
        <p:nvSpPr>
          <p:cNvPr id="12" name="TextBox 11"/>
          <p:cNvSpPr txBox="1"/>
          <p:nvPr/>
        </p:nvSpPr>
        <p:spPr>
          <a:xfrm>
            <a:off x="676656" y="3694176"/>
            <a:ext cx="334670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History of AI, agentic AI vs AI agents, a single AI agent, principles of video creation, scripts, storyboards, standards and work plans. Labs 1-2.</a:t>
            </a:r>
          </a:p>
        </p:txBody>
      </p:sp>
      <p:sp>
        <p:nvSpPr>
          <p:cNvPr id="13" name="Chevron 12"/>
          <p:cNvSpPr/>
          <p:nvPr/>
        </p:nvSpPr>
        <p:spPr>
          <a:xfrm>
            <a:off x="4206240" y="2084831"/>
            <a:ext cx="3749039"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42976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2962656"/>
            <a:ext cx="35112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5"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Editing, Storytelling and QA</a:t>
            </a:r>
          </a:p>
        </p:txBody>
      </p:sp>
      <p:sp>
        <p:nvSpPr>
          <p:cNvPr id="17" name="TextBox 16"/>
          <p:cNvSpPr txBox="1"/>
          <p:nvPr/>
        </p:nvSpPr>
        <p:spPr>
          <a:xfrm>
            <a:off x="4425695"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Flova video agent, character consistency, reviewing footage for story and emotion, technical parameters and fixes. Labs 3-4.</a:t>
            </a:r>
          </a:p>
        </p:txBody>
      </p:sp>
      <p:sp>
        <p:nvSpPr>
          <p:cNvPr id="18" name="Chevron 17"/>
          <p:cNvSpPr/>
          <p:nvPr/>
        </p:nvSpPr>
        <p:spPr>
          <a:xfrm>
            <a:off x="7863840" y="2084831"/>
            <a:ext cx="3749039"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79552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2962656"/>
            <a:ext cx="35112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Workflow, Compliance, Emerging Tech</a:t>
            </a:r>
          </a:p>
        </p:txBody>
      </p:sp>
      <p:sp>
        <p:nvSpPr>
          <p:cNvPr id="22" name="TextBox 21"/>
          <p:cNvSpPr txBox="1"/>
          <p:nvPr/>
        </p:nvSpPr>
        <p:spPr>
          <a:xfrm>
            <a:off x="8083296"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Agent, skills, plugins, the Flova connection, industry standards, a multi-agent studio on Kanban and adoption. Labs 5-6.</a:t>
            </a:r>
          </a:p>
        </p:txBody>
      </p:sp>
    </p:spTree>
  </p:cSld>
  <p:clrMapOvr>
    <a:masterClrMapping/>
  </p:clrMapOvr>
  <p:transition spd="fast">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Six labs, each in its own folder with a README, prompts (MD and PDF), templates, sample outputs and a checklist.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5001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524304" y="2203703"/>
            <a:ext cx="44833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a:t>
            </a:r>
          </a:p>
        </p:txBody>
      </p:sp>
      <p:sp>
        <p:nvSpPr>
          <p:cNvPr id="11" name="TextBox 10"/>
          <p:cNvSpPr txBox="1"/>
          <p:nvPr/>
        </p:nvSpPr>
        <p:spPr>
          <a:xfrm>
            <a:off x="6281927"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2" name="TextBox 11"/>
          <p:cNvSpPr txBox="1"/>
          <p:nvPr/>
        </p:nvSpPr>
        <p:spPr>
          <a:xfrm>
            <a:off x="9379915"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K &amp; A</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50017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5" name="TextBox 14"/>
          <p:cNvSpPr txBox="1"/>
          <p:nvPr/>
        </p:nvSpPr>
        <p:spPr>
          <a:xfrm>
            <a:off x="1524304" y="2560320"/>
            <a:ext cx="4483303"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 Plan the Story with a Single AI Agent</a:t>
            </a:r>
          </a:p>
        </p:txBody>
      </p:sp>
      <p:sp>
        <p:nvSpPr>
          <p:cNvPr id="16" name="TextBox 15"/>
          <p:cNvSpPr txBox="1"/>
          <p:nvPr/>
        </p:nvSpPr>
        <p:spPr>
          <a:xfrm>
            <a:off x="6281927" y="2560320"/>
            <a:ext cx="282366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ChatGPT (or Claude / Gemini)</a:t>
            </a:r>
          </a:p>
        </p:txBody>
      </p:sp>
      <p:sp>
        <p:nvSpPr>
          <p:cNvPr id="17" name="TextBox 16"/>
          <p:cNvSpPr txBox="1"/>
          <p:nvPr/>
        </p:nvSpPr>
        <p:spPr>
          <a:xfrm>
            <a:off x="9379915" y="2560320"/>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K1, A1</a:t>
            </a:r>
          </a:p>
        </p:txBody>
      </p:sp>
      <p:sp>
        <p:nvSpPr>
          <p:cNvPr id="18" name="TextBox 17"/>
          <p:cNvSpPr txBox="1"/>
          <p:nvPr/>
        </p:nvSpPr>
        <p:spPr>
          <a:xfrm>
            <a:off x="749808" y="3084575"/>
            <a:ext cx="50017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9" name="TextBox 18"/>
          <p:cNvSpPr txBox="1"/>
          <p:nvPr/>
        </p:nvSpPr>
        <p:spPr>
          <a:xfrm>
            <a:off x="1524304" y="3084575"/>
            <a:ext cx="4483303"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 · Storyboard, Editing Standards and Work Plan</a:t>
            </a:r>
          </a:p>
        </p:txBody>
      </p:sp>
      <p:sp>
        <p:nvSpPr>
          <p:cNvPr id="20" name="TextBox 19"/>
          <p:cNvSpPr txBox="1"/>
          <p:nvPr/>
        </p:nvSpPr>
        <p:spPr>
          <a:xfrm>
            <a:off x="6281927" y="3084575"/>
            <a:ext cx="282366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ChatGPT (same chat)</a:t>
            </a:r>
          </a:p>
        </p:txBody>
      </p:sp>
      <p:sp>
        <p:nvSpPr>
          <p:cNvPr id="21" name="TextBox 20"/>
          <p:cNvSpPr txBox="1"/>
          <p:nvPr/>
        </p:nvSpPr>
        <p:spPr>
          <a:xfrm>
            <a:off x="9379915" y="3084575"/>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A2, A3</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50017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4" name="TextBox 23"/>
          <p:cNvSpPr txBox="1"/>
          <p:nvPr/>
        </p:nvSpPr>
        <p:spPr>
          <a:xfrm>
            <a:off x="1524304" y="3608831"/>
            <a:ext cx="4483303"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 · Create Episode 1 with the Flova Video Agent</a:t>
            </a:r>
          </a:p>
        </p:txBody>
      </p:sp>
      <p:sp>
        <p:nvSpPr>
          <p:cNvPr id="25" name="TextBox 24"/>
          <p:cNvSpPr txBox="1"/>
          <p:nvPr/>
        </p:nvSpPr>
        <p:spPr>
          <a:xfrm>
            <a:off x="6281927" y="3608831"/>
            <a:ext cx="282366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Flova (flova.ai)</a:t>
            </a:r>
          </a:p>
        </p:txBody>
      </p:sp>
      <p:sp>
        <p:nvSpPr>
          <p:cNvPr id="26" name="TextBox 25"/>
          <p:cNvSpPr txBox="1"/>
          <p:nvPr/>
        </p:nvSpPr>
        <p:spPr>
          <a:xfrm>
            <a:off x="9379915" y="3608831"/>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K2, A4 (preparation)</a:t>
            </a:r>
          </a:p>
        </p:txBody>
      </p:sp>
      <p:sp>
        <p:nvSpPr>
          <p:cNvPr id="27" name="TextBox 26"/>
          <p:cNvSpPr txBox="1"/>
          <p:nvPr/>
        </p:nvSpPr>
        <p:spPr>
          <a:xfrm>
            <a:off x="749808" y="4133087"/>
            <a:ext cx="50017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524304" y="4133087"/>
            <a:ext cx="4483303"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4 · Review and Refine the Edit</a:t>
            </a:r>
          </a:p>
        </p:txBody>
      </p:sp>
      <p:sp>
        <p:nvSpPr>
          <p:cNvPr id="29" name="TextBox 28"/>
          <p:cNvSpPr txBox="1"/>
          <p:nvPr/>
        </p:nvSpPr>
        <p:spPr>
          <a:xfrm>
            <a:off x="6281927" y="4133087"/>
            <a:ext cx="282366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Flova (Storyboard, Timeline, chat)</a:t>
            </a:r>
          </a:p>
        </p:txBody>
      </p:sp>
      <p:sp>
        <p:nvSpPr>
          <p:cNvPr id="30" name="TextBox 29"/>
          <p:cNvSpPr txBox="1"/>
          <p:nvPr/>
        </p:nvSpPr>
        <p:spPr>
          <a:xfrm>
            <a:off x="9379915" y="4133087"/>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K2, K3, A4, A5</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50017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33" name="TextBox 32"/>
          <p:cNvSpPr txBox="1"/>
          <p:nvPr/>
        </p:nvSpPr>
        <p:spPr>
          <a:xfrm>
            <a:off x="1524304" y="4657344"/>
            <a:ext cx="4483303"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 Hermes, Flova, Skills and a Compliance Review</a:t>
            </a:r>
          </a:p>
        </p:txBody>
      </p:sp>
      <p:sp>
        <p:nvSpPr>
          <p:cNvPr id="34" name="TextBox 33"/>
          <p:cNvSpPr txBox="1"/>
          <p:nvPr/>
        </p:nvSpPr>
        <p:spPr>
          <a:xfrm>
            <a:off x="6281927" y="4657344"/>
            <a:ext cx="282366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Hermes Agent (Desktop or CLI)</a:t>
            </a:r>
          </a:p>
        </p:txBody>
      </p:sp>
      <p:sp>
        <p:nvSpPr>
          <p:cNvPr id="35" name="TextBox 34"/>
          <p:cNvSpPr txBox="1"/>
          <p:nvPr/>
        </p:nvSpPr>
        <p:spPr>
          <a:xfrm>
            <a:off x="9379915" y="4657344"/>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K4, A6</a:t>
            </a:r>
          </a:p>
        </p:txBody>
      </p:sp>
      <p:sp>
        <p:nvSpPr>
          <p:cNvPr id="36" name="TextBox 35"/>
          <p:cNvSpPr txBox="1"/>
          <p:nvPr/>
        </p:nvSpPr>
        <p:spPr>
          <a:xfrm>
            <a:off x="749808" y="5181599"/>
            <a:ext cx="50017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37" name="TextBox 36"/>
          <p:cNvSpPr txBox="1"/>
          <p:nvPr/>
        </p:nvSpPr>
        <p:spPr>
          <a:xfrm>
            <a:off x="1524304" y="5181599"/>
            <a:ext cx="4483303"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 A Multi-Agent Video Studio on Kanban</a:t>
            </a:r>
          </a:p>
        </p:txBody>
      </p:sp>
      <p:sp>
        <p:nvSpPr>
          <p:cNvPr id="38" name="TextBox 37"/>
          <p:cNvSpPr txBox="1"/>
          <p:nvPr/>
        </p:nvSpPr>
        <p:spPr>
          <a:xfrm>
            <a:off x="6281927" y="5181599"/>
            <a:ext cx="282366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Hermes (profiles, Kanban, dashboard, cron)</a:t>
            </a:r>
          </a:p>
        </p:txBody>
      </p:sp>
      <p:sp>
        <p:nvSpPr>
          <p:cNvPr id="39" name="TextBox 38"/>
          <p:cNvSpPr txBox="1"/>
          <p:nvPr/>
        </p:nvSpPr>
        <p:spPr>
          <a:xfrm>
            <a:off x="9379915" y="5181599"/>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K5, A7</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labs build on each other: Lab 3 generates the storyboard you drew in Lab 2; Lab 6 reuses the compliance skill from Lab 5.</a:t>
            </a:r>
          </a:p>
        </p:txBody>
      </p:sp>
    </p:spTree>
  </p:cSld>
  <p:clrMapOvr>
    <a:masterClrMapping/>
  </p:clrMapOvr>
  <p:transition spd="fast">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(9:30 AM – 6:30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15 min, lunch 1 hour.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PLAN AND MAKE</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REFINE AND SCALE</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9:30–11:00  Welcome · Topic 1 (AI and agents)</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9:30–10:30  Recap · Topic 2 (parameters and fixes)</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11:15–1:00  Video principles · Lab 1 · standards</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10:30–1:00  Lab 4 · Topic 3 (Hermes, standards)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2:00–3:40  Standards and work plans · Lab 2</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2:00–4:15  Lab 5 · multi-agent studio · Lab 6</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3:55–6:30  Topic 2 (Flova) · Lab 3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4:15 Summary · 4:30–6:30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4:30–5:30 PM, Practical Performance 5:30–6:30 PM.</a:t>
            </a:r>
          </a:p>
        </p:txBody>
      </p:sp>
    </p:spTree>
  </p:cSld>
  <p:clrMapOvr>
    <a:masterClrMapping/>
  </p:clrMapOvr>
  <p:transition spd="fast">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188720"/>
            <a:ext cx="10972800" cy="1097280"/>
          </a:xfrm>
          <a:prstGeom prst="rect">
            <a:avLst/>
          </a:prstGeom>
          <a:noFill/>
        </p:spPr>
        <p:txBody>
          <a:bodyPr wrap="square" lIns="18288" rIns="18288" tIns="9144" bIns="9144">
            <a:spAutoFit/>
          </a:bodyPr>
          <a:lstStyle/>
          <a:p>
            <a:pPr>
              <a:lnSpc>
                <a:spcPct val="95000"/>
              </a:lnSpc>
              <a:defRPr sz="3000" b="0">
                <a:solidFill>
                  <a:srgbClr val="FFFFFF"/>
                </a:solidFill>
                <a:latin typeface="Cambria"/>
              </a:defRPr>
            </a:pPr>
            <a:r>
              <a:t>Creative Strategy and End-to-End Video Production with Agentic AI</a:t>
            </a:r>
          </a:p>
        </p:txBody>
      </p:sp>
      <p:sp>
        <p:nvSpPr>
          <p:cNvPr id="4" name="Rectangle 3"/>
          <p:cNvSpPr/>
          <p:nvPr/>
        </p:nvSpPr>
        <p:spPr>
          <a:xfrm>
            <a:off x="585216" y="239572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78892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80720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short history of AI, and agentic AI vs AI agents</a:t>
            </a:r>
          </a:p>
        </p:txBody>
      </p:sp>
      <p:sp>
        <p:nvSpPr>
          <p:cNvPr id="7" name="Oval 6"/>
          <p:cNvSpPr/>
          <p:nvPr/>
        </p:nvSpPr>
        <p:spPr>
          <a:xfrm>
            <a:off x="603504" y="350215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52044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One AI agent: the loop, tools, skills and memory</a:t>
            </a:r>
          </a:p>
        </p:txBody>
      </p:sp>
      <p:sp>
        <p:nvSpPr>
          <p:cNvPr id="9" name="Oval 8"/>
          <p:cNvSpPr/>
          <p:nvPr/>
        </p:nvSpPr>
        <p:spPr>
          <a:xfrm>
            <a:off x="603504" y="4215383"/>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233671"/>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Principles of video creation: story, script, storyboard, characters, shots</a:t>
            </a:r>
          </a:p>
        </p:txBody>
      </p:sp>
      <p:sp>
        <p:nvSpPr>
          <p:cNvPr id="11" name="Oval 10"/>
          <p:cNvSpPr/>
          <p:nvPr/>
        </p:nvSpPr>
        <p:spPr>
          <a:xfrm>
            <a:off x="603504" y="492861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4946903"/>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Quality issues, script review, standards and work plans</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Agentic AI for Video Creation  ·  TGS-2023036088 </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LEARNING OUTCOME, KNOWLEDGE AND ABILITIES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2500" b="0">
                <a:solidFill>
                  <a:srgbClr val="21201C"/>
                </a:solidFill>
                <a:latin typeface="Cambria"/>
              </a:defRPr>
            </a:pPr>
            <a:r>
              <a:t>Creative Strategy and End-to-End Video Production with Agentic AI</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7" name="Rounded Rectangle 6"/>
          <p:cNvSpPr/>
          <p:nvPr/>
        </p:nvSpPr>
        <p:spPr>
          <a:xfrm>
            <a:off x="548640" y="1783080"/>
            <a:ext cx="3749039" cy="402336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374903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29968"/>
            <a:ext cx="32918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LEARNING OUTCOME</a:t>
            </a:r>
          </a:p>
        </p:txBody>
      </p:sp>
      <p:sp>
        <p:nvSpPr>
          <p:cNvPr id="10" name="TextBox 9"/>
          <p:cNvSpPr txBox="1"/>
          <p:nvPr/>
        </p:nvSpPr>
        <p:spPr>
          <a:xfrm>
            <a:off x="822960" y="2359152"/>
            <a:ext cx="3291840" cy="457200"/>
          </a:xfrm>
          <a:prstGeom prst="rect">
            <a:avLst/>
          </a:prstGeom>
          <a:noFill/>
        </p:spPr>
        <p:txBody>
          <a:bodyPr wrap="square" lIns="18288" rIns="18288" tIns="9144" bIns="9144">
            <a:spAutoFit/>
          </a:bodyPr>
          <a:lstStyle/>
          <a:p>
            <a:pPr>
              <a:lnSpc>
                <a:spcPct val="100000"/>
              </a:lnSpc>
              <a:defRPr sz="2800" b="1">
                <a:solidFill>
                  <a:srgbClr val="FFFFFF"/>
                </a:solidFill>
                <a:latin typeface="Cambria"/>
              </a:defRPr>
            </a:pPr>
            <a:r>
              <a:t>LO1</a:t>
            </a:r>
          </a:p>
        </p:txBody>
      </p:sp>
      <p:sp>
        <p:nvSpPr>
          <p:cNvPr id="11" name="TextBox 10"/>
          <p:cNvSpPr txBox="1"/>
          <p:nvPr/>
        </p:nvSpPr>
        <p:spPr>
          <a:xfrm>
            <a:off x="822960" y="2971800"/>
            <a:ext cx="3246120" cy="2651760"/>
          </a:xfrm>
          <a:prstGeom prst="rect">
            <a:avLst/>
          </a:prstGeom>
          <a:noFill/>
        </p:spPr>
        <p:txBody>
          <a:bodyPr wrap="square" lIns="18288" rIns="18288" tIns="9144" bIns="9144">
            <a:spAutoFit/>
          </a:bodyPr>
          <a:lstStyle/>
          <a:p>
            <a:pPr>
              <a:lnSpc>
                <a:spcPct val="110000"/>
              </a:lnSpc>
              <a:defRPr sz="1700" b="0">
                <a:solidFill>
                  <a:srgbClr val="E8E5DE"/>
                </a:solidFill>
                <a:latin typeface="Cambria"/>
              </a:defRPr>
            </a:pPr>
            <a:r>
              <a:t>Develop editing strategies and work plans to achieve creative vision.</a:t>
            </a:r>
          </a:p>
        </p:txBody>
      </p:sp>
      <p:sp>
        <p:nvSpPr>
          <p:cNvPr id="12" name="TextBox 11"/>
          <p:cNvSpPr txBox="1"/>
          <p:nvPr/>
        </p:nvSpPr>
        <p:spPr>
          <a:xfrm>
            <a:off x="4526280" y="1783080"/>
            <a:ext cx="3657600" cy="256032"/>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KNOWLEDGE</a:t>
            </a:r>
          </a:p>
        </p:txBody>
      </p:sp>
      <p:sp>
        <p:nvSpPr>
          <p:cNvPr id="13" name="Rounded Rectangle 12"/>
          <p:cNvSpPr/>
          <p:nvPr/>
        </p:nvSpPr>
        <p:spPr>
          <a:xfrm>
            <a:off x="4526280" y="2093976"/>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2093976"/>
            <a:ext cx="64008" cy="7452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2093976"/>
            <a:ext cx="566928" cy="745236"/>
          </a:xfrm>
          <a:prstGeom prst="rect">
            <a:avLst/>
          </a:prstGeom>
          <a:noFill/>
        </p:spPr>
        <p:txBody>
          <a:bodyPr wrap="square" lIns="18288" rIns="18288" tIns="9144" bIns="9144" anchor="ctr">
            <a:spAutoFit/>
          </a:bodyPr>
          <a:lstStyle/>
          <a:p>
            <a:pPr>
              <a:lnSpc>
                <a:spcPct val="100000"/>
              </a:lnSpc>
              <a:defRPr sz="1500" b="1">
                <a:solidFill>
                  <a:srgbClr val="D97757"/>
                </a:solidFill>
                <a:latin typeface="Cambria"/>
              </a:defRPr>
            </a:pPr>
            <a:r>
              <a:t>K1</a:t>
            </a:r>
          </a:p>
        </p:txBody>
      </p:sp>
      <p:sp>
        <p:nvSpPr>
          <p:cNvPr id="16" name="TextBox 15"/>
          <p:cNvSpPr txBox="1"/>
          <p:nvPr/>
        </p:nvSpPr>
        <p:spPr>
          <a:xfrm>
            <a:off x="5312664" y="2093976"/>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Types of quality issues in video content</a:t>
            </a:r>
          </a:p>
        </p:txBody>
      </p:sp>
      <p:sp>
        <p:nvSpPr>
          <p:cNvPr id="17" name="TextBox 16"/>
          <p:cNvSpPr txBox="1"/>
          <p:nvPr/>
        </p:nvSpPr>
        <p:spPr>
          <a:xfrm>
            <a:off x="4526280" y="2985516"/>
            <a:ext cx="3657600"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ABILITIES</a:t>
            </a:r>
          </a:p>
        </p:txBody>
      </p:sp>
      <p:sp>
        <p:nvSpPr>
          <p:cNvPr id="18" name="Rounded Rectangle 17"/>
          <p:cNvSpPr/>
          <p:nvPr/>
        </p:nvSpPr>
        <p:spPr>
          <a:xfrm>
            <a:off x="4526280" y="3296412"/>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26280" y="3296412"/>
            <a:ext cx="64008" cy="7452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9160" y="3296412"/>
            <a:ext cx="566928" cy="745236"/>
          </a:xfrm>
          <a:prstGeom prst="rect">
            <a:avLst/>
          </a:prstGeom>
          <a:noFill/>
        </p:spPr>
        <p:txBody>
          <a:bodyPr wrap="square" lIns="18288" rIns="18288" tIns="9144" bIns="9144" anchor="ctr">
            <a:spAutoFit/>
          </a:bodyPr>
          <a:lstStyle/>
          <a:p>
            <a:pPr>
              <a:lnSpc>
                <a:spcPct val="100000"/>
              </a:lnSpc>
              <a:defRPr sz="1500" b="1">
                <a:solidFill>
                  <a:srgbClr val="3A7D7B"/>
                </a:solidFill>
                <a:latin typeface="Cambria"/>
              </a:defRPr>
            </a:pPr>
            <a:r>
              <a:t>A1</a:t>
            </a:r>
          </a:p>
        </p:txBody>
      </p:sp>
      <p:sp>
        <p:nvSpPr>
          <p:cNvPr id="21" name="TextBox 20"/>
          <p:cNvSpPr txBox="1"/>
          <p:nvPr/>
        </p:nvSpPr>
        <p:spPr>
          <a:xfrm>
            <a:off x="5312664" y="3296412"/>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Review scripts to conceptualize the types of edits required to achieve creative vision of production</a:t>
            </a:r>
          </a:p>
        </p:txBody>
      </p:sp>
      <p:sp>
        <p:nvSpPr>
          <p:cNvPr id="22" name="Rounded Rectangle 21"/>
          <p:cNvSpPr/>
          <p:nvPr/>
        </p:nvSpPr>
        <p:spPr>
          <a:xfrm>
            <a:off x="4526280" y="4133087"/>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26280" y="4133087"/>
            <a:ext cx="64008" cy="7452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4133087"/>
            <a:ext cx="566928" cy="745236"/>
          </a:xfrm>
          <a:prstGeom prst="rect">
            <a:avLst/>
          </a:prstGeom>
          <a:noFill/>
        </p:spPr>
        <p:txBody>
          <a:bodyPr wrap="square" lIns="18288" rIns="18288" tIns="9144" bIns="9144" anchor="ctr">
            <a:spAutoFit/>
          </a:bodyPr>
          <a:lstStyle/>
          <a:p>
            <a:pPr>
              <a:lnSpc>
                <a:spcPct val="100000"/>
              </a:lnSpc>
              <a:defRPr sz="1500" b="1">
                <a:solidFill>
                  <a:srgbClr val="3A7D7B"/>
                </a:solidFill>
                <a:latin typeface="Cambria"/>
              </a:defRPr>
            </a:pPr>
            <a:r>
              <a:t>A2</a:t>
            </a:r>
          </a:p>
        </p:txBody>
      </p:sp>
      <p:sp>
        <p:nvSpPr>
          <p:cNvPr id="25" name="TextBox 24"/>
          <p:cNvSpPr txBox="1"/>
          <p:nvPr/>
        </p:nvSpPr>
        <p:spPr>
          <a:xfrm>
            <a:off x="5312664" y="4133087"/>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editing standards and guidelines in accordance to legal requirements and broadcasting standards</a:t>
            </a:r>
          </a:p>
        </p:txBody>
      </p:sp>
      <p:sp>
        <p:nvSpPr>
          <p:cNvPr id="26" name="Rounded Rectangle 25"/>
          <p:cNvSpPr/>
          <p:nvPr/>
        </p:nvSpPr>
        <p:spPr>
          <a:xfrm>
            <a:off x="4526280" y="4969764"/>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26280" y="4969764"/>
            <a:ext cx="64008" cy="7452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4969764"/>
            <a:ext cx="566928" cy="745236"/>
          </a:xfrm>
          <a:prstGeom prst="rect">
            <a:avLst/>
          </a:prstGeom>
          <a:noFill/>
        </p:spPr>
        <p:txBody>
          <a:bodyPr wrap="square" lIns="18288" rIns="18288" tIns="9144" bIns="9144" anchor="ctr">
            <a:spAutoFit/>
          </a:bodyPr>
          <a:lstStyle/>
          <a:p>
            <a:pPr>
              <a:lnSpc>
                <a:spcPct val="100000"/>
              </a:lnSpc>
              <a:defRPr sz="1500" b="1">
                <a:solidFill>
                  <a:srgbClr val="3A7D7B"/>
                </a:solidFill>
                <a:latin typeface="Cambria"/>
              </a:defRPr>
            </a:pPr>
            <a:r>
              <a:t>A3</a:t>
            </a:r>
          </a:p>
        </p:txBody>
      </p:sp>
      <p:sp>
        <p:nvSpPr>
          <p:cNvPr id="29" name="TextBox 28"/>
          <p:cNvSpPr txBox="1"/>
          <p:nvPr/>
        </p:nvSpPr>
        <p:spPr>
          <a:xfrm>
            <a:off x="5312664" y="4969764"/>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work plans to outline the processes and timelines needed for the post production processes</a:t>
            </a:r>
          </a:p>
        </p:txBody>
      </p:sp>
    </p:spTree>
  </p:cSld>
  <p:clrMapOvr>
    <a:masterClrMapping/>
  </p:clrMapOvr>
  <p:transition spd="fast">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HISTORY OF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Short History of AI (1950–2017)</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7" name="Rectangle 6"/>
          <p:cNvSpPr/>
          <p:nvPr/>
        </p:nvSpPr>
        <p:spPr>
          <a:xfrm>
            <a:off x="1655064" y="3657600"/>
            <a:ext cx="8851392"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The Turing test</a:t>
            </a:r>
          </a:p>
        </p:txBody>
      </p:sp>
      <p:sp>
        <p:nvSpPr>
          <p:cNvPr id="9" name="Oval 8"/>
          <p:cNvSpPr/>
          <p:nvPr/>
        </p:nvSpPr>
        <p:spPr>
          <a:xfrm>
            <a:off x="1271016"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1950</a:t>
            </a:r>
          </a:p>
        </p:txBody>
      </p:sp>
      <p:sp>
        <p:nvSpPr>
          <p:cNvPr id="10" name="TextBox 9"/>
          <p:cNvSpPr txBox="1"/>
          <p:nvPr/>
        </p:nvSpPr>
        <p:spPr>
          <a:xfrm>
            <a:off x="621792"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Alan Turing asks "Can machines think?" and proposes the imitation game.</a:t>
            </a:r>
          </a:p>
        </p:txBody>
      </p:sp>
      <p:sp>
        <p:nvSpPr>
          <p:cNvPr id="11" name="TextBox 10"/>
          <p:cNvSpPr txBox="1"/>
          <p:nvPr/>
        </p:nvSpPr>
        <p:spPr>
          <a:xfrm>
            <a:off x="2807208"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"Artificial intelligence"</a:t>
            </a:r>
          </a:p>
        </p:txBody>
      </p:sp>
      <p:sp>
        <p:nvSpPr>
          <p:cNvPr id="12" name="Oval 11"/>
          <p:cNvSpPr/>
          <p:nvPr/>
        </p:nvSpPr>
        <p:spPr>
          <a:xfrm>
            <a:off x="3483864"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1956</a:t>
            </a:r>
          </a:p>
        </p:txBody>
      </p:sp>
      <p:sp>
        <p:nvSpPr>
          <p:cNvPr id="13" name="TextBox 12"/>
          <p:cNvSpPr txBox="1"/>
          <p:nvPr/>
        </p:nvSpPr>
        <p:spPr>
          <a:xfrm>
            <a:off x="2834640"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The Dartmouth workshop names the field. Rules and logic dominate for decades.</a:t>
            </a:r>
          </a:p>
        </p:txBody>
      </p:sp>
      <p:sp>
        <p:nvSpPr>
          <p:cNvPr id="14" name="TextBox 13"/>
          <p:cNvSpPr txBox="1"/>
          <p:nvPr/>
        </p:nvSpPr>
        <p:spPr>
          <a:xfrm>
            <a:off x="5020055"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Deep Blue</a:t>
            </a:r>
          </a:p>
        </p:txBody>
      </p:sp>
      <p:sp>
        <p:nvSpPr>
          <p:cNvPr id="15" name="Oval 14"/>
          <p:cNvSpPr/>
          <p:nvPr/>
        </p:nvSpPr>
        <p:spPr>
          <a:xfrm>
            <a:off x="5696712"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1997</a:t>
            </a:r>
          </a:p>
        </p:txBody>
      </p:sp>
      <p:sp>
        <p:nvSpPr>
          <p:cNvPr id="16" name="TextBox 15"/>
          <p:cNvSpPr txBox="1"/>
          <p:nvPr/>
        </p:nvSpPr>
        <p:spPr>
          <a:xfrm>
            <a:off x="5047488"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IBM's chess computer beats world champion Garry Kasparov — search, not learning.</a:t>
            </a:r>
          </a:p>
        </p:txBody>
      </p:sp>
      <p:sp>
        <p:nvSpPr>
          <p:cNvPr id="17" name="TextBox 16"/>
          <p:cNvSpPr txBox="1"/>
          <p:nvPr/>
        </p:nvSpPr>
        <p:spPr>
          <a:xfrm>
            <a:off x="7232903"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Deep learning</a:t>
            </a:r>
          </a:p>
        </p:txBody>
      </p:sp>
      <p:sp>
        <p:nvSpPr>
          <p:cNvPr id="18" name="Oval 17"/>
          <p:cNvSpPr/>
          <p:nvPr/>
        </p:nvSpPr>
        <p:spPr>
          <a:xfrm>
            <a:off x="7909559"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2012</a:t>
            </a:r>
          </a:p>
        </p:txBody>
      </p:sp>
      <p:sp>
        <p:nvSpPr>
          <p:cNvPr id="19" name="TextBox 18"/>
          <p:cNvSpPr txBox="1"/>
          <p:nvPr/>
        </p:nvSpPr>
        <p:spPr>
          <a:xfrm>
            <a:off x="7260336"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AlexNet wins ImageNet. Neural networks learn from data and GPUs make them fast.</a:t>
            </a:r>
          </a:p>
        </p:txBody>
      </p:sp>
      <p:sp>
        <p:nvSpPr>
          <p:cNvPr id="20" name="TextBox 19"/>
          <p:cNvSpPr txBox="1"/>
          <p:nvPr/>
        </p:nvSpPr>
        <p:spPr>
          <a:xfrm>
            <a:off x="9445752"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The Transformer</a:t>
            </a:r>
          </a:p>
        </p:txBody>
      </p:sp>
      <p:sp>
        <p:nvSpPr>
          <p:cNvPr id="21" name="Oval 20"/>
          <p:cNvSpPr/>
          <p:nvPr/>
        </p:nvSpPr>
        <p:spPr>
          <a:xfrm>
            <a:off x="10122408"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2017</a:t>
            </a:r>
          </a:p>
        </p:txBody>
      </p:sp>
      <p:sp>
        <p:nvSpPr>
          <p:cNvPr id="22" name="TextBox 21"/>
          <p:cNvSpPr txBox="1"/>
          <p:nvPr/>
        </p:nvSpPr>
        <p:spPr>
          <a:xfrm>
            <a:off x="9473184"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"Attention Is All You Need" — the architecture behind every modern language model.</a:t>
            </a:r>
          </a:p>
        </p:txBody>
      </p:sp>
      <p:sp>
        <p:nvSpPr>
          <p:cNvPr id="23" name="TextBox 22"/>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Each era changed what a computer could do on its own: follow rules, search, learn, then understand language.</a:t>
            </a:r>
          </a:p>
        </p:txBody>
      </p:sp>
    </p:spTree>
  </p:cSld>
  <p:clrMapOvr>
    <a:masterClrMapping/>
  </p:clrMapOvr>
  <p:transition spd="fast">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HISTORY OF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Chatbots to Video Agents (2022–2026)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7" name="Rectangle 6"/>
          <p:cNvSpPr/>
          <p:nvPr/>
        </p:nvSpPr>
        <p:spPr>
          <a:xfrm>
            <a:off x="1655064" y="3657600"/>
            <a:ext cx="8851392"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ChatGPT</a:t>
            </a:r>
          </a:p>
        </p:txBody>
      </p:sp>
      <p:sp>
        <p:nvSpPr>
          <p:cNvPr id="9" name="Oval 8"/>
          <p:cNvSpPr/>
          <p:nvPr/>
        </p:nvSpPr>
        <p:spPr>
          <a:xfrm>
            <a:off x="1271016"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2022</a:t>
            </a:r>
          </a:p>
        </p:txBody>
      </p:sp>
      <p:sp>
        <p:nvSpPr>
          <p:cNvPr id="10" name="TextBox 9"/>
          <p:cNvSpPr txBox="1"/>
          <p:nvPr/>
        </p:nvSpPr>
        <p:spPr>
          <a:xfrm>
            <a:off x="621792"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Generative AI goes mainstream: ask in plain English, get an answer.</a:t>
            </a:r>
          </a:p>
        </p:txBody>
      </p:sp>
      <p:sp>
        <p:nvSpPr>
          <p:cNvPr id="11" name="TextBox 10"/>
          <p:cNvSpPr txBox="1"/>
          <p:nvPr/>
        </p:nvSpPr>
        <p:spPr>
          <a:xfrm>
            <a:off x="2807208"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Multimodal AI</a:t>
            </a:r>
          </a:p>
        </p:txBody>
      </p:sp>
      <p:sp>
        <p:nvSpPr>
          <p:cNvPr id="12" name="Oval 11"/>
          <p:cNvSpPr/>
          <p:nvPr/>
        </p:nvSpPr>
        <p:spPr>
          <a:xfrm>
            <a:off x="3483864"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3" name="TextBox 12"/>
          <p:cNvSpPr txBox="1"/>
          <p:nvPr/>
        </p:nvSpPr>
        <p:spPr>
          <a:xfrm>
            <a:off x="2834640"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read and make images; text-to-video tools produce the first short clips.</a:t>
            </a:r>
          </a:p>
        </p:txBody>
      </p:sp>
      <p:sp>
        <p:nvSpPr>
          <p:cNvPr id="14" name="TextBox 13"/>
          <p:cNvSpPr txBox="1"/>
          <p:nvPr/>
        </p:nvSpPr>
        <p:spPr>
          <a:xfrm>
            <a:off x="5020055"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Video models</a:t>
            </a:r>
          </a:p>
        </p:txBody>
      </p:sp>
      <p:sp>
        <p:nvSpPr>
          <p:cNvPr id="15" name="Oval 14"/>
          <p:cNvSpPr/>
          <p:nvPr/>
        </p:nvSpPr>
        <p:spPr>
          <a:xfrm>
            <a:off x="5696712"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6" name="TextBox 15"/>
          <p:cNvSpPr txBox="1"/>
          <p:nvPr/>
        </p:nvSpPr>
        <p:spPr>
          <a:xfrm>
            <a:off x="5047488"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Realistic text-to-video previews; minutes of consistent motion become possible.</a:t>
            </a:r>
          </a:p>
        </p:txBody>
      </p:sp>
      <p:sp>
        <p:nvSpPr>
          <p:cNvPr id="17" name="TextBox 16"/>
          <p:cNvSpPr txBox="1"/>
          <p:nvPr/>
        </p:nvSpPr>
        <p:spPr>
          <a:xfrm>
            <a:off x="7232903"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Agentic AI</a:t>
            </a:r>
          </a:p>
        </p:txBody>
      </p:sp>
      <p:sp>
        <p:nvSpPr>
          <p:cNvPr id="18" name="Oval 17"/>
          <p:cNvSpPr/>
          <p:nvPr/>
        </p:nvSpPr>
        <p:spPr>
          <a:xfrm>
            <a:off x="7909559"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9" name="TextBox 18"/>
          <p:cNvSpPr txBox="1"/>
          <p:nvPr/>
        </p:nvSpPr>
        <p:spPr>
          <a:xfrm>
            <a:off x="7260336"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plan, call tools and check their own work — coding agents lead the way.</a:t>
            </a:r>
          </a:p>
        </p:txBody>
      </p:sp>
      <p:sp>
        <p:nvSpPr>
          <p:cNvPr id="20" name="TextBox 19"/>
          <p:cNvSpPr txBox="1"/>
          <p:nvPr/>
        </p:nvSpPr>
        <p:spPr>
          <a:xfrm>
            <a:off x="9445752"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AI agents</a:t>
            </a:r>
          </a:p>
        </p:txBody>
      </p:sp>
      <p:sp>
        <p:nvSpPr>
          <p:cNvPr id="21" name="Oval 20"/>
          <p:cNvSpPr/>
          <p:nvPr/>
        </p:nvSpPr>
        <p:spPr>
          <a:xfrm>
            <a:off x="10122408"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22" name="TextBox 21"/>
          <p:cNvSpPr txBox="1"/>
          <p:nvPr/>
        </p:nvSpPr>
        <p:spPr>
          <a:xfrm>
            <a:off x="9473184"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(Hermes, OpenClaw) and video agents (Flova) run whole workflows.</a:t>
            </a:r>
          </a:p>
        </p:txBody>
      </p:sp>
      <p:sp>
        <p:nvSpPr>
          <p:cNvPr id="23" name="TextBox 22"/>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Years show when each practice took hold. For video, the shift is from a tool you operate to an agent you direct.</a:t>
            </a:r>
          </a:p>
        </p:txBody>
      </p:sp>
    </p:spTree>
  </p:cSld>
  <p:clrMapOvr>
    <a:masterClrMapping/>
  </p:clrMapOvr>
  <p:transition spd="fast">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HISTORY OF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AI Changed Video Production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job — a 60-second video — done four ways.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STAGE</a:t>
            </a: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WHO DOES THE WORK</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YOU CONTROL</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Editing software</a:t>
            </a:r>
          </a:p>
        </p:txBody>
      </p:sp>
      <p:sp>
        <p:nvSpPr>
          <p:cNvPr id="14" name="TextBox 13"/>
          <p:cNvSpPr txBox="1"/>
          <p:nvPr/>
        </p:nvSpPr>
        <p:spPr>
          <a:xfrm>
            <a:off x="2962656" y="2560320"/>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shoot, cut, colour and caption every frame by hand.</a:t>
            </a:r>
          </a:p>
        </p:txBody>
      </p:sp>
      <p:sp>
        <p:nvSpPr>
          <p:cNvPr id="15" name="TextBox 14"/>
          <p:cNvSpPr txBox="1"/>
          <p:nvPr/>
        </p:nvSpPr>
        <p:spPr>
          <a:xfrm>
            <a:off x="7388352" y="2560320"/>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Everything — and you do everything.</a:t>
            </a:r>
          </a:p>
        </p:txBody>
      </p:sp>
      <p:sp>
        <p:nvSpPr>
          <p:cNvPr id="16" name="TextBox 15"/>
          <p:cNvSpPr txBox="1"/>
          <p:nvPr/>
        </p:nvSpPr>
        <p:spPr>
          <a:xfrm>
            <a:off x="749808" y="3273552"/>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Generative clips</a:t>
            </a:r>
          </a:p>
        </p:txBody>
      </p:sp>
      <p:sp>
        <p:nvSpPr>
          <p:cNvPr id="17" name="TextBox 16"/>
          <p:cNvSpPr txBox="1"/>
          <p:nvPr/>
        </p:nvSpPr>
        <p:spPr>
          <a:xfrm>
            <a:off x="2962656" y="3273552"/>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model makes a 5-10 second clip from a prompt; you assemble the rest.</a:t>
            </a:r>
          </a:p>
        </p:txBody>
      </p:sp>
      <p:sp>
        <p:nvSpPr>
          <p:cNvPr id="18" name="TextBox 17"/>
          <p:cNvSpPr txBox="1"/>
          <p:nvPr/>
        </p:nvSpPr>
        <p:spPr>
          <a:xfrm>
            <a:off x="7388352" y="3273552"/>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One prompt per clip; consistency is hard.</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Video agent</a:t>
            </a:r>
          </a:p>
        </p:txBody>
      </p:sp>
      <p:sp>
        <p:nvSpPr>
          <p:cNvPr id="21" name="TextBox 20"/>
          <p:cNvSpPr txBox="1"/>
          <p:nvPr/>
        </p:nvSpPr>
        <p:spPr>
          <a:xfrm>
            <a:off x="2962656" y="3986784"/>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One agent writes, storyboards, generates and edits in a single project.</a:t>
            </a:r>
          </a:p>
        </p:txBody>
      </p:sp>
      <p:sp>
        <p:nvSpPr>
          <p:cNvPr id="22" name="TextBox 21"/>
          <p:cNvSpPr txBox="1"/>
          <p:nvPr/>
        </p:nvSpPr>
        <p:spPr>
          <a:xfrm>
            <a:off x="7388352" y="3986784"/>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brief and the checkpoints — you direct.</a:t>
            </a:r>
          </a:p>
        </p:txBody>
      </p:sp>
      <p:sp>
        <p:nvSpPr>
          <p:cNvPr id="23" name="TextBox 22"/>
          <p:cNvSpPr txBox="1"/>
          <p:nvPr/>
        </p:nvSpPr>
        <p:spPr>
          <a:xfrm>
            <a:off x="749808" y="4700016"/>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Multi-agent studio</a:t>
            </a:r>
          </a:p>
        </p:txBody>
      </p:sp>
      <p:sp>
        <p:nvSpPr>
          <p:cNvPr id="24" name="TextBox 23"/>
          <p:cNvSpPr txBox="1"/>
          <p:nvPr/>
        </p:nvSpPr>
        <p:spPr>
          <a:xfrm>
            <a:off x="2962656" y="4700016"/>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team of agents researches, writes, makes, reviews and schedules.</a:t>
            </a:r>
          </a:p>
        </p:txBody>
      </p:sp>
      <p:sp>
        <p:nvSpPr>
          <p:cNvPr id="25" name="TextBox 24"/>
          <p:cNvSpPr txBox="1"/>
          <p:nvPr/>
        </p:nvSpPr>
        <p:spPr>
          <a:xfrm>
            <a:off x="7388352" y="4700016"/>
            <a:ext cx="415137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roles, the gates and the final approval.</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This course walks the last three rows: one agent (T1), a video agent (T2), a multi-agent studio (T3).</a:t>
            </a:r>
          </a:p>
        </p:txBody>
      </p:sp>
    </p:spTree>
  </p:cSld>
  <p:clrMapOvr>
    <a:masterClrMapping/>
  </p:clrMapOvr>
  <p:transition spd="fast">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AGENTIC AI VS AI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the same building blocks.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Agentic AI — task-oriented</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Uses tool calling and skills to complete a task.</a:t>
            </a:r>
          </a:p>
        </p:txBody>
      </p:sp>
      <p:sp>
        <p:nvSpPr>
          <p:cNvPr id="13" name="Rectangle 12"/>
          <p:cNvSpPr/>
          <p:nvPr/>
        </p:nvSpPr>
        <p:spPr>
          <a:xfrm>
            <a:off x="804672" y="367588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Uses memory within the task (and often across sessions).</a:t>
            </a:r>
          </a:p>
        </p:txBody>
      </p:sp>
      <p:sp>
        <p:nvSpPr>
          <p:cNvPr id="15" name="Rectangle 14"/>
          <p:cNvSpPr/>
          <p:nvPr/>
        </p:nvSpPr>
        <p:spPr>
          <a:xfrm>
            <a:off x="804672" y="4343399"/>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Starts when you give it a task; stops when the task is done.</a:t>
            </a:r>
          </a:p>
        </p:txBody>
      </p:sp>
      <p:sp>
        <p:nvSpPr>
          <p:cNvPr id="17" name="Rectangle 16"/>
          <p:cNvSpPr/>
          <p:nvPr/>
        </p:nvSpPr>
        <p:spPr>
          <a:xfrm>
            <a:off x="804672" y="5010912"/>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Need not be on 24/7. Example: Flova making Episode 1 for you.</a:t>
            </a:r>
          </a:p>
        </p:txBody>
      </p:sp>
      <p:sp>
        <p:nvSpPr>
          <p:cNvPr id="19" name="Rounded Rectangle 18"/>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AI agents — always on</a:t>
            </a:r>
          </a:p>
        </p:txBody>
      </p:sp>
      <p:sp>
        <p:nvSpPr>
          <p:cNvPr id="22" name="Rectangle 21"/>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Also use tool calling and skills.</a:t>
            </a:r>
          </a:p>
        </p:txBody>
      </p:sp>
      <p:sp>
        <p:nvSpPr>
          <p:cNvPr id="24" name="Rectangle 23"/>
          <p:cNvSpPr/>
          <p:nvPr/>
        </p:nvSpPr>
        <p:spPr>
          <a:xfrm>
            <a:off x="6473951" y="367588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Also use memory — long-term, about you and your work.</a:t>
            </a:r>
          </a:p>
        </p:txBody>
      </p:sp>
      <p:sp>
        <p:nvSpPr>
          <p:cNvPr id="26" name="Rectangle 25"/>
          <p:cNvSpPr/>
          <p:nvPr/>
        </p:nvSpPr>
        <p:spPr>
          <a:xfrm>
            <a:off x="6473951" y="4343399"/>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7"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Run 24/7 on a computer or server; wake on schedules and messages.</a:t>
            </a:r>
          </a:p>
        </p:txBody>
      </p:sp>
      <p:sp>
        <p:nvSpPr>
          <p:cNvPr id="28" name="Rectangle 27"/>
          <p:cNvSpPr/>
          <p:nvPr/>
        </p:nvSpPr>
        <p:spPr>
          <a:xfrm>
            <a:off x="6473951" y="5010912"/>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7"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Example: Hermes Agent running the studio's weekly pipeline.</a:t>
            </a:r>
          </a:p>
        </p:txBody>
      </p:sp>
    </p:spTree>
  </p:cSld>
  <p:clrMapOvr>
    <a:masterClrMapping/>
  </p:clrMapOvr>
  <p:transition spd="fast">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AGENTIC AI VS AI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Side by Side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this table to decide what you need for a video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3183940" y="2203703"/>
            <a:ext cx="404073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a:t>
            </a:r>
          </a:p>
        </p:txBody>
      </p:sp>
      <p:sp>
        <p:nvSpPr>
          <p:cNvPr id="11" name="TextBox 10"/>
          <p:cNvSpPr txBox="1"/>
          <p:nvPr/>
        </p:nvSpPr>
        <p:spPr>
          <a:xfrm>
            <a:off x="7498994" y="2203703"/>
            <a:ext cx="404073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3183940" y="25603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generates images, video, voice, music.</a:t>
            </a:r>
          </a:p>
        </p:txBody>
      </p:sp>
      <p:sp>
        <p:nvSpPr>
          <p:cNvPr id="15" name="TextBox 14"/>
          <p:cNvSpPr txBox="1"/>
          <p:nvPr/>
        </p:nvSpPr>
        <p:spPr>
          <a:xfrm>
            <a:off x="7498994" y="25603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files, browser, terminal, other apps.</a:t>
            </a:r>
          </a:p>
        </p:txBody>
      </p:sp>
      <p:sp>
        <p:nvSpPr>
          <p:cNvPr id="16" name="TextBox 15"/>
          <p:cNvSpPr txBox="1"/>
          <p:nvPr/>
        </p:nvSpPr>
        <p:spPr>
          <a:xfrm>
            <a:off x="749808" y="30937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3183940" y="30937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reusable workflows (Flova Skills).</a:t>
            </a:r>
          </a:p>
        </p:txBody>
      </p:sp>
      <p:sp>
        <p:nvSpPr>
          <p:cNvPr id="18" name="TextBox 17"/>
          <p:cNvSpPr txBox="1"/>
          <p:nvPr/>
        </p:nvSpPr>
        <p:spPr>
          <a:xfrm>
            <a:off x="7498994" y="30937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SKILL.md folders it can create and improve.</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3183940" y="36271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project history, references, elements.</a:t>
            </a:r>
          </a:p>
        </p:txBody>
      </p:sp>
      <p:sp>
        <p:nvSpPr>
          <p:cNvPr id="22" name="TextBox 21"/>
          <p:cNvSpPr txBox="1"/>
          <p:nvPr/>
        </p:nvSpPr>
        <p:spPr>
          <a:xfrm>
            <a:off x="7498994" y="36271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long-term memory across every session.</a:t>
            </a:r>
          </a:p>
        </p:txBody>
      </p:sp>
      <p:sp>
        <p:nvSpPr>
          <p:cNvPr id="23" name="TextBox 22"/>
          <p:cNvSpPr txBox="1"/>
          <p:nvPr/>
        </p:nvSpPr>
        <p:spPr>
          <a:xfrm>
            <a:off x="749808" y="41605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3183940" y="41605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Task-oriented; may not be on 24/7.</a:t>
            </a:r>
          </a:p>
        </p:txBody>
      </p:sp>
      <p:sp>
        <p:nvSpPr>
          <p:cNvPr id="25" name="TextBox 24"/>
          <p:cNvSpPr txBox="1"/>
          <p:nvPr/>
        </p:nvSpPr>
        <p:spPr>
          <a:xfrm>
            <a:off x="7498994" y="41605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Always on, 24/7; reachable by chat apps.</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3183940" y="46939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498994" y="4693920"/>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(cron), a message or another agent.</a:t>
            </a:r>
          </a:p>
        </p:txBody>
      </p:sp>
      <p:sp>
        <p:nvSpPr>
          <p:cNvPr id="30" name="TextBox 29"/>
          <p:cNvSpPr txBox="1"/>
          <p:nvPr/>
        </p:nvSpPr>
        <p:spPr>
          <a:xfrm>
            <a:off x="749808" y="5227319"/>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3183940" y="5227319"/>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Topic 2 — the Flova video agent.</a:t>
            </a:r>
          </a:p>
        </p:txBody>
      </p:sp>
      <p:sp>
        <p:nvSpPr>
          <p:cNvPr id="32" name="TextBox 31"/>
          <p:cNvSpPr txBox="1"/>
          <p:nvPr/>
        </p:nvSpPr>
        <p:spPr>
          <a:xfrm>
            <a:off x="7498994" y="5227319"/>
            <a:ext cx="404073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Topic 3 — Hermes Agent and its team.</a:t>
            </a:r>
          </a:p>
        </p:txBody>
      </p:sp>
    </p:spTree>
  </p:cSld>
  <p:clrMapOvr>
    <a:masterClrMapping/>
  </p:clrMapOvr>
  <p:transition spd="fast">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ONE AI AGENT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Single AI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Start with one agent. A model on its own only answers; the parts around it let it act.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ONE AI AGENT  ·  MODEL + PARTS</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The model</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brain</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decides which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Who the agent is and the rules it follows — the studio brief, SOUL.md.</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it can take: generate an image, render video, search, read a file.</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"review a script for edits".</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your preferences, past episodes, the character bible.</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Context</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can see right now: attached files, the chat, the project state.</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Approvals, permissions and limits — what it must ask before doing.</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One agent is enough when the work is one line of thought. Add agents only when the work splits into different jobs.</a:t>
            </a:r>
          </a:p>
        </p:txBody>
      </p:sp>
    </p:spTree>
  </p:cSld>
  <p:clrMapOvr>
    <a:masterClrMapping/>
  </p:clrMapOvr>
  <p:transition spd="fast">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ONE AI AGENT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 chat, video or multi-agent — runs the same loop until the goal is met.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Goal</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 state the outcome: "a 60-second episode on emergency funds".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agent breaks it into steps: brief, script, storyboard, shots.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calls a tool or skill: write, generate, edit.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Observe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reads the result: a script, a frame, a cut.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Reflect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checks against the goal and your rules, then loops or stops for approval.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Give the goal and the rules, not micro-steps. Review at the points where a mistake is expensive.</a:t>
            </a:r>
          </a:p>
        </p:txBody>
      </p:sp>
    </p:spTree>
  </p:cSld>
  <p:clrMapOvr>
    <a:masterClrMapping/>
  </p:clrMapOvr>
  <p:transition spd="fast">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ONE AI AGENT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Tools, Skills and Memory in a Video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three things that turn a chatbot into a production assistant.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Tools — what it can do</a:t>
            </a:r>
          </a:p>
        </p:txBody>
      </p:sp>
      <p:sp>
        <p:nvSpPr>
          <p:cNvPr id="11" name="TextBox 10"/>
          <p:cNvSpPr txBox="1"/>
          <p:nvPr/>
        </p:nvSpPr>
        <p:spPr>
          <a:xfrm>
            <a:off x="786384"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Image models for characters and scenes, video models for motion, voice and music generation, captioning, the timeline editor, export.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755904"/>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Skills — how you want it done</a:t>
            </a:r>
          </a:p>
        </p:txBody>
      </p:sp>
      <p:sp>
        <p:nvSpPr>
          <p:cNvPr id="15" name="TextBox 14"/>
          <p:cNvSpPr txBox="1"/>
          <p:nvPr/>
        </p:nvSpPr>
        <p:spPr>
          <a:xfrm>
            <a:off x="4547615" y="3297936"/>
            <a:ext cx="3066287" cy="22616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A saved workflow: "Kopi &amp; Coins episode: 9:16, 60 s, warm light, captions on, disclaimer end card".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755904"/>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Memory — what it remembers</a:t>
            </a:r>
          </a:p>
        </p:txBody>
      </p:sp>
      <p:sp>
        <p:nvSpPr>
          <p:cNvPr id="19" name="TextBox 18"/>
          <p:cNvSpPr txBox="1"/>
          <p:nvPr/>
        </p:nvSpPr>
        <p:spPr>
          <a:xfrm>
            <a:off x="8308847" y="3297936"/>
            <a:ext cx="3066287" cy="22616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The character bible, the brand, the last episode's fixes, your feedback style. Next episode starts ahead.</a:t>
            </a:r>
          </a:p>
        </p:txBody>
      </p:sp>
    </p:spTree>
  </p:cSld>
  <p:clrMapOvr>
    <a:masterClrMapping/>
  </p:clrMapOvr>
  <p:transition spd="fast">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ONE AI AGENT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Agent for Which Job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Match the agent to the work. Bigger is not better.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183940" y="2203703"/>
            <a:ext cx="44833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BEST FOR</a:t>
            </a:r>
          </a:p>
        </p:txBody>
      </p:sp>
      <p:sp>
        <p:nvSpPr>
          <p:cNvPr id="11" name="TextBox 10"/>
          <p:cNvSpPr txBox="1"/>
          <p:nvPr/>
        </p:nvSpPr>
        <p:spPr>
          <a:xfrm>
            <a:off x="7941564" y="2203703"/>
            <a:ext cx="359816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 THIS COURSE</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 chat AI agent</a:t>
            </a:r>
          </a:p>
        </p:txBody>
      </p:sp>
      <p:sp>
        <p:nvSpPr>
          <p:cNvPr id="14" name="TextBox 13"/>
          <p:cNvSpPr txBox="1"/>
          <p:nvPr/>
        </p:nvSpPr>
        <p:spPr>
          <a:xfrm>
            <a:off x="3183940" y="2560320"/>
            <a:ext cx="448330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Thinking work: briefs, scripts, reviews, standards, plans.</a:t>
            </a:r>
          </a:p>
        </p:txBody>
      </p:sp>
      <p:sp>
        <p:nvSpPr>
          <p:cNvPr id="15" name="TextBox 14"/>
          <p:cNvSpPr txBox="1"/>
          <p:nvPr/>
        </p:nvSpPr>
        <p:spPr>
          <a:xfrm>
            <a:off x="7941564" y="2560320"/>
            <a:ext cx="359816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1-2 (ChatGPT, Claude or Gemini)</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 video agent</a:t>
            </a:r>
          </a:p>
        </p:txBody>
      </p:sp>
      <p:sp>
        <p:nvSpPr>
          <p:cNvPr id="17" name="TextBox 16"/>
          <p:cNvSpPr txBox="1"/>
          <p:nvPr/>
        </p:nvSpPr>
        <p:spPr>
          <a:xfrm>
            <a:off x="3183940" y="3273552"/>
            <a:ext cx="448330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Making the video: storyboard, generation, voice, music, timeline, export.</a:t>
            </a:r>
          </a:p>
        </p:txBody>
      </p:sp>
      <p:sp>
        <p:nvSpPr>
          <p:cNvPr id="18" name="TextBox 17"/>
          <p:cNvSpPr txBox="1"/>
          <p:nvPr/>
        </p:nvSpPr>
        <p:spPr>
          <a:xfrm>
            <a:off x="7941564" y="3273552"/>
            <a:ext cx="359816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3-4 (Flova)</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always-on agent</a:t>
            </a:r>
          </a:p>
        </p:txBody>
      </p:sp>
      <p:sp>
        <p:nvSpPr>
          <p:cNvPr id="21" name="TextBox 20"/>
          <p:cNvSpPr txBox="1"/>
          <p:nvPr/>
        </p:nvSpPr>
        <p:spPr>
          <a:xfrm>
            <a:off x="3183940" y="3986784"/>
            <a:ext cx="448330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Running a repeatable pipeline, connecting tools, checking compliance.</a:t>
            </a:r>
          </a:p>
        </p:txBody>
      </p:sp>
      <p:sp>
        <p:nvSpPr>
          <p:cNvPr id="22" name="TextBox 21"/>
          <p:cNvSpPr txBox="1"/>
          <p:nvPr/>
        </p:nvSpPr>
        <p:spPr>
          <a:xfrm>
            <a:off x="7941564" y="3986784"/>
            <a:ext cx="359816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5 (Hermes + Flova)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 multi-agent team</a:t>
            </a:r>
          </a:p>
        </p:txBody>
      </p:sp>
      <p:sp>
        <p:nvSpPr>
          <p:cNvPr id="24" name="TextBox 23"/>
          <p:cNvSpPr txBox="1"/>
          <p:nvPr/>
        </p:nvSpPr>
        <p:spPr>
          <a:xfrm>
            <a:off x="3183940" y="4700016"/>
            <a:ext cx="448330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Work with distinct roles, reviews and a human approval gate.</a:t>
            </a:r>
          </a:p>
        </p:txBody>
      </p:sp>
      <p:sp>
        <p:nvSpPr>
          <p:cNvPr id="25" name="TextBox 24"/>
          <p:cNvSpPr txBox="1"/>
          <p:nvPr/>
        </p:nvSpPr>
        <p:spPr>
          <a:xfrm>
            <a:off x="7941564" y="4700016"/>
            <a:ext cx="3598163"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6 (Hermes profiles + Kanban)</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one line of thought → one agent; several jobs with hand-offs → a team.</a:t>
            </a:r>
          </a:p>
        </p:txBody>
      </p:sp>
    </p:spTree>
  </p:cSld>
  <p:clrMapOvr>
    <a:masterClrMapping/>
  </p:clrMapOvr>
  <p:transition spd="fast">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Production Lifecycle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AI changes who does each stage — not the stages themselves.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Development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Idea, audience, message, creative brief.</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Pre-production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Script, storyboard, characters, references, standards, plan.</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Production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Shoot — or generate — the shots, voice and music.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Post-production</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Assemble, edit, sound, captions, colour, QC.</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Distribution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Compliance check, approval, export, publish, measure.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Most AI-video failures are pre-production failures: no brief, no storyboard, no character references.</a:t>
            </a:r>
          </a:p>
        </p:txBody>
      </p:sp>
    </p:spTree>
  </p:cSld>
  <p:clrMapOvr>
    <a:masterClrMapping/>
  </p:clrMapOvr>
  <p:transition spd="fast">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Creative Vision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decisions to make before anyone writes a line.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Logline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story in one sentence. "A young professional learns from her grandmother's biscuit tin why every payday starts with a rainy-day fund."</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Audience</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Who exactly, on which platform, watching how. Young working adults, on a phone, sound often off.</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message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What the viewer should remember. Pay your rainy-day fund first.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Tone and look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Warm, hopeful, slice-of-life; soft natural light; a Singapore HDB home.</a:t>
            </a:r>
          </a:p>
        </p:txBody>
      </p:sp>
    </p:spTree>
  </p:cSld>
  <p:clrMapOvr>
    <a:masterClrMapping/>
  </p:clrMapOvr>
  <p:transition spd="fast">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 Structure for 60 Seconds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Short-form still needs a beginning, middle and end — compressed.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Hook  0-5 s</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problem the viewer feels at once: the laptop dies, the bank balance is $312.</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Set-up  5-15 s</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Who and where: Rachel calls Ah Ma.</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Turn  15-30 s</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surprise: the tin is full of labelled envelopes.</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Choice  30-45 s</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character acts: three savings buckets on payday.</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Payoff  45-55 s</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months later, the next shock is calm.</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End card  55-60 s</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call to action and the disclaimer.</a:t>
            </a:r>
          </a:p>
        </p:txBody>
      </p:sp>
    </p:spTree>
  </p:cSld>
  <p:clrMapOvr>
    <a:masterClrMapping/>
  </p:clrMapOvr>
  <p:transition spd="fast">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Writing a Short-Form Script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script for the eye and the thumb, not the page.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Hook in 3 seconds</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Open on the problem, not the logo. If the first frame does not ask a question, viewers swipe.</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Show, then tell</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Let the picture carry the story; voice-over adds only what the picture cannot.</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Short lines</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About 2.5 spoken words a second — under 140 words for 60 seconds.</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On-screen text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rule the viewer must remember appears as text: "Rule 1: rainy day first."</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Sound cues</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Mark music changes and effects in the script; they carry emotion.</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call to action</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End with one thing to do, plus the disclaimer.</a:t>
            </a:r>
          </a:p>
        </p:txBody>
      </p:sp>
    </p:spTree>
  </p:cSld>
  <p:clrMapOvr>
    <a:masterClrMapping/>
  </p:clrMapOvr>
  <p:transition spd="fast">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storyboard turns the script into shots — the units an AI model actually generates.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shot, one action</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Each frame shows a single action. Two actions in one prompt is where AI video falls apart.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Shot details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Size, angle, movement, duration, characters, sound and on-screen text for every shot.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Continuity line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What must stay the same as the previous shot: clothes, props, light, direction.</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Cheap to change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Moving a sketch costs nothing; regenerating a shot costs credits and time.</a:t>
            </a:r>
          </a:p>
        </p:txBody>
      </p:sp>
    </p:spTree>
  </p:cSld>
  <p:clrMapOvr>
    <a:masterClrMapping/>
  </p:clrMapOvr>
  <p:transition spd="fast">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Shot Sizes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Choose the size by what the viewer needs to see — and feel.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SHOT</a:t>
            </a:r>
          </a:p>
        </p:txBody>
      </p:sp>
      <p:sp>
        <p:nvSpPr>
          <p:cNvPr id="10" name="TextBox 9"/>
          <p:cNvSpPr txBox="1"/>
          <p:nvPr/>
        </p:nvSpPr>
        <p:spPr>
          <a:xfrm>
            <a:off x="3183940"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SHOWS</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 FOR</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ECU — extreme close-up</a:t>
            </a:r>
          </a:p>
        </p:txBody>
      </p:sp>
      <p:sp>
        <p:nvSpPr>
          <p:cNvPr id="14" name="TextBox 13"/>
          <p:cNvSpPr txBox="1"/>
          <p:nvPr/>
        </p:nvSpPr>
        <p:spPr>
          <a:xfrm>
            <a:off x="3183940" y="25603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An eye, a hand, a phone screen.</a:t>
            </a:r>
          </a:p>
        </p:txBody>
      </p:sp>
      <p:sp>
        <p:nvSpPr>
          <p:cNvPr id="15" name="TextBox 14"/>
          <p:cNvSpPr txBox="1"/>
          <p:nvPr/>
        </p:nvSpPr>
        <p:spPr>
          <a:xfrm>
            <a:off x="7609636" y="25603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Detail and tension: the $1,400 repair quote.</a:t>
            </a:r>
          </a:p>
        </p:txBody>
      </p:sp>
      <p:sp>
        <p:nvSpPr>
          <p:cNvPr id="16" name="TextBox 15"/>
          <p:cNvSpPr txBox="1"/>
          <p:nvPr/>
        </p:nvSpPr>
        <p:spPr>
          <a:xfrm>
            <a:off x="749808" y="30937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 — close-up</a:t>
            </a:r>
          </a:p>
        </p:txBody>
      </p:sp>
      <p:sp>
        <p:nvSpPr>
          <p:cNvPr id="17" name="TextBox 16"/>
          <p:cNvSpPr txBox="1"/>
          <p:nvPr/>
        </p:nvSpPr>
        <p:spPr>
          <a:xfrm>
            <a:off x="3183940" y="30937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face fills the frame.</a:t>
            </a:r>
          </a:p>
        </p:txBody>
      </p:sp>
      <p:sp>
        <p:nvSpPr>
          <p:cNvPr id="18" name="TextBox 17"/>
          <p:cNvSpPr txBox="1"/>
          <p:nvPr/>
        </p:nvSpPr>
        <p:spPr>
          <a:xfrm>
            <a:off x="7609636" y="30937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Emotion: Rachel's reaction.</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MCU — medium close-up</a:t>
            </a:r>
          </a:p>
        </p:txBody>
      </p:sp>
      <p:sp>
        <p:nvSpPr>
          <p:cNvPr id="21" name="TextBox 20"/>
          <p:cNvSpPr txBox="1"/>
          <p:nvPr/>
        </p:nvSpPr>
        <p:spPr>
          <a:xfrm>
            <a:off x="3183940" y="36271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Head and shoulders.</a:t>
            </a:r>
          </a:p>
        </p:txBody>
      </p:sp>
      <p:sp>
        <p:nvSpPr>
          <p:cNvPr id="22" name="TextBox 21"/>
          <p:cNvSpPr txBox="1"/>
          <p:nvPr/>
        </p:nvSpPr>
        <p:spPr>
          <a:xfrm>
            <a:off x="7609636" y="36271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Dialogue and video calls.</a:t>
            </a:r>
          </a:p>
        </p:txBody>
      </p:sp>
      <p:sp>
        <p:nvSpPr>
          <p:cNvPr id="23" name="TextBox 22"/>
          <p:cNvSpPr txBox="1"/>
          <p:nvPr/>
        </p:nvSpPr>
        <p:spPr>
          <a:xfrm>
            <a:off x="749808" y="41605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MS — medium shot</a:t>
            </a:r>
          </a:p>
        </p:txBody>
      </p:sp>
      <p:sp>
        <p:nvSpPr>
          <p:cNvPr id="24" name="TextBox 23"/>
          <p:cNvSpPr txBox="1"/>
          <p:nvPr/>
        </p:nvSpPr>
        <p:spPr>
          <a:xfrm>
            <a:off x="3183940" y="41605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Waist up, some setting.</a:t>
            </a:r>
          </a:p>
        </p:txBody>
      </p:sp>
      <p:sp>
        <p:nvSpPr>
          <p:cNvPr id="25" name="TextBox 24"/>
          <p:cNvSpPr txBox="1"/>
          <p:nvPr/>
        </p:nvSpPr>
        <p:spPr>
          <a:xfrm>
            <a:off x="7609636" y="41605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Action with context: setting up the savings buckets.</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WS — wide shot</a:t>
            </a:r>
          </a:p>
        </p:txBody>
      </p:sp>
      <p:sp>
        <p:nvSpPr>
          <p:cNvPr id="28" name="TextBox 27"/>
          <p:cNvSpPr txBox="1"/>
          <p:nvPr/>
        </p:nvSpPr>
        <p:spPr>
          <a:xfrm>
            <a:off x="3183940" y="46939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whole person and the room.</a:t>
            </a:r>
          </a:p>
        </p:txBody>
      </p:sp>
      <p:sp>
        <p:nvSpPr>
          <p:cNvPr id="29" name="TextBox 28"/>
          <p:cNvSpPr txBox="1"/>
          <p:nvPr/>
        </p:nvSpPr>
        <p:spPr>
          <a:xfrm>
            <a:off x="7609636" y="46939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Place and time: six months later.</a:t>
            </a:r>
          </a:p>
        </p:txBody>
      </p:sp>
      <p:sp>
        <p:nvSpPr>
          <p:cNvPr id="30" name="TextBox 29"/>
          <p:cNvSpPr txBox="1"/>
          <p:nvPr/>
        </p:nvSpPr>
        <p:spPr>
          <a:xfrm>
            <a:off x="749808" y="5227319"/>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EWS — extreme wide</a:t>
            </a:r>
          </a:p>
        </p:txBody>
      </p:sp>
      <p:sp>
        <p:nvSpPr>
          <p:cNvPr id="31" name="TextBox 30"/>
          <p:cNvSpPr txBox="1"/>
          <p:nvPr/>
        </p:nvSpPr>
        <p:spPr>
          <a:xfrm>
            <a:off x="3183940" y="5227319"/>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building, a city skyline.</a:t>
            </a:r>
          </a:p>
        </p:txBody>
      </p:sp>
      <p:sp>
        <p:nvSpPr>
          <p:cNvPr id="32" name="TextBox 31"/>
          <p:cNvSpPr txBox="1"/>
          <p:nvPr/>
        </p:nvSpPr>
        <p:spPr>
          <a:xfrm>
            <a:off x="7609636" y="5227319"/>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Establishing shots and transitions.</a:t>
            </a:r>
          </a:p>
        </p:txBody>
      </p:sp>
    </p:spTree>
  </p:cSld>
  <p:clrMapOvr>
    <a:masterClrMapping/>
  </p:clrMapOvr>
  <p:transition spd="fast">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Camera Angles and Movement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Name them in every shot prompt — AI models follow camera language.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TERM</a:t>
            </a:r>
          </a:p>
        </p:txBody>
      </p:sp>
      <p:sp>
        <p:nvSpPr>
          <p:cNvPr id="10" name="TextBox 9"/>
          <p:cNvSpPr txBox="1"/>
          <p:nvPr/>
        </p:nvSpPr>
        <p:spPr>
          <a:xfrm>
            <a:off x="3405225"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DOES</a:t>
            </a:r>
          </a:p>
        </p:txBody>
      </p:sp>
      <p:sp>
        <p:nvSpPr>
          <p:cNvPr id="11" name="TextBox 10"/>
          <p:cNvSpPr txBox="1"/>
          <p:nvPr/>
        </p:nvSpPr>
        <p:spPr>
          <a:xfrm>
            <a:off x="7830921"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 IN EPISODE 1</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Eye level</a:t>
            </a:r>
          </a:p>
        </p:txBody>
      </p:sp>
      <p:sp>
        <p:nvSpPr>
          <p:cNvPr id="14" name="TextBox 13"/>
          <p:cNvSpPr txBox="1"/>
          <p:nvPr/>
        </p:nvSpPr>
        <p:spPr>
          <a:xfrm>
            <a:off x="3405225" y="25603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Neutral; the viewer is an equal.</a:t>
            </a:r>
          </a:p>
        </p:txBody>
      </p:sp>
      <p:sp>
        <p:nvSpPr>
          <p:cNvPr id="15" name="TextBox 14"/>
          <p:cNvSpPr txBox="1"/>
          <p:nvPr/>
        </p:nvSpPr>
        <p:spPr>
          <a:xfrm>
            <a:off x="7830921" y="25603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Most dialogue.</a:t>
            </a:r>
          </a:p>
        </p:txBody>
      </p:sp>
      <p:sp>
        <p:nvSpPr>
          <p:cNvPr id="16" name="TextBox 15"/>
          <p:cNvSpPr txBox="1"/>
          <p:nvPr/>
        </p:nvSpPr>
        <p:spPr>
          <a:xfrm>
            <a:off x="749808" y="30937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High / low angle</a:t>
            </a:r>
          </a:p>
        </p:txBody>
      </p:sp>
      <p:sp>
        <p:nvSpPr>
          <p:cNvPr id="17" name="TextBox 16"/>
          <p:cNvSpPr txBox="1"/>
          <p:nvPr/>
        </p:nvSpPr>
        <p:spPr>
          <a:xfrm>
            <a:off x="3405225" y="30937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Makes a subject smaller / stronger.</a:t>
            </a:r>
          </a:p>
        </p:txBody>
      </p:sp>
      <p:sp>
        <p:nvSpPr>
          <p:cNvPr id="18" name="TextBox 17"/>
          <p:cNvSpPr txBox="1"/>
          <p:nvPr/>
        </p:nvSpPr>
        <p:spPr>
          <a:xfrm>
            <a:off x="7830921" y="30937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 angle on Ah Ma holding the tin.</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Over-the-shoulder</a:t>
            </a:r>
          </a:p>
        </p:txBody>
      </p:sp>
      <p:sp>
        <p:nvSpPr>
          <p:cNvPr id="21" name="TextBox 20"/>
          <p:cNvSpPr txBox="1"/>
          <p:nvPr/>
        </p:nvSpPr>
        <p:spPr>
          <a:xfrm>
            <a:off x="3405225" y="36271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Puts us in the conversation.</a:t>
            </a:r>
          </a:p>
        </p:txBody>
      </p:sp>
      <p:sp>
        <p:nvSpPr>
          <p:cNvPr id="22" name="TextBox 21"/>
          <p:cNvSpPr txBox="1"/>
          <p:nvPr/>
        </p:nvSpPr>
        <p:spPr>
          <a:xfrm>
            <a:off x="7830921" y="36271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Rachel's phone screen during the call.</a:t>
            </a:r>
          </a:p>
        </p:txBody>
      </p:sp>
      <p:sp>
        <p:nvSpPr>
          <p:cNvPr id="23" name="TextBox 22"/>
          <p:cNvSpPr txBox="1"/>
          <p:nvPr/>
        </p:nvSpPr>
        <p:spPr>
          <a:xfrm>
            <a:off x="749808" y="41605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Static</a:t>
            </a:r>
          </a:p>
        </p:txBody>
      </p:sp>
      <p:sp>
        <p:nvSpPr>
          <p:cNvPr id="24" name="TextBox 23"/>
          <p:cNvSpPr txBox="1"/>
          <p:nvPr/>
        </p:nvSpPr>
        <p:spPr>
          <a:xfrm>
            <a:off x="3405225" y="41605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Calm, observational.</a:t>
            </a:r>
          </a:p>
        </p:txBody>
      </p:sp>
      <p:sp>
        <p:nvSpPr>
          <p:cNvPr id="25" name="TextBox 24"/>
          <p:cNvSpPr txBox="1"/>
          <p:nvPr/>
        </p:nvSpPr>
        <p:spPr>
          <a:xfrm>
            <a:off x="7830921" y="41605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end card.</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Push-in (dolly in)</a:t>
            </a:r>
          </a:p>
        </p:txBody>
      </p:sp>
      <p:sp>
        <p:nvSpPr>
          <p:cNvPr id="28" name="TextBox 27"/>
          <p:cNvSpPr txBox="1"/>
          <p:nvPr/>
        </p:nvSpPr>
        <p:spPr>
          <a:xfrm>
            <a:off x="3405225" y="46939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Builds focus or tension.</a:t>
            </a:r>
          </a:p>
        </p:txBody>
      </p:sp>
      <p:sp>
        <p:nvSpPr>
          <p:cNvPr id="29" name="TextBox 28"/>
          <p:cNvSpPr txBox="1"/>
          <p:nvPr/>
        </p:nvSpPr>
        <p:spPr>
          <a:xfrm>
            <a:off x="7830921" y="46939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Slowly onto the dead laptop.</a:t>
            </a:r>
          </a:p>
        </p:txBody>
      </p:sp>
      <p:sp>
        <p:nvSpPr>
          <p:cNvPr id="30" name="TextBox 29"/>
          <p:cNvSpPr txBox="1"/>
          <p:nvPr/>
        </p:nvSpPr>
        <p:spPr>
          <a:xfrm>
            <a:off x="749808" y="5227319"/>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Pan / tracking</a:t>
            </a:r>
          </a:p>
        </p:txBody>
      </p:sp>
      <p:sp>
        <p:nvSpPr>
          <p:cNvPr id="31" name="TextBox 30"/>
          <p:cNvSpPr txBox="1"/>
          <p:nvPr/>
        </p:nvSpPr>
        <p:spPr>
          <a:xfrm>
            <a:off x="3405225" y="5227319"/>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Follows action or reveals space.</a:t>
            </a:r>
          </a:p>
        </p:txBody>
      </p:sp>
      <p:sp>
        <p:nvSpPr>
          <p:cNvPr id="32" name="TextBox 31"/>
          <p:cNvSpPr txBox="1"/>
          <p:nvPr/>
        </p:nvSpPr>
        <p:spPr>
          <a:xfrm>
            <a:off x="7830921" y="5227319"/>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Following Rachel to the window.</a:t>
            </a:r>
          </a:p>
        </p:txBody>
      </p:sp>
    </p:spTree>
  </p:cSld>
  <p:clrMapOvr>
    <a:masterClrMapping/>
  </p:clrMapOvr>
  <p:transition spd="fast">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Characters and Consistency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Viewers forgive a cheap set; they do not forgive a face that changes.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Character bible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Identity, age, role in the story, how they move and speak — written once, reused for every episode.</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Five fixed traits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Face, hair, glasses, clothes, colours. Repeat them in every shot prompt.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Reference images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A front-view reference sheet per character. In Flova these become Elements.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Props are characters too</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blue tin needs the same colour, dent and labels every time.</a:t>
            </a:r>
          </a:p>
        </p:txBody>
      </p:sp>
    </p:spTree>
  </p:cSld>
  <p:clrMapOvr>
    <a:masterClrMapping/>
  </p:clrMapOvr>
  <p:transition spd="fast">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Composition for 9:16</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Vertical video has its own rules — and the platform's buttons sit on top of your frame.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Rule of thirds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Eyes on the upper third line; the subject on a third, not dead centre.</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Safe zones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Keep text out of the bottom ~20% and the right edge, where captions, likes and the caption bar sit.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Eyeline and 180-degree rule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In a two-person scene, keep both on their side of an imaginary line so they face each other.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Screen direction</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If Rachel walks left to right in one shot, she keeps going left to right in the next.</a:t>
            </a:r>
          </a:p>
        </p:txBody>
      </p:sp>
    </p:spTree>
  </p:cSld>
  <p:clrMapOvr>
    <a:masterClrMapping/>
  </p:clrMapOvr>
  <p:transition spd="fast">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VIDEO PRINCIPLES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Sound and Captions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Half the emotion is in the sound; most viewers start with it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Voice-over and dialogue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Clear, close, never buried under music.</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Music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Sets the feeling; ducks under the voice; must be licensed or generated with rights.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Sound effects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laptop click, the tin lid — small sounds sell the moment.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Captions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Always on for short-form; accurate, in sync, two lines at most, inside the safe zone.</a:t>
            </a:r>
          </a:p>
        </p:txBody>
      </p:sp>
    </p:spTree>
  </p:cSld>
  <p:clrMapOvr>
    <a:masterClrMapping/>
  </p:clrMapOvr>
  <p:transition spd="fast">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QUALITY ISSUES (K1)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Types of Quality Issues in Video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Know what can go wrong so you can design it out — and spot it in review.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82788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TYPE</a:t>
            </a:r>
          </a:p>
        </p:txBody>
      </p:sp>
      <p:sp>
        <p:nvSpPr>
          <p:cNvPr id="10" name="TextBox 9"/>
          <p:cNvSpPr txBox="1"/>
          <p:nvPr/>
        </p:nvSpPr>
        <p:spPr>
          <a:xfrm>
            <a:off x="2852013" y="2203703"/>
            <a:ext cx="492587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EXAMPLES</a:t>
            </a:r>
          </a:p>
        </p:txBody>
      </p:sp>
      <p:sp>
        <p:nvSpPr>
          <p:cNvPr id="11" name="TextBox 10"/>
          <p:cNvSpPr txBox="1"/>
          <p:nvPr/>
        </p:nvSpPr>
        <p:spPr>
          <a:xfrm>
            <a:off x="805220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HOW YOU NOTICE</a:t>
            </a:r>
          </a:p>
        </p:txBody>
      </p:sp>
      <p:sp>
        <p:nvSpPr>
          <p:cNvPr id="12" name="Rectangle 11"/>
          <p:cNvSpPr/>
          <p:nvPr/>
        </p:nvSpPr>
        <p:spPr>
          <a:xfrm>
            <a:off x="548640" y="256032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827885"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Technical — picture</a:t>
            </a:r>
          </a:p>
        </p:txBody>
      </p:sp>
      <p:sp>
        <p:nvSpPr>
          <p:cNvPr id="14" name="TextBox 13"/>
          <p:cNvSpPr txBox="1"/>
          <p:nvPr/>
        </p:nvSpPr>
        <p:spPr>
          <a:xfrm>
            <a:off x="2852013" y="2560320"/>
            <a:ext cx="492587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 resolution, blur, flicker, compression blocks, wrong aspect ratio, black frames.</a:t>
            </a:r>
          </a:p>
        </p:txBody>
      </p:sp>
      <p:sp>
        <p:nvSpPr>
          <p:cNvPr id="15" name="TextBox 14"/>
          <p:cNvSpPr txBox="1"/>
          <p:nvPr/>
        </p:nvSpPr>
        <p:spPr>
          <a:xfrm>
            <a:off x="8052206" y="256032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Full-screen playback on the target device; check export settings.</a:t>
            </a:r>
          </a:p>
        </p:txBody>
      </p:sp>
      <p:sp>
        <p:nvSpPr>
          <p:cNvPr id="16" name="TextBox 15"/>
          <p:cNvSpPr txBox="1"/>
          <p:nvPr/>
        </p:nvSpPr>
        <p:spPr>
          <a:xfrm>
            <a:off x="749808" y="3200400"/>
            <a:ext cx="1827885"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Technical — sound</a:t>
            </a:r>
          </a:p>
        </p:txBody>
      </p:sp>
      <p:sp>
        <p:nvSpPr>
          <p:cNvPr id="17" name="TextBox 16"/>
          <p:cNvSpPr txBox="1"/>
          <p:nvPr/>
        </p:nvSpPr>
        <p:spPr>
          <a:xfrm>
            <a:off x="2852013" y="3200400"/>
            <a:ext cx="492587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Clipping, noise, music over voice, uneven loudness, out-of-sync audio.</a:t>
            </a:r>
          </a:p>
        </p:txBody>
      </p:sp>
      <p:sp>
        <p:nvSpPr>
          <p:cNvPr id="18" name="TextBox 17"/>
          <p:cNvSpPr txBox="1"/>
          <p:nvPr/>
        </p:nvSpPr>
        <p:spPr>
          <a:xfrm>
            <a:off x="8052206" y="320040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Headphones; a loudness meter.</a:t>
            </a:r>
          </a:p>
        </p:txBody>
      </p:sp>
      <p:sp>
        <p:nvSpPr>
          <p:cNvPr id="19" name="Rectangle 18"/>
          <p:cNvSpPr/>
          <p:nvPr/>
        </p:nvSpPr>
        <p:spPr>
          <a:xfrm>
            <a:off x="548640" y="384048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40480"/>
            <a:ext cx="1827885"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AI generation</a:t>
            </a:r>
          </a:p>
        </p:txBody>
      </p:sp>
      <p:sp>
        <p:nvSpPr>
          <p:cNvPr id="21" name="TextBox 20"/>
          <p:cNvSpPr txBox="1"/>
          <p:nvPr/>
        </p:nvSpPr>
        <p:spPr>
          <a:xfrm>
            <a:off x="2852013" y="3840480"/>
            <a:ext cx="492587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Face drift, extra fingers, warped objects, garbled text, impossible physics, uncanny lip-sync.</a:t>
            </a:r>
          </a:p>
        </p:txBody>
      </p:sp>
      <p:sp>
        <p:nvSpPr>
          <p:cNvPr id="22" name="TextBox 21"/>
          <p:cNvSpPr txBox="1"/>
          <p:nvPr/>
        </p:nvSpPr>
        <p:spPr>
          <a:xfrm>
            <a:off x="8052206" y="384048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Frame-by-frame checks against references.</a:t>
            </a:r>
          </a:p>
        </p:txBody>
      </p:sp>
      <p:sp>
        <p:nvSpPr>
          <p:cNvPr id="23" name="TextBox 22"/>
          <p:cNvSpPr txBox="1"/>
          <p:nvPr/>
        </p:nvSpPr>
        <p:spPr>
          <a:xfrm>
            <a:off x="749808" y="4480560"/>
            <a:ext cx="1827885"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Story and continuity</a:t>
            </a:r>
          </a:p>
        </p:txBody>
      </p:sp>
      <p:sp>
        <p:nvSpPr>
          <p:cNvPr id="24" name="TextBox 23"/>
          <p:cNvSpPr txBox="1"/>
          <p:nvPr/>
        </p:nvSpPr>
        <p:spPr>
          <a:xfrm>
            <a:off x="2852013" y="4480560"/>
            <a:ext cx="492587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Weak hook, unclear message, slow pacing, props or clothes that change, jump cuts.</a:t>
            </a:r>
          </a:p>
        </p:txBody>
      </p:sp>
      <p:sp>
        <p:nvSpPr>
          <p:cNvPr id="25" name="TextBox 24"/>
          <p:cNvSpPr txBox="1"/>
          <p:nvPr/>
        </p:nvSpPr>
        <p:spPr>
          <a:xfrm>
            <a:off x="8052206" y="448056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Watch as a viewer; compare adjacent shots.</a:t>
            </a:r>
          </a:p>
        </p:txBody>
      </p:sp>
      <p:sp>
        <p:nvSpPr>
          <p:cNvPr id="26" name="Rectangle 25"/>
          <p:cNvSpPr/>
          <p:nvPr/>
        </p:nvSpPr>
        <p:spPr>
          <a:xfrm>
            <a:off x="548640" y="512064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120640"/>
            <a:ext cx="1827885"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Compliance</a:t>
            </a:r>
          </a:p>
        </p:txBody>
      </p:sp>
      <p:sp>
        <p:nvSpPr>
          <p:cNvPr id="28" name="TextBox 27"/>
          <p:cNvSpPr txBox="1"/>
          <p:nvPr/>
        </p:nvSpPr>
        <p:spPr>
          <a:xfrm>
            <a:off x="2852013" y="5120640"/>
            <a:ext cx="492587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Unlicensed music, missing disclaimer, misleading claims, personal data, unlabelled AI content.</a:t>
            </a:r>
          </a:p>
        </p:txBody>
      </p:sp>
      <p:sp>
        <p:nvSpPr>
          <p:cNvPr id="29" name="TextBox 28"/>
          <p:cNvSpPr txBox="1"/>
          <p:nvPr/>
        </p:nvSpPr>
        <p:spPr>
          <a:xfrm>
            <a:off x="8052206" y="512064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Check against standards and a checklist.</a:t>
            </a:r>
          </a:p>
        </p:txBody>
      </p:sp>
    </p:spTree>
  </p:cSld>
  <p:clrMapOvr>
    <a:masterClrMapping/>
  </p:clrMapOvr>
  <p:transition spd="fast">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QUALITY ISSUES (K1)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Quality Issues Typical of AI Video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Generative video fails in recognisable ways. Name them so you can prompt against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Identity drift</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face, hair or glasses change between shots.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Anatomy and objects</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Extra fingers, melting hands, a phone that bends.</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Garbled text</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Signs, screens and labels become nonsense letters.</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Physics and motion</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Objects pass through each other; walking slides; flicker between frames.</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Lip-sync and voice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Mouths out of time; voice that does not fit the character.</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Style drift</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Lighting, colour or art style changes mid-episode.</a:t>
            </a:r>
          </a:p>
        </p:txBody>
      </p:sp>
    </p:spTree>
  </p:cSld>
  <p:clrMapOvr>
    <a:masterClrMapping/>
  </p:clrMapOvr>
  <p:transition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SCRIPT REVIEW (A1)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Edit Types and When to Use Them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Reviewing a script means deciding which edits will deliver the creative vision.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EDIT</a:t>
            </a:r>
          </a:p>
        </p:txBody>
      </p:sp>
      <p:sp>
        <p:nvSpPr>
          <p:cNvPr id="10" name="TextBox 9"/>
          <p:cNvSpPr txBox="1"/>
          <p:nvPr/>
        </p:nvSpPr>
        <p:spPr>
          <a:xfrm>
            <a:off x="296265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DOES</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EPISODE 1 EXAMPLE</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Cut / jump cut</a:t>
            </a:r>
          </a:p>
        </p:txBody>
      </p:sp>
      <p:sp>
        <p:nvSpPr>
          <p:cNvPr id="14" name="TextBox 13"/>
          <p:cNvSpPr txBox="1"/>
          <p:nvPr/>
        </p:nvSpPr>
        <p:spPr>
          <a:xfrm>
            <a:off x="2962656" y="2560320"/>
            <a:ext cx="437266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Moves on instantly; a jump cut compresses time.</a:t>
            </a:r>
          </a:p>
        </p:txBody>
      </p:sp>
      <p:sp>
        <p:nvSpPr>
          <p:cNvPr id="15" name="TextBox 14"/>
          <p:cNvSpPr txBox="1"/>
          <p:nvPr/>
        </p:nvSpPr>
        <p:spPr>
          <a:xfrm>
            <a:off x="7609636" y="25603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Laptop dies → bank balance.</a:t>
            </a:r>
          </a:p>
        </p:txBody>
      </p:sp>
      <p:sp>
        <p:nvSpPr>
          <p:cNvPr id="16" name="TextBox 15"/>
          <p:cNvSpPr txBox="1"/>
          <p:nvPr/>
        </p:nvSpPr>
        <p:spPr>
          <a:xfrm>
            <a:off x="749808" y="30937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Cutaway / B-roll</a:t>
            </a:r>
          </a:p>
        </p:txBody>
      </p:sp>
      <p:sp>
        <p:nvSpPr>
          <p:cNvPr id="17" name="TextBox 16"/>
          <p:cNvSpPr txBox="1"/>
          <p:nvPr/>
        </p:nvSpPr>
        <p:spPr>
          <a:xfrm>
            <a:off x="2962656" y="3093720"/>
            <a:ext cx="437266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Shows detail that supports the voice.</a:t>
            </a:r>
          </a:p>
        </p:txBody>
      </p:sp>
      <p:sp>
        <p:nvSpPr>
          <p:cNvPr id="18" name="TextBox 17"/>
          <p:cNvSpPr txBox="1"/>
          <p:nvPr/>
        </p:nvSpPr>
        <p:spPr>
          <a:xfrm>
            <a:off x="7609636" y="30937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labelled envelopes inside the tin.</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Match cut</a:t>
            </a:r>
          </a:p>
        </p:txBody>
      </p:sp>
      <p:sp>
        <p:nvSpPr>
          <p:cNvPr id="21" name="TextBox 20"/>
          <p:cNvSpPr txBox="1"/>
          <p:nvPr/>
        </p:nvSpPr>
        <p:spPr>
          <a:xfrm>
            <a:off x="2962656" y="3627120"/>
            <a:ext cx="437266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Links two shots by shape or action.</a:t>
            </a:r>
          </a:p>
        </p:txBody>
      </p:sp>
      <p:sp>
        <p:nvSpPr>
          <p:cNvPr id="22" name="TextBox 21"/>
          <p:cNvSpPr txBox="1"/>
          <p:nvPr/>
        </p:nvSpPr>
        <p:spPr>
          <a:xfrm>
            <a:off x="7609636" y="36271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tin lid closing → the banking app opening.</a:t>
            </a:r>
          </a:p>
        </p:txBody>
      </p:sp>
      <p:sp>
        <p:nvSpPr>
          <p:cNvPr id="23" name="TextBox 22"/>
          <p:cNvSpPr txBox="1"/>
          <p:nvPr/>
        </p:nvSpPr>
        <p:spPr>
          <a:xfrm>
            <a:off x="749808" y="41605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Montage</a:t>
            </a:r>
          </a:p>
        </p:txBody>
      </p:sp>
      <p:sp>
        <p:nvSpPr>
          <p:cNvPr id="24" name="TextBox 23"/>
          <p:cNvSpPr txBox="1"/>
          <p:nvPr/>
        </p:nvSpPr>
        <p:spPr>
          <a:xfrm>
            <a:off x="2962656" y="4160520"/>
            <a:ext cx="437266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Compresses time in a rhythm of short shots.</a:t>
            </a:r>
          </a:p>
        </p:txBody>
      </p:sp>
      <p:sp>
        <p:nvSpPr>
          <p:cNvPr id="25" name="TextBox 24"/>
          <p:cNvSpPr txBox="1"/>
          <p:nvPr/>
        </p:nvSpPr>
        <p:spPr>
          <a:xfrm>
            <a:off x="7609636" y="41605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Three paydays in three seconds.</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J-cut / L-cut</a:t>
            </a:r>
          </a:p>
        </p:txBody>
      </p:sp>
      <p:sp>
        <p:nvSpPr>
          <p:cNvPr id="28" name="TextBox 27"/>
          <p:cNvSpPr txBox="1"/>
          <p:nvPr/>
        </p:nvSpPr>
        <p:spPr>
          <a:xfrm>
            <a:off x="2962656" y="4693920"/>
            <a:ext cx="437266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Sound leads or trails the picture.</a:t>
            </a:r>
          </a:p>
        </p:txBody>
      </p:sp>
      <p:sp>
        <p:nvSpPr>
          <p:cNvPr id="29" name="TextBox 28"/>
          <p:cNvSpPr txBox="1"/>
          <p:nvPr/>
        </p:nvSpPr>
        <p:spPr>
          <a:xfrm>
            <a:off x="7609636" y="46939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Ah Ma's voice starts before we see her.</a:t>
            </a:r>
          </a:p>
        </p:txBody>
      </p:sp>
      <p:sp>
        <p:nvSpPr>
          <p:cNvPr id="30" name="TextBox 29"/>
          <p:cNvSpPr txBox="1"/>
          <p:nvPr/>
        </p:nvSpPr>
        <p:spPr>
          <a:xfrm>
            <a:off x="749808" y="5227319"/>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Text overlay</a:t>
            </a:r>
          </a:p>
        </p:txBody>
      </p:sp>
      <p:sp>
        <p:nvSpPr>
          <p:cNvPr id="31" name="TextBox 30"/>
          <p:cNvSpPr txBox="1"/>
          <p:nvPr/>
        </p:nvSpPr>
        <p:spPr>
          <a:xfrm>
            <a:off x="2962656" y="5227319"/>
            <a:ext cx="437266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Puts the key idea on screen.</a:t>
            </a:r>
          </a:p>
        </p:txBody>
      </p:sp>
      <p:sp>
        <p:nvSpPr>
          <p:cNvPr id="32" name="TextBox 31"/>
          <p:cNvSpPr txBox="1"/>
          <p:nvPr/>
        </p:nvSpPr>
        <p:spPr>
          <a:xfrm>
            <a:off x="7609636" y="5227319"/>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"Rule 1: rainy day first."</a:t>
            </a:r>
          </a:p>
        </p:txBody>
      </p:sp>
    </p:spTree>
  </p:cSld>
  <p:clrMapOvr>
    <a:masterClrMapping/>
  </p:clrMapOvr>
  <p:transition spd="fast">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SCRIPT REVIEW (A1)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Reviewing a Script for Edits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procedure you can run on any script — with or without an agent.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Oval 7"/>
          <p:cNvSpPr/>
          <p:nvPr/>
        </p:nvSpPr>
        <p:spPr>
          <a:xfrm>
            <a:off x="640080" y="2139696"/>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9" name="TextBox 8"/>
          <p:cNvSpPr txBox="1"/>
          <p:nvPr/>
        </p:nvSpPr>
        <p:spPr>
          <a:xfrm>
            <a:off x="1261872" y="2084831"/>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Find the vision  </a:t>
            </a:r>
            <a:r>
              <a:rPr sz="1450">
                <a:solidFill>
                  <a:srgbClr val="6B6862"/>
                </a:solidFill>
                <a:latin typeface="Calibri"/>
              </a:rPr>
              <a:t>Re-read the brief: audience, one message, tone.</a:t>
            </a:r>
          </a:p>
        </p:txBody>
      </p:sp>
      <p:sp>
        <p:nvSpPr>
          <p:cNvPr id="10" name="Oval 9"/>
          <p:cNvSpPr/>
          <p:nvPr/>
        </p:nvSpPr>
        <p:spPr>
          <a:xfrm>
            <a:off x="640080" y="2743200"/>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11" name="TextBox 10"/>
          <p:cNvSpPr txBox="1"/>
          <p:nvPr/>
        </p:nvSpPr>
        <p:spPr>
          <a:xfrm>
            <a:off x="1261872" y="2688336"/>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Mark the beats  </a:t>
            </a:r>
            <a:r>
              <a:rPr sz="1450">
                <a:solidFill>
                  <a:srgbClr val="6B6862"/>
                </a:solidFill>
                <a:latin typeface="Calibri"/>
              </a:rPr>
              <a:t>Split the script into hook, set-up, turn, choice, payoff, end card.</a:t>
            </a:r>
          </a:p>
        </p:txBody>
      </p:sp>
      <p:sp>
        <p:nvSpPr>
          <p:cNvPr id="12" name="Oval 11"/>
          <p:cNvSpPr/>
          <p:nvPr/>
        </p:nvSpPr>
        <p:spPr>
          <a:xfrm>
            <a:off x="640080" y="3346703"/>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3" name="TextBox 12"/>
          <p:cNvSpPr txBox="1"/>
          <p:nvPr/>
        </p:nvSpPr>
        <p:spPr>
          <a:xfrm>
            <a:off x="1261872" y="3291839"/>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Name the feeling  </a:t>
            </a:r>
            <a:r>
              <a:rPr sz="1450">
                <a:solidFill>
                  <a:srgbClr val="6B6862"/>
                </a:solidFill>
                <a:latin typeface="Calibri"/>
              </a:rPr>
              <a:t>For each beat, what should the viewer feel?</a:t>
            </a:r>
          </a:p>
        </p:txBody>
      </p:sp>
      <p:sp>
        <p:nvSpPr>
          <p:cNvPr id="14" name="Oval 13"/>
          <p:cNvSpPr/>
          <p:nvPr/>
        </p:nvSpPr>
        <p:spPr>
          <a:xfrm>
            <a:off x="640080" y="3950207"/>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5" name="TextBox 14"/>
          <p:cNvSpPr txBox="1"/>
          <p:nvPr/>
        </p:nvSpPr>
        <p:spPr>
          <a:xfrm>
            <a:off x="1261872" y="3895344"/>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Choose the edits  </a:t>
            </a:r>
            <a:r>
              <a:rPr sz="1450">
                <a:solidFill>
                  <a:srgbClr val="6B6862"/>
                </a:solidFill>
                <a:latin typeface="Calibri"/>
              </a:rPr>
              <a:t>Pick the edit types that create that feeling (cut, match cut, montage, J/L-cut, text).</a:t>
            </a:r>
          </a:p>
        </p:txBody>
      </p:sp>
      <p:sp>
        <p:nvSpPr>
          <p:cNvPr id="16" name="Oval 15"/>
          <p:cNvSpPr/>
          <p:nvPr/>
        </p:nvSpPr>
        <p:spPr>
          <a:xfrm>
            <a:off x="640080" y="4553712"/>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7" name="TextBox 16"/>
          <p:cNvSpPr txBox="1"/>
          <p:nvPr/>
        </p:nvSpPr>
        <p:spPr>
          <a:xfrm>
            <a:off x="1261872" y="4498848"/>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Flag the risks  </a:t>
            </a:r>
            <a:r>
              <a:rPr sz="1450">
                <a:solidFill>
                  <a:srgbClr val="6B6862"/>
                </a:solidFill>
                <a:latin typeface="Calibri"/>
              </a:rPr>
              <a:t>Note the quality issues each scene invites.</a:t>
            </a:r>
          </a:p>
        </p:txBody>
      </p:sp>
      <p:sp>
        <p:nvSpPr>
          <p:cNvPr id="18" name="Oval 17"/>
          <p:cNvSpPr/>
          <p:nvPr/>
        </p:nvSpPr>
        <p:spPr>
          <a:xfrm>
            <a:off x="640080" y="5157216"/>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6</a:t>
            </a:r>
          </a:p>
        </p:txBody>
      </p:sp>
      <p:sp>
        <p:nvSpPr>
          <p:cNvPr id="19" name="TextBox 18"/>
          <p:cNvSpPr txBox="1"/>
          <p:nvPr/>
        </p:nvSpPr>
        <p:spPr>
          <a:xfrm>
            <a:off x="1261872" y="5102352"/>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Decide  </a:t>
            </a:r>
            <a:r>
              <a:rPr sz="1450">
                <a:solidFill>
                  <a:srgbClr val="6B6862"/>
                </a:solidFill>
                <a:latin typeface="Calibri"/>
              </a:rPr>
              <a:t>Accept, change or reject — and record why.</a:t>
            </a:r>
          </a:p>
        </p:txBody>
      </p:sp>
      <p:sp>
        <p:nvSpPr>
          <p:cNvPr id="20" name="Rounded Rectangle 1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agent can draft the review; the producer owns the decisions.</a:t>
            </a:r>
          </a:p>
        </p:txBody>
      </p:sp>
    </p:spTree>
  </p:cSld>
  <p:clrMapOvr>
    <a:masterClrMapping/>
  </p:clrMapOvr>
  <p:transition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the Story with a Single AI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Priya wants Episode 1, The Rainy-Day Tin, live in two weeks. Before anyone spends a credit on video, the story has to work on paper — and you need to know which edits and which quality risks each scene will bring.</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creative-brief.md, script-v1.md and script-review.md for Episode 1</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(or Claude / Gemini) — one AI agent</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Creative brief · 60-second script · script review for edits · quality-issue forecast   ·   K1, A1</a:t>
            </a:r>
          </a:p>
        </p:txBody>
      </p:sp>
    </p:spTree>
  </p:cSld>
  <p:clrMapOvr>
    <a:masterClrMapping/>
  </p:clrMapOvr>
  <p:transition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the Story with a Single AI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ChatGPT (or Claude / Gemini) — one AI agent  ·  the full step-by-step, with the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Open one agent  </a:t>
            </a:r>
            <a:r>
              <a:rPr sz="1300">
                <a:solidFill>
                  <a:srgbClr val="6B6862"/>
                </a:solidFill>
                <a:latin typeface="Calibri"/>
              </a:rPr>
              <a:t>Start a new chat in ChatGPT (or Claude or Gemini). Attach studio-brief.md and episode-01-idea.md.</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first  </a:t>
            </a:r>
            <a:r>
              <a:rPr sz="1300">
                <a:solidFill>
                  <a:srgbClr val="6B6862"/>
                </a:solidFill>
                <a:latin typeface="Calibri"/>
              </a:rPr>
              <a:t>Paste Prompt A. Read the brief and correct anything that does not match the studio rules.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script  </a:t>
            </a:r>
            <a:r>
              <a:rPr sz="1300">
                <a:solidFill>
                  <a:srgbClr val="6B6862"/>
                </a:solidFill>
                <a:latin typeface="Calibri"/>
              </a:rPr>
              <a:t>Paste Prompt B: six timed scenes, voice-over, on-screen text and sound for 60 seconds.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Review for edits  </a:t>
            </a:r>
            <a:r>
              <a:rPr sz="1300">
                <a:solidFill>
                  <a:srgbClr val="6B6862"/>
                </a:solidFill>
                <a:latin typeface="Calibri"/>
              </a:rPr>
              <a:t>Paste Prompt C. For every scene the agent names the edit types it needs and why.</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Forecast quality issues  </a:t>
            </a:r>
            <a:r>
              <a:rPr sz="1300">
                <a:solidFill>
                  <a:srgbClr val="6B6862"/>
                </a:solidFill>
                <a:latin typeface="Calibri"/>
              </a:rPr>
              <a:t>Paste Prompt D: the quality issues most likely in each scene and how to prevent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the producer  </a:t>
            </a:r>
            <a:r>
              <a:rPr sz="1300">
                <a:solidFill>
                  <a:srgbClr val="6B6862"/>
                </a:solidFill>
                <a:latin typeface="Calibri"/>
              </a:rPr>
              <a:t>Accept or reject at least two of the agent's suggestions. Save the three files in a folder kopi-ep01.</a:t>
            </a:r>
          </a:p>
        </p:txBody>
      </p:sp>
    </p:spTree>
  </p:cSld>
  <p:clrMapOvr>
    <a:masterClrMapping/>
  </p:clrMapOvr>
  <p:transition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the Story with a Single AI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creative brief</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a video producer for Kopi &amp; Coins. Read the two attached files.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Write a one-page creative brief for Episode 1, "The Rainy-Day Tin", as Markdown with these headings: audience, the one message, platform and format (9:16, 60 seconds), tone, story logline, characters, call to action, must include, must avoid.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Rules: general money education only. No product names, no promised returns, no numbers we cannot source. Ask me up to three questions before you write if anything is unclear.</a:t>
            </a:r>
          </a:p>
        </p:txBody>
      </p:sp>
    </p:spTree>
  </p:cSld>
  <p:clrMapOvr>
    <a:masterClrMapping/>
  </p:clrMapOvr>
  <p:transition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the Story with a Single AI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the 60-second script</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approved brief, write the script for Episode 1.</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Six scenes, timed to exactly 60 seconds:</a:t>
            </a:r>
          </a:p>
          <a:p>
            <a:pPr>
              <a:lnSpc>
                <a:spcPct val="110000"/>
              </a:lnSpc>
              <a:defRPr sz="1700" b="0">
                <a:solidFill>
                  <a:srgbClr val="21201C"/>
                </a:solidFill>
                <a:latin typeface="Calibri"/>
              </a:defRPr>
            </a:pPr>
            <a:r>
              <a:t>hook (0-5s), set-up, turn, choice, payoff, end card (55-60s).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For each scene give: time range, what we SEE, voice-over or dialogue, on-screen text, and sound (music cue or effect). Keep spoken lines short — under 140 words in total. End card: "Start your rainy-day tin this payday." plus the disclaimer from the studio brief.</a:t>
            </a:r>
          </a:p>
        </p:txBody>
      </p:sp>
    </p:spTree>
  </p:cSld>
  <p:clrMapOvr>
    <a:masterClrMapping/>
  </p:clrMapOvr>
  <p:transition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the Story with a Single AI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script review for edits</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Review script-v1 as a video editor before production.</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Make a table, one row per scene: scene, what the scene must make the viewer feel, the edit types it needs (for example cut, cutaway or B-roll, match cut, montage, J or L cut, text overlay, speed ramp, transition, music cue), and why each edit serves the story.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Then list two scenes where a different edit would be stronger, and say what you would change.</a:t>
            </a:r>
          </a:p>
        </p:txBody>
      </p:sp>
    </p:spTree>
  </p:cSld>
  <p:clrMapOvr>
    <a:masterClrMapping/>
  </p:clrMapOvr>
  <p:transition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the Story with a Single AI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quality-issue forecast</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the same six scenes, forecast the quality issues we are most likely to meet when an AI video agent makes this episode.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Group them as: technical (picture and sound), AI generation (for example face drift, extra fingers, garbled text), story and continuity, and compliance (music rights, disclaimer, misleading money claims).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For each issue give the scene, how we would notice it, and one way to prevent it in the prompt or the edit.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The cheapest place to fix a video is the script. Every edit you decide now is a regeneration you will not pay for later.</a:t>
            </a:r>
          </a:p>
        </p:txBody>
      </p:sp>
    </p:spTree>
  </p:cSld>
  <p:clrMapOvr>
    <a:masterClrMapping/>
  </p:clrMapOvr>
  <p:transition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the Story with a Single AI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brief names one audience, one message and the must-avoid rules.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script has six scenes that add up to exactly 60 seconds.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end card carries the call to action and the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script-review.md lists the edit types for every scene, with a reason for each.</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quality forecast covers all four groups of issues.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accepted or rejected at least two suggestions and wrote why.</a:t>
            </a:r>
          </a:p>
        </p:txBody>
      </p:sp>
    </p:spTree>
  </p:cSld>
  <p:clrMapOvr>
    <a:masterClrMapping/>
  </p:clrMapOvr>
  <p:transition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STANDARDS (A2)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Editing Standards and Guidelines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written rules every episode — and every agent — must meet before publishing.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Brand</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Colours, fonts, logo position, the end card.</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Story</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Hook in 3 seconds, one message, pacing limits.</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Captions</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Always on, accurate, two lines max, in the safe zone.</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Audio</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Voice clarity, music under voice, loudness target.</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Legal</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Rights, personal data, money messaging, AI labelling.</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Platform</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9:16, 1080x1920, frame rate, duration limits.</a:t>
            </a:r>
          </a:p>
        </p:txBody>
      </p:sp>
    </p:spTree>
  </p:cSld>
  <p:clrMapOvr>
    <a:masterClrMapping/>
  </p:clrMapOvr>
  <p:transition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STANDARDS (A2)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Legal Requirements for Video in Singapore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the studio's guidelines must protect against. General guidance — not legal advice.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AREA</a:t>
            </a:r>
          </a:p>
        </p:txBody>
      </p:sp>
      <p:sp>
        <p:nvSpPr>
          <p:cNvPr id="10" name="TextBox 9"/>
          <p:cNvSpPr txBox="1"/>
          <p:nvPr/>
        </p:nvSpPr>
        <p:spPr>
          <a:xfrm>
            <a:off x="296265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REQUIREMENT</a:t>
            </a:r>
          </a:p>
        </p:txBody>
      </p:sp>
      <p:sp>
        <p:nvSpPr>
          <p:cNvPr id="11" name="TextBox 10"/>
          <p:cNvSpPr txBox="1"/>
          <p:nvPr/>
        </p:nvSpPr>
        <p:spPr>
          <a:xfrm>
            <a:off x="805220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GUIDELINE FOR KOPI &amp; COINS</a:t>
            </a:r>
          </a:p>
        </p:txBody>
      </p:sp>
      <p:sp>
        <p:nvSpPr>
          <p:cNvPr id="12" name="Rectangle 11"/>
          <p:cNvSpPr/>
          <p:nvPr/>
        </p:nvSpPr>
        <p:spPr>
          <a:xfrm>
            <a:off x="548640" y="256032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Copyright</a:t>
            </a:r>
          </a:p>
        </p:txBody>
      </p:sp>
      <p:sp>
        <p:nvSpPr>
          <p:cNvPr id="14" name="TextBox 13"/>
          <p:cNvSpPr txBox="1"/>
          <p:nvPr/>
        </p:nvSpPr>
        <p:spPr>
          <a:xfrm>
            <a:off x="2962656" y="2560320"/>
            <a:ext cx="481523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Copyright Act 2021: music, images and footage need permission or a licence.</a:t>
            </a:r>
          </a:p>
        </p:txBody>
      </p:sp>
      <p:sp>
        <p:nvSpPr>
          <p:cNvPr id="15" name="TextBox 14"/>
          <p:cNvSpPr txBox="1"/>
          <p:nvPr/>
        </p:nvSpPr>
        <p:spPr>
          <a:xfrm>
            <a:off x="8052206" y="256032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Use licensed or rights-cleared generated music; record the licence.</a:t>
            </a:r>
          </a:p>
        </p:txBody>
      </p:sp>
      <p:sp>
        <p:nvSpPr>
          <p:cNvPr id="16" name="TextBox 15"/>
          <p:cNvSpPr txBox="1"/>
          <p:nvPr/>
        </p:nvSpPr>
        <p:spPr>
          <a:xfrm>
            <a:off x="749808" y="3200400"/>
            <a:ext cx="1938528"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Personal data</a:t>
            </a:r>
          </a:p>
        </p:txBody>
      </p:sp>
      <p:sp>
        <p:nvSpPr>
          <p:cNvPr id="17" name="TextBox 16"/>
          <p:cNvSpPr txBox="1"/>
          <p:nvPr/>
        </p:nvSpPr>
        <p:spPr>
          <a:xfrm>
            <a:off x="2962656" y="3200400"/>
            <a:ext cx="481523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PDPA: do not collect, use or show personal data without consent.</a:t>
            </a:r>
          </a:p>
        </p:txBody>
      </p:sp>
      <p:sp>
        <p:nvSpPr>
          <p:cNvPr id="18" name="TextBox 17"/>
          <p:cNvSpPr txBox="1"/>
          <p:nvPr/>
        </p:nvSpPr>
        <p:spPr>
          <a:xfrm>
            <a:off x="8052206" y="320040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Fictional characters only; no real bank screens or names.</a:t>
            </a:r>
          </a:p>
        </p:txBody>
      </p:sp>
      <p:sp>
        <p:nvSpPr>
          <p:cNvPr id="19" name="Rectangle 18"/>
          <p:cNvSpPr/>
          <p:nvPr/>
        </p:nvSpPr>
        <p:spPr>
          <a:xfrm>
            <a:off x="548640" y="384048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40480"/>
            <a:ext cx="1938528"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Money messaging</a:t>
            </a:r>
          </a:p>
        </p:txBody>
      </p:sp>
      <p:sp>
        <p:nvSpPr>
          <p:cNvPr id="21" name="TextBox 20"/>
          <p:cNvSpPr txBox="1"/>
          <p:nvPr/>
        </p:nvSpPr>
        <p:spPr>
          <a:xfrm>
            <a:off x="2962656" y="3840480"/>
            <a:ext cx="481523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Financial Advisers Act: recommending specific products is regulated advice.</a:t>
            </a:r>
          </a:p>
        </p:txBody>
      </p:sp>
      <p:sp>
        <p:nvSpPr>
          <p:cNvPr id="22" name="TextBox 21"/>
          <p:cNvSpPr txBox="1"/>
          <p:nvPr/>
        </p:nvSpPr>
        <p:spPr>
          <a:xfrm>
            <a:off x="8052206" y="384048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education only; no products, no promised returns; disclaimer.</a:t>
            </a:r>
          </a:p>
        </p:txBody>
      </p:sp>
      <p:sp>
        <p:nvSpPr>
          <p:cNvPr id="23" name="TextBox 22"/>
          <p:cNvSpPr txBox="1"/>
          <p:nvPr/>
        </p:nvSpPr>
        <p:spPr>
          <a:xfrm>
            <a:off x="749808" y="4480560"/>
            <a:ext cx="1938528"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Advertising</a:t>
            </a:r>
          </a:p>
        </p:txBody>
      </p:sp>
      <p:sp>
        <p:nvSpPr>
          <p:cNvPr id="24" name="TextBox 23"/>
          <p:cNvSpPr txBox="1"/>
          <p:nvPr/>
        </p:nvSpPr>
        <p:spPr>
          <a:xfrm>
            <a:off x="2962656" y="4480560"/>
            <a:ext cx="481523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Singapore Code of Advertising Practice (ASAS): truthful, not misleading; disclose sponsorship.</a:t>
            </a:r>
          </a:p>
        </p:txBody>
      </p:sp>
      <p:sp>
        <p:nvSpPr>
          <p:cNvPr id="25" name="TextBox 24"/>
          <p:cNvSpPr txBox="1"/>
          <p:nvPr/>
        </p:nvSpPr>
        <p:spPr>
          <a:xfrm>
            <a:off x="8052206" y="448056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exaggerated claims; label any sponsored episode.</a:t>
            </a:r>
          </a:p>
        </p:txBody>
      </p:sp>
      <p:sp>
        <p:nvSpPr>
          <p:cNvPr id="26" name="Rectangle 25"/>
          <p:cNvSpPr/>
          <p:nvPr/>
        </p:nvSpPr>
        <p:spPr>
          <a:xfrm>
            <a:off x="548640" y="512064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120640"/>
            <a:ext cx="1938528"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AI content</a:t>
            </a:r>
          </a:p>
        </p:txBody>
      </p:sp>
      <p:sp>
        <p:nvSpPr>
          <p:cNvPr id="28" name="TextBox 27"/>
          <p:cNvSpPr txBox="1"/>
          <p:nvPr/>
        </p:nvSpPr>
        <p:spPr>
          <a:xfrm>
            <a:off x="2962656" y="5120640"/>
            <a:ext cx="481523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Platforms require labels for realistic altered or synthetic content.</a:t>
            </a:r>
          </a:p>
        </p:txBody>
      </p:sp>
      <p:sp>
        <p:nvSpPr>
          <p:cNvPr id="29" name="TextBox 28"/>
          <p:cNvSpPr txBox="1"/>
          <p:nvPr/>
        </p:nvSpPr>
        <p:spPr>
          <a:xfrm>
            <a:off x="8052206" y="512064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Turn on the AI-content disclosure when uploading.</a:t>
            </a:r>
          </a:p>
        </p:txBody>
      </p:sp>
    </p:spTree>
  </p:cSld>
  <p:clrMapOvr>
    <a:masterClrMapping/>
  </p:clrMapOvr>
  <p:transition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STANDARDS (A2)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Broadcasting and Platform Standards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Technical rules your guidelines should quote with numbers.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STANDARD</a:t>
            </a:r>
          </a:p>
        </p:txBody>
      </p:sp>
      <p:sp>
        <p:nvSpPr>
          <p:cNvPr id="10" name="TextBox 9"/>
          <p:cNvSpPr txBox="1"/>
          <p:nvPr/>
        </p:nvSpPr>
        <p:spPr>
          <a:xfrm>
            <a:off x="3405225"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REQUIREMENT</a:t>
            </a:r>
          </a:p>
        </p:txBody>
      </p:sp>
      <p:sp>
        <p:nvSpPr>
          <p:cNvPr id="11" name="TextBox 10"/>
          <p:cNvSpPr txBox="1"/>
          <p:nvPr/>
        </p:nvSpPr>
        <p:spPr>
          <a:xfrm>
            <a:off x="805220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FOR A 60 S SHORT</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Loudness — broadcast</a:t>
            </a:r>
          </a:p>
        </p:txBody>
      </p:sp>
      <p:sp>
        <p:nvSpPr>
          <p:cNvPr id="14" name="TextBox 13"/>
          <p:cNvSpPr txBox="1"/>
          <p:nvPr/>
        </p:nvSpPr>
        <p:spPr>
          <a:xfrm>
            <a:off x="3405225" y="2560320"/>
            <a:ext cx="4372660"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EBU R128: -23 LUFS integrated, true peak ≤ -1 dBTP.</a:t>
            </a:r>
          </a:p>
        </p:txBody>
      </p:sp>
      <p:sp>
        <p:nvSpPr>
          <p:cNvPr id="15" name="TextBox 14"/>
          <p:cNvSpPr txBox="1"/>
          <p:nvPr/>
        </p:nvSpPr>
        <p:spPr>
          <a:xfrm>
            <a:off x="8052206" y="2560320"/>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Reference for TV versions.</a:t>
            </a:r>
          </a:p>
        </p:txBody>
      </p:sp>
      <p:sp>
        <p:nvSpPr>
          <p:cNvPr id="16" name="TextBox 15"/>
          <p:cNvSpPr txBox="1"/>
          <p:nvPr/>
        </p:nvSpPr>
        <p:spPr>
          <a:xfrm>
            <a:off x="749808" y="3189427"/>
            <a:ext cx="2381097"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Loudness — streaming</a:t>
            </a:r>
          </a:p>
        </p:txBody>
      </p:sp>
      <p:sp>
        <p:nvSpPr>
          <p:cNvPr id="17" name="TextBox 16"/>
          <p:cNvSpPr txBox="1"/>
          <p:nvPr/>
        </p:nvSpPr>
        <p:spPr>
          <a:xfrm>
            <a:off x="3405225" y="3189427"/>
            <a:ext cx="4372660"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Platforms normalise near -14 LUFS.</a:t>
            </a:r>
          </a:p>
        </p:txBody>
      </p:sp>
      <p:sp>
        <p:nvSpPr>
          <p:cNvPr id="18" name="TextBox 17"/>
          <p:cNvSpPr txBox="1"/>
          <p:nvPr/>
        </p:nvSpPr>
        <p:spPr>
          <a:xfrm>
            <a:off x="8052206" y="3189427"/>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Mix to about -14 LUFS, true peak ≤ -1 dBTP.</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2381097"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Picture</a:t>
            </a:r>
          </a:p>
        </p:txBody>
      </p:sp>
      <p:sp>
        <p:nvSpPr>
          <p:cNvPr id="21" name="TextBox 20"/>
          <p:cNvSpPr txBox="1"/>
          <p:nvPr/>
        </p:nvSpPr>
        <p:spPr>
          <a:xfrm>
            <a:off x="3405225" y="3818534"/>
            <a:ext cx="4372660"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Rec. 709 colour, constant frame rate, no black or frozen frames.</a:t>
            </a:r>
          </a:p>
        </p:txBody>
      </p:sp>
      <p:sp>
        <p:nvSpPr>
          <p:cNvPr id="22" name="TextBox 21"/>
          <p:cNvSpPr txBox="1"/>
          <p:nvPr/>
        </p:nvSpPr>
        <p:spPr>
          <a:xfrm>
            <a:off x="8052206" y="3818534"/>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1080x1920, 24-30 fps, H.264 MP4.</a:t>
            </a:r>
          </a:p>
        </p:txBody>
      </p:sp>
      <p:sp>
        <p:nvSpPr>
          <p:cNvPr id="23" name="TextBox 22"/>
          <p:cNvSpPr txBox="1"/>
          <p:nvPr/>
        </p:nvSpPr>
        <p:spPr>
          <a:xfrm>
            <a:off x="749808" y="4447641"/>
            <a:ext cx="2381097"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Captions</a:t>
            </a:r>
          </a:p>
        </p:txBody>
      </p:sp>
      <p:sp>
        <p:nvSpPr>
          <p:cNvPr id="24" name="TextBox 23"/>
          <p:cNvSpPr txBox="1"/>
          <p:nvPr/>
        </p:nvSpPr>
        <p:spPr>
          <a:xfrm>
            <a:off x="3405225" y="4447641"/>
            <a:ext cx="4372660"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WCAG 2.2 — captions for all prerecorded audio.</a:t>
            </a:r>
          </a:p>
        </p:txBody>
      </p:sp>
      <p:sp>
        <p:nvSpPr>
          <p:cNvPr id="25" name="TextBox 24"/>
          <p:cNvSpPr txBox="1"/>
          <p:nvPr/>
        </p:nvSpPr>
        <p:spPr>
          <a:xfrm>
            <a:off x="8052206" y="4447641"/>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Burned-in or uploaded; checked for accuracy.</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2381097"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Framing</a:t>
            </a:r>
          </a:p>
        </p:txBody>
      </p:sp>
      <p:sp>
        <p:nvSpPr>
          <p:cNvPr id="28" name="TextBox 27"/>
          <p:cNvSpPr txBox="1"/>
          <p:nvPr/>
        </p:nvSpPr>
        <p:spPr>
          <a:xfrm>
            <a:off x="3405225" y="5076748"/>
            <a:ext cx="4372660"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Title- and action-safe areas.</a:t>
            </a:r>
          </a:p>
        </p:txBody>
      </p:sp>
      <p:sp>
        <p:nvSpPr>
          <p:cNvPr id="29" name="TextBox 28"/>
          <p:cNvSpPr txBox="1"/>
          <p:nvPr/>
        </p:nvSpPr>
        <p:spPr>
          <a:xfrm>
            <a:off x="8052206" y="5076748"/>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Text clear of the bottom ~20% and the right edge.</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Platform limits change. Check the platform's help pages before each campaign.</a:t>
            </a:r>
          </a:p>
        </p:txBody>
      </p:sp>
    </p:spTree>
  </p:cSld>
  <p:clrMapOvr>
    <a:masterClrMapping/>
  </p:clrMapOvr>
  <p:transition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WORK PLANS (A3)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Post-Production Workflow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Post-production in order. Every stage has an input, an output and an owner.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References</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Elements, style frames, voice — locked before generation.</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Assembly</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Shots placed in story order: the rough cut.</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Fine cut</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Timing, pacing and story review; picture lock.</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Sound and captions</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Voice, music, effects, loudness, captions.</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QC and compliance</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Technical parameters and standards checked.</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Approve and deliver</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Human approval, export, publish.</a:t>
            </a:r>
          </a:p>
        </p:txBody>
      </p:sp>
    </p:spTree>
  </p:cSld>
  <p:clrMapOvr>
    <a:masterClrMapping/>
  </p:clrMapOvr>
  <p:transition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WORK PLANS (A3)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Post-Production Work Plan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plan your Lab 2 CSV follows — 10 working days for Episode 1.</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STAGE</a:t>
            </a:r>
          </a:p>
        </p:txBody>
      </p:sp>
      <p:sp>
        <p:nvSpPr>
          <p:cNvPr id="10" name="TextBox 9"/>
          <p:cNvSpPr txBox="1"/>
          <p:nvPr/>
        </p:nvSpPr>
        <p:spPr>
          <a:xfrm>
            <a:off x="3183940" y="2203703"/>
            <a:ext cx="1606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OWNER</a:t>
            </a:r>
          </a:p>
        </p:txBody>
      </p:sp>
      <p:sp>
        <p:nvSpPr>
          <p:cNvPr id="11" name="TextBox 10"/>
          <p:cNvSpPr txBox="1"/>
          <p:nvPr/>
        </p:nvSpPr>
        <p:spPr>
          <a:xfrm>
            <a:off x="5064861" y="2203703"/>
            <a:ext cx="72146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DAYS</a:t>
            </a:r>
          </a:p>
        </p:txBody>
      </p:sp>
      <p:sp>
        <p:nvSpPr>
          <p:cNvPr id="12" name="TextBox 11"/>
          <p:cNvSpPr txBox="1"/>
          <p:nvPr/>
        </p:nvSpPr>
        <p:spPr>
          <a:xfrm>
            <a:off x="6060643"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DEPENDS ON</a:t>
            </a:r>
          </a:p>
        </p:txBody>
      </p:sp>
      <p:sp>
        <p:nvSpPr>
          <p:cNvPr id="13" name="TextBox 12"/>
          <p:cNvSpPr txBox="1"/>
          <p:nvPr/>
        </p:nvSpPr>
        <p:spPr>
          <a:xfrm>
            <a:off x="8273491"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REVIEW GATE</a:t>
            </a:r>
          </a:p>
        </p:txBody>
      </p:sp>
      <p:sp>
        <p:nvSpPr>
          <p:cNvPr id="14" name="Rectangle 13"/>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5603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References and elements</a:t>
            </a:r>
          </a:p>
        </p:txBody>
      </p:sp>
      <p:sp>
        <p:nvSpPr>
          <p:cNvPr id="16" name="TextBox 15"/>
          <p:cNvSpPr txBox="1"/>
          <p:nvPr/>
        </p:nvSpPr>
        <p:spPr>
          <a:xfrm>
            <a:off x="3183940" y="2560320"/>
            <a:ext cx="160660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Producer</a:t>
            </a:r>
          </a:p>
        </p:txBody>
      </p:sp>
      <p:sp>
        <p:nvSpPr>
          <p:cNvPr id="17" name="TextBox 16"/>
          <p:cNvSpPr txBox="1"/>
          <p:nvPr/>
        </p:nvSpPr>
        <p:spPr>
          <a:xfrm>
            <a:off x="5064861" y="2560320"/>
            <a:ext cx="72146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a:t>
            </a:r>
          </a:p>
        </p:txBody>
      </p:sp>
      <p:sp>
        <p:nvSpPr>
          <p:cNvPr id="18" name="TextBox 17"/>
          <p:cNvSpPr txBox="1"/>
          <p:nvPr/>
        </p:nvSpPr>
        <p:spPr>
          <a:xfrm>
            <a:off x="6060643" y="2560320"/>
            <a:ext cx="1938528"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Approved script</a:t>
            </a:r>
          </a:p>
        </p:txBody>
      </p:sp>
      <p:sp>
        <p:nvSpPr>
          <p:cNvPr id="19" name="TextBox 18"/>
          <p:cNvSpPr txBox="1"/>
          <p:nvPr/>
        </p:nvSpPr>
        <p:spPr>
          <a:xfrm>
            <a:off x="8273491" y="25603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Character bible signed off</a:t>
            </a:r>
          </a:p>
        </p:txBody>
      </p:sp>
      <p:sp>
        <p:nvSpPr>
          <p:cNvPr id="20" name="TextBox 19"/>
          <p:cNvSpPr txBox="1"/>
          <p:nvPr/>
        </p:nvSpPr>
        <p:spPr>
          <a:xfrm>
            <a:off x="749808" y="30937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Generation</a:t>
            </a:r>
          </a:p>
        </p:txBody>
      </p:sp>
      <p:sp>
        <p:nvSpPr>
          <p:cNvPr id="21" name="TextBox 20"/>
          <p:cNvSpPr txBox="1"/>
          <p:nvPr/>
        </p:nvSpPr>
        <p:spPr>
          <a:xfrm>
            <a:off x="3183940" y="3093720"/>
            <a:ext cx="160660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Video agent</a:t>
            </a:r>
          </a:p>
        </p:txBody>
      </p:sp>
      <p:sp>
        <p:nvSpPr>
          <p:cNvPr id="22" name="TextBox 21"/>
          <p:cNvSpPr txBox="1"/>
          <p:nvPr/>
        </p:nvSpPr>
        <p:spPr>
          <a:xfrm>
            <a:off x="5064861" y="3093720"/>
            <a:ext cx="72146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a:t>
            </a:r>
          </a:p>
        </p:txBody>
      </p:sp>
      <p:sp>
        <p:nvSpPr>
          <p:cNvPr id="23" name="TextBox 22"/>
          <p:cNvSpPr txBox="1"/>
          <p:nvPr/>
        </p:nvSpPr>
        <p:spPr>
          <a:xfrm>
            <a:off x="6060643" y="3093720"/>
            <a:ext cx="1938528"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References</a:t>
            </a:r>
          </a:p>
        </p:txBody>
      </p:sp>
      <p:sp>
        <p:nvSpPr>
          <p:cNvPr id="24" name="TextBox 23"/>
          <p:cNvSpPr txBox="1"/>
          <p:nvPr/>
        </p:nvSpPr>
        <p:spPr>
          <a:xfrm>
            <a:off x="8273491" y="30937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Checkpoint: storyboard and look approved</a:t>
            </a:r>
          </a:p>
        </p:txBody>
      </p:sp>
      <p:sp>
        <p:nvSpPr>
          <p:cNvPr id="25" name="Rectangle 24"/>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6271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Rough cut and story review</a:t>
            </a:r>
          </a:p>
        </p:txBody>
      </p:sp>
      <p:sp>
        <p:nvSpPr>
          <p:cNvPr id="27" name="TextBox 26"/>
          <p:cNvSpPr txBox="1"/>
          <p:nvPr/>
        </p:nvSpPr>
        <p:spPr>
          <a:xfrm>
            <a:off x="3183940" y="3627120"/>
            <a:ext cx="160660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Editor</a:t>
            </a:r>
          </a:p>
        </p:txBody>
      </p:sp>
      <p:sp>
        <p:nvSpPr>
          <p:cNvPr id="28" name="TextBox 27"/>
          <p:cNvSpPr txBox="1"/>
          <p:nvPr/>
        </p:nvSpPr>
        <p:spPr>
          <a:xfrm>
            <a:off x="5064861" y="3627120"/>
            <a:ext cx="72146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a:t>
            </a:r>
          </a:p>
        </p:txBody>
      </p:sp>
      <p:sp>
        <p:nvSpPr>
          <p:cNvPr id="29" name="TextBox 28"/>
          <p:cNvSpPr txBox="1"/>
          <p:nvPr/>
        </p:nvSpPr>
        <p:spPr>
          <a:xfrm>
            <a:off x="6060643" y="3627120"/>
            <a:ext cx="1938528"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Generation</a:t>
            </a:r>
          </a:p>
        </p:txBody>
      </p:sp>
      <p:sp>
        <p:nvSpPr>
          <p:cNvPr id="30" name="TextBox 29"/>
          <p:cNvSpPr txBox="1"/>
          <p:nvPr/>
        </p:nvSpPr>
        <p:spPr>
          <a:xfrm>
            <a:off x="8273491" y="36271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Story review: every scene lands</a:t>
            </a:r>
          </a:p>
        </p:txBody>
      </p:sp>
      <p:sp>
        <p:nvSpPr>
          <p:cNvPr id="31" name="TextBox 30"/>
          <p:cNvSpPr txBox="1"/>
          <p:nvPr/>
        </p:nvSpPr>
        <p:spPr>
          <a:xfrm>
            <a:off x="749808" y="41605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Sound, captions, fine cut</a:t>
            </a:r>
          </a:p>
        </p:txBody>
      </p:sp>
      <p:sp>
        <p:nvSpPr>
          <p:cNvPr id="32" name="TextBox 31"/>
          <p:cNvSpPr txBox="1"/>
          <p:nvPr/>
        </p:nvSpPr>
        <p:spPr>
          <a:xfrm>
            <a:off x="3183940" y="4160520"/>
            <a:ext cx="160660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Editor</a:t>
            </a:r>
          </a:p>
        </p:txBody>
      </p:sp>
      <p:sp>
        <p:nvSpPr>
          <p:cNvPr id="33" name="TextBox 32"/>
          <p:cNvSpPr txBox="1"/>
          <p:nvPr/>
        </p:nvSpPr>
        <p:spPr>
          <a:xfrm>
            <a:off x="5064861" y="4160520"/>
            <a:ext cx="72146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a:t>
            </a:r>
          </a:p>
        </p:txBody>
      </p:sp>
      <p:sp>
        <p:nvSpPr>
          <p:cNvPr id="34" name="TextBox 33"/>
          <p:cNvSpPr txBox="1"/>
          <p:nvPr/>
        </p:nvSpPr>
        <p:spPr>
          <a:xfrm>
            <a:off x="6060643" y="4160520"/>
            <a:ext cx="1938528"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Story review</a:t>
            </a:r>
          </a:p>
        </p:txBody>
      </p:sp>
      <p:sp>
        <p:nvSpPr>
          <p:cNvPr id="35" name="TextBox 34"/>
          <p:cNvSpPr txBox="1"/>
          <p:nvPr/>
        </p:nvSpPr>
        <p:spPr>
          <a:xfrm>
            <a:off x="8273491" y="41605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Picture lock</a:t>
            </a:r>
          </a:p>
        </p:txBody>
      </p:sp>
      <p:sp>
        <p:nvSpPr>
          <p:cNvPr id="36" name="Rectangle 3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46939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QC and compliance</a:t>
            </a:r>
          </a:p>
        </p:txBody>
      </p:sp>
      <p:sp>
        <p:nvSpPr>
          <p:cNvPr id="38" name="TextBox 37"/>
          <p:cNvSpPr txBox="1"/>
          <p:nvPr/>
        </p:nvSpPr>
        <p:spPr>
          <a:xfrm>
            <a:off x="3183940" y="4693920"/>
            <a:ext cx="160660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Reviewer</a:t>
            </a:r>
          </a:p>
        </p:txBody>
      </p:sp>
      <p:sp>
        <p:nvSpPr>
          <p:cNvPr id="39" name="TextBox 38"/>
          <p:cNvSpPr txBox="1"/>
          <p:nvPr/>
        </p:nvSpPr>
        <p:spPr>
          <a:xfrm>
            <a:off x="5064861" y="4693920"/>
            <a:ext cx="72146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a:t>
            </a:r>
          </a:p>
        </p:txBody>
      </p:sp>
      <p:sp>
        <p:nvSpPr>
          <p:cNvPr id="40" name="TextBox 39"/>
          <p:cNvSpPr txBox="1"/>
          <p:nvPr/>
        </p:nvSpPr>
        <p:spPr>
          <a:xfrm>
            <a:off x="6060643" y="4693920"/>
            <a:ext cx="1938528"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Fine cut</a:t>
            </a:r>
          </a:p>
        </p:txBody>
      </p:sp>
      <p:sp>
        <p:nvSpPr>
          <p:cNvPr id="41" name="TextBox 40"/>
          <p:cNvSpPr txBox="1"/>
          <p:nvPr/>
        </p:nvSpPr>
        <p:spPr>
          <a:xfrm>
            <a:off x="8273491" y="46939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All parameters PASS</a:t>
            </a:r>
          </a:p>
        </p:txBody>
      </p:sp>
      <p:sp>
        <p:nvSpPr>
          <p:cNvPr id="42" name="TextBox 41"/>
          <p:cNvSpPr txBox="1"/>
          <p:nvPr/>
        </p:nvSpPr>
        <p:spPr>
          <a:xfrm>
            <a:off x="749808" y="5227319"/>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Approval and export</a:t>
            </a:r>
          </a:p>
        </p:txBody>
      </p:sp>
      <p:sp>
        <p:nvSpPr>
          <p:cNvPr id="43" name="TextBox 42"/>
          <p:cNvSpPr txBox="1"/>
          <p:nvPr/>
        </p:nvSpPr>
        <p:spPr>
          <a:xfrm>
            <a:off x="3183940" y="5227319"/>
            <a:ext cx="1606600"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Founder</a:t>
            </a:r>
          </a:p>
        </p:txBody>
      </p:sp>
      <p:sp>
        <p:nvSpPr>
          <p:cNvPr id="44" name="TextBox 43"/>
          <p:cNvSpPr txBox="1"/>
          <p:nvPr/>
        </p:nvSpPr>
        <p:spPr>
          <a:xfrm>
            <a:off x="5064861" y="5227319"/>
            <a:ext cx="72146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+ 1 buffer</a:t>
            </a:r>
          </a:p>
        </p:txBody>
      </p:sp>
      <p:sp>
        <p:nvSpPr>
          <p:cNvPr id="45" name="TextBox 44"/>
          <p:cNvSpPr txBox="1"/>
          <p:nvPr/>
        </p:nvSpPr>
        <p:spPr>
          <a:xfrm>
            <a:off x="6060643" y="5227319"/>
            <a:ext cx="1938528"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QC</a:t>
            </a:r>
          </a:p>
        </p:txBody>
      </p:sp>
      <p:sp>
        <p:nvSpPr>
          <p:cNvPr id="46" name="TextBox 45"/>
          <p:cNvSpPr txBox="1"/>
          <p:nvPr/>
        </p:nvSpPr>
        <p:spPr>
          <a:xfrm>
            <a:off x="8273491" y="5227319"/>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Signed approval</a:t>
            </a:r>
          </a:p>
        </p:txBody>
      </p:sp>
    </p:spTree>
  </p:cSld>
  <p:clrMapOvr>
    <a:masterClrMapping/>
  </p:clrMapOvr>
  <p:transition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WORK PLANS (A3)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Timelines and Review Gates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plan that hits its date has three features.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A critical path</a:t>
            </a:r>
          </a:p>
        </p:txBody>
      </p:sp>
      <p:sp>
        <p:nvSpPr>
          <p:cNvPr id="11" name="TextBox 10"/>
          <p:cNvSpPr txBox="1"/>
          <p:nvPr/>
        </p:nvSpPr>
        <p:spPr>
          <a:xfrm>
            <a:off x="786384"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The chain of stages that cannot overlap. Its length is the shortest possible schedule.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Review gates</a:t>
            </a:r>
          </a:p>
        </p:txBody>
      </p:sp>
      <p:sp>
        <p:nvSpPr>
          <p:cNvPr id="15" name="TextBox 14"/>
          <p:cNvSpPr txBox="1"/>
          <p:nvPr/>
        </p:nvSpPr>
        <p:spPr>
          <a:xfrm>
            <a:off x="4547615"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Points where work stops until someone approves: storyboard, picture lock, QC, final approval.</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A buffer for AI</a:t>
            </a:r>
          </a:p>
        </p:txBody>
      </p:sp>
      <p:sp>
        <p:nvSpPr>
          <p:cNvPr id="19" name="TextBox 18"/>
          <p:cNvSpPr txBox="1"/>
          <p:nvPr/>
        </p:nvSpPr>
        <p:spPr>
          <a:xfrm>
            <a:off x="8308847"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Allow a day to regenerate failed shots. AI production is fast, but not always right first time.</a:t>
            </a:r>
          </a:p>
        </p:txBody>
      </p:sp>
    </p:spTree>
  </p:cSld>
  <p:clrMapOvr>
    <a:masterClrMapping/>
  </p:clrMapOvr>
  <p:transition spd="fast">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Storyboard, Editing Standards and Work Plan</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~60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script is approved. Before the video agent can make anything, the studio needs a character bible so Rachel looks the same in every shot, a storyboard, the editing rules every episode must follow, and a plan with dates.</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character-bible.md, storyboard.md, editing-standards.md and work-plan.csv</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(same chat) + a spreadsheet</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Character bible · six-shot storyboard · editing standards and guidelines · post-production work plan   ·   A2, A3</a:t>
            </a:r>
          </a:p>
        </p:txBody>
      </p:sp>
    </p:spTree>
  </p:cSld>
  <p:clrMapOvr>
    <a:masterClrMapping/>
  </p:clrMapOvr>
  <p:transition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Storyboard, Editing Standards and Work Plan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ChatGPT (same chat) + a spreadsheet  ·  the full step-by-step, with the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Lock the characters  </a:t>
            </a:r>
            <a:r>
              <a:rPr sz="1300">
                <a:solidFill>
                  <a:srgbClr val="6B6862"/>
                </a:solidFill>
                <a:latin typeface="Calibri"/>
              </a:rPr>
              <a:t>Prompt A builds the character bible: fixed visible traits for Rachel, Ah Ma and the blue tin.</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six shots  </a:t>
            </a:r>
            <a:r>
              <a:rPr sz="1300">
                <a:solidFill>
                  <a:srgbClr val="6B6862"/>
                </a:solidFill>
                <a:latin typeface="Calibri"/>
              </a:rPr>
              <a:t>Prompt B: one row per shot — shot size, angle, movement, action, duration and a continuity line.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grammar  </a:t>
            </a:r>
            <a:r>
              <a:rPr sz="1300">
                <a:solidFill>
                  <a:srgbClr val="6B6862"/>
                </a:solidFill>
                <a:latin typeface="Calibri"/>
              </a:rPr>
              <a:t>Look for the 180-degree rule and screen direction between shots 2 and 3. Fix any jump.</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standards  </a:t>
            </a:r>
            <a:r>
              <a:rPr sz="1300">
                <a:solidFill>
                  <a:srgbClr val="6B6862"/>
                </a:solidFill>
                <a:latin typeface="Calibri"/>
              </a:rPr>
              <a:t>Prompt C: the studio's editing standards and guidelines, legal and platform rules included.</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the post-production  </a:t>
            </a:r>
            <a:r>
              <a:rPr sz="1300">
                <a:solidFill>
                  <a:srgbClr val="6B6862"/>
                </a:solidFill>
                <a:latin typeface="Calibri"/>
              </a:rPr>
              <a:t>Prompt D gives a work plan; paste it into work-plan.csv and set real dates.</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Peer review  </a:t>
            </a:r>
            <a:r>
              <a:rPr sz="1300">
                <a:solidFill>
                  <a:srgbClr val="6B6862"/>
                </a:solidFill>
                <a:latin typeface="Calibri"/>
              </a:rPr>
              <a:t>Swap storyboards with a partner. Each names one continuity risk in the other's board.</a:t>
            </a:r>
          </a:p>
        </p:txBody>
      </p:sp>
    </p:spTree>
  </p:cSld>
  <p:clrMapOvr>
    <a:masterClrMapping/>
  </p:clrMapOvr>
  <p:transition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Storyboard, Editing Standards and Work Plan</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character bible</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 character bible for Kopi &amp; Coins as Markdown.</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For Rachel Tan (29), Ah Ma (74) and the blue butter-cookie tin, give: role in the story, five visible traits that must never change (face, hair, clothing, accessories, colours), how they move and speak, and one reference-image prompt each (front view, neutral light, plain background).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Rachel: shoulder-length black hair, round tortoiseshell glasses, mustard-yellow cardigan over a white T-shirt. Ah Ma: short silver permed hair, jade bangle, floral blouse.</a:t>
            </a:r>
          </a:p>
        </p:txBody>
      </p:sp>
    </p:spTree>
  </p:cSld>
  <p:clrMapOvr>
    <a:masterClrMapping/>
  </p:clrMapOvr>
  <p:transition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Storyboard, Editing Standards and Work Plan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six-shot storyboard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Turn script-v1 into a six-shot storyboard as a Markdown table.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Columns: shot, time, shot size (ECU, CU, MCU, MS, WS), camera angle, camera movement, action (one only), characters, sound, on-screen text, continuity line (what must stay the same as the previous shot).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Keep 9:16 framing in mind: faces in the upper third, text clear of the bottom 20% of the frame. Respect the 180-degree rule in the video-call scene.</a:t>
            </a:r>
          </a:p>
        </p:txBody>
      </p:sp>
    </p:spTree>
  </p:cSld>
  <p:clrMapOvr>
    <a:masterClrMapping/>
  </p:clrMapOvr>
  <p:transition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Storyboard, Editing Standards and Work Plan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7" name="Rounded Rectangle 6"/>
          <p:cNvSpPr/>
          <p:nvPr/>
        </p:nvSpPr>
        <p:spPr>
          <a:xfrm>
            <a:off x="548640" y="1783080"/>
            <a:ext cx="11064240" cy="429981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editing standards and guidelines</a:t>
            </a:r>
          </a:p>
        </p:txBody>
      </p:sp>
      <p:sp>
        <p:nvSpPr>
          <p:cNvPr id="9" name="TextBox 8"/>
          <p:cNvSpPr txBox="1"/>
          <p:nvPr/>
        </p:nvSpPr>
        <p:spPr>
          <a:xfrm>
            <a:off x="822960" y="2313432"/>
            <a:ext cx="10515600" cy="355000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editing-standards.md: the rules every Kopi &amp; Coins episode must meet before it is published.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Sections:</a:t>
            </a:r>
          </a:p>
          <a:p>
            <a:pPr>
              <a:lnSpc>
                <a:spcPct val="110000"/>
              </a:lnSpc>
              <a:defRPr sz="1700" b="0">
                <a:solidFill>
                  <a:srgbClr val="21201C"/>
                </a:solidFill>
                <a:latin typeface="Calibri"/>
              </a:defRPr>
            </a:pPr>
            <a:r>
              <a:t>1. Brand: colours, fonts, logo position, end card.</a:t>
            </a:r>
          </a:p>
          <a:p>
            <a:pPr>
              <a:lnSpc>
                <a:spcPct val="110000"/>
              </a:lnSpc>
              <a:defRPr sz="1700" b="0">
                <a:solidFill>
                  <a:srgbClr val="21201C"/>
                </a:solidFill>
                <a:latin typeface="Calibri"/>
              </a:defRPr>
            </a:pPr>
            <a:r>
              <a:t>2. Story: hook in the first 3 seconds, one message, pacing.</a:t>
            </a:r>
          </a:p>
          <a:p>
            <a:pPr>
              <a:lnSpc>
                <a:spcPct val="110000"/>
              </a:lnSpc>
              <a:defRPr sz="1700" b="0">
                <a:solidFill>
                  <a:srgbClr val="21201C"/>
                </a:solidFill>
                <a:latin typeface="Calibri"/>
              </a:defRPr>
            </a:pPr>
            <a:r>
              <a:t>3. Captions: always on, accuracy, line length, safe area.</a:t>
            </a:r>
          </a:p>
          <a:p>
            <a:pPr>
              <a:lnSpc>
                <a:spcPct val="110000"/>
              </a:lnSpc>
              <a:defRPr sz="1700" b="0">
                <a:solidFill>
                  <a:srgbClr val="21201C"/>
                </a:solidFill>
                <a:latin typeface="Calibri"/>
              </a:defRPr>
            </a:pPr>
            <a:r>
              <a:t>4. Audio: dialogue clarity, music under voice, loudness target.</a:t>
            </a:r>
          </a:p>
          <a:p>
            <a:pPr>
              <a:lnSpc>
                <a:spcPct val="110000"/>
              </a:lnSpc>
              <a:defRPr sz="1700" b="0">
                <a:solidFill>
                  <a:srgbClr val="21201C"/>
                </a:solidFill>
                <a:latin typeface="Calibri"/>
              </a:defRPr>
            </a:pPr>
            <a:r>
              <a:t>5. Legal: music and image rights, no personal data, money messaging (general education only, no promised returns, disclaimer), labelling AI-generated content.</a:t>
            </a:r>
          </a:p>
          <a:p>
            <a:pPr>
              <a:lnSpc>
                <a:spcPct val="110000"/>
              </a:lnSpc>
              <a:defRPr sz="1700" b="0">
                <a:solidFill>
                  <a:srgbClr val="21201C"/>
                </a:solidFill>
                <a:latin typeface="Calibri"/>
              </a:defRPr>
            </a:pPr>
            <a:r>
              <a:t>6. Platform: 9:16, 1080x1920, frame rate, duration limits.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Make every rule checkable, with a number or a yes/no test.</a:t>
            </a:r>
          </a:p>
        </p:txBody>
      </p:sp>
    </p:spTree>
  </p:cSld>
  <p:clrMapOvr>
    <a:masterClrMapping/>
  </p:clrMapOvr>
  <p:transition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Storyboard, Editing Standards and Work Plan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post-production work plan</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 post-production work plan for Episode 1 as CSV with columns: stage, task, owner, start day, duration (hours), depends on, review gate, done when.</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Stages in order: references and elements, generation, assembly (rough cut), story review, fine cut, sound mix, captions, technical QC, compliance review, approval, export, publish.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We have 10 working days. Put a human approval gate before publish, and allow one day for regenerating failed shots.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Standards written down are standards an agent can follow. Standards in your head are surprises at review time.</a:t>
            </a:r>
          </a:p>
        </p:txBody>
      </p:sp>
    </p:spTree>
  </p:cSld>
  <p:clrMapOvr>
    <a:masterClrMapping/>
  </p:clrMapOvr>
  <p:transition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Storyboard, Editing Standards and Work Plan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character bible fixes five visible traits each for Rachel, Ah Ma and the tin.</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six shots, each with one size, one angle, one movement and one action.</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shot has a continuity line.</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editing-standards.md covers brand, story, captions, audio, legal and platform — each rule checkable.</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work-plan.csv lists every stage with an owner, a duration and a review gate, and fits 10 working days.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partner named one continuity risk and you fixed it.</a:t>
            </a:r>
          </a:p>
        </p:txBody>
      </p:sp>
    </p:spTree>
  </p:cSld>
  <p:clrMapOvr>
    <a:masterClrMapping/>
  </p:clrMapOvr>
  <p:transition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Episode 1 exists on paper — fully planned.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Planned — Lab 1</a:t>
            </a:r>
          </a:p>
        </p:txBody>
      </p:sp>
      <p:sp>
        <p:nvSpPr>
          <p:cNvPr id="11" name="TextBox 10"/>
          <p:cNvSpPr txBox="1"/>
          <p:nvPr/>
        </p:nvSpPr>
        <p:spPr>
          <a:xfrm>
            <a:off x="786384"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A creative brief, a 60-second script and a review of the edits each scene needs.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Specified — Lab 2</a:t>
            </a:r>
          </a:p>
        </p:txBody>
      </p:sp>
      <p:sp>
        <p:nvSpPr>
          <p:cNvPr id="15" name="TextBox 14"/>
          <p:cNvSpPr txBox="1"/>
          <p:nvPr/>
        </p:nvSpPr>
        <p:spPr>
          <a:xfrm>
            <a:off x="4547615"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Characters, a six-shot storyboard, editing standards and a 10-day work plan.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Next — Topic 2</a:t>
            </a:r>
          </a:p>
        </p:txBody>
      </p:sp>
      <p:sp>
        <p:nvSpPr>
          <p:cNvPr id="19" name="TextBox 18"/>
          <p:cNvSpPr txBox="1"/>
          <p:nvPr/>
        </p:nvSpPr>
        <p:spPr>
          <a:xfrm>
            <a:off x="8308847"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A video agent turns the plan into a cut, and you review it for story and quality.</a:t>
            </a:r>
          </a:p>
        </p:txBody>
      </p:sp>
    </p:spTree>
  </p:cSld>
  <p:clrMapOvr>
    <a:masterClrMapping/>
  </p:clrMapOvr>
  <p:transition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188720"/>
            <a:ext cx="10972800" cy="1097280"/>
          </a:xfrm>
          <a:prstGeom prst="rect">
            <a:avLst/>
          </a:prstGeom>
          <a:noFill/>
        </p:spPr>
        <p:txBody>
          <a:bodyPr wrap="square" lIns="18288" rIns="18288" tIns="9144" bIns="9144">
            <a:spAutoFit/>
          </a:bodyPr>
          <a:lstStyle/>
          <a:p>
            <a:pPr>
              <a:lnSpc>
                <a:spcPct val="95000"/>
              </a:lnSpc>
              <a:defRPr sz="3000" b="0">
                <a:solidFill>
                  <a:srgbClr val="FFFFFF"/>
                </a:solidFill>
                <a:latin typeface="Cambria"/>
              </a:defRPr>
            </a:pPr>
            <a:r>
              <a:t>AI-Assisted Video Editing, Storytelling and Quality Assurance</a:t>
            </a:r>
          </a:p>
        </p:txBody>
      </p:sp>
      <p:sp>
        <p:nvSpPr>
          <p:cNvPr id="4" name="Rectangle 3"/>
          <p:cNvSpPr/>
          <p:nvPr/>
        </p:nvSpPr>
        <p:spPr>
          <a:xfrm>
            <a:off x="585216" y="239572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78892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80720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video agents and the Flova workspace</a:t>
            </a:r>
          </a:p>
        </p:txBody>
      </p:sp>
      <p:sp>
        <p:nvSpPr>
          <p:cNvPr id="7" name="Oval 6"/>
          <p:cNvSpPr/>
          <p:nvPr/>
        </p:nvSpPr>
        <p:spPr>
          <a:xfrm>
            <a:off x="603504" y="350215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52044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Elements, the Creative Brief and checkpoints</a:t>
            </a:r>
          </a:p>
        </p:txBody>
      </p:sp>
      <p:sp>
        <p:nvSpPr>
          <p:cNvPr id="9" name="Oval 8"/>
          <p:cNvSpPr/>
          <p:nvPr/>
        </p:nvSpPr>
        <p:spPr>
          <a:xfrm>
            <a:off x="603504" y="4215383"/>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233671"/>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Reviewing edited footage for story and emotion</a:t>
            </a:r>
          </a:p>
        </p:txBody>
      </p:sp>
      <p:sp>
        <p:nvSpPr>
          <p:cNvPr id="11" name="Oval 10"/>
          <p:cNvSpPr/>
          <p:nvPr/>
        </p:nvSpPr>
        <p:spPr>
          <a:xfrm>
            <a:off x="603504" y="492861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4946903"/>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Parameters to assess quality, and how to fix issues</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Agentic AI for Video Creation  ·  TGS-2023036088 </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LEARNING OUTCOME, KNOWLEDGE AND ABILITIES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2500" b="0">
                <a:solidFill>
                  <a:srgbClr val="21201C"/>
                </a:solidFill>
                <a:latin typeface="Cambria"/>
              </a:defRPr>
            </a:pPr>
            <a:r>
              <a:t>AI-Assisted Video Editing, Storytelling and Quality Assurance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ounded Rectangle 6"/>
          <p:cNvSpPr/>
          <p:nvPr/>
        </p:nvSpPr>
        <p:spPr>
          <a:xfrm>
            <a:off x="548640" y="1783080"/>
            <a:ext cx="3749039" cy="402336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374903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29968"/>
            <a:ext cx="32918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LEARNING OUTCOME</a:t>
            </a:r>
          </a:p>
        </p:txBody>
      </p:sp>
      <p:sp>
        <p:nvSpPr>
          <p:cNvPr id="10" name="TextBox 9"/>
          <p:cNvSpPr txBox="1"/>
          <p:nvPr/>
        </p:nvSpPr>
        <p:spPr>
          <a:xfrm>
            <a:off x="822960" y="2359152"/>
            <a:ext cx="3291840" cy="457200"/>
          </a:xfrm>
          <a:prstGeom prst="rect">
            <a:avLst/>
          </a:prstGeom>
          <a:noFill/>
        </p:spPr>
        <p:txBody>
          <a:bodyPr wrap="square" lIns="18288" rIns="18288" tIns="9144" bIns="9144">
            <a:spAutoFit/>
          </a:bodyPr>
          <a:lstStyle/>
          <a:p>
            <a:pPr>
              <a:lnSpc>
                <a:spcPct val="100000"/>
              </a:lnSpc>
              <a:defRPr sz="2800" b="1">
                <a:solidFill>
                  <a:srgbClr val="FFFFFF"/>
                </a:solidFill>
                <a:latin typeface="Cambria"/>
              </a:defRPr>
            </a:pPr>
            <a:r>
              <a:t>LO2</a:t>
            </a:r>
          </a:p>
        </p:txBody>
      </p:sp>
      <p:sp>
        <p:nvSpPr>
          <p:cNvPr id="11" name="TextBox 10"/>
          <p:cNvSpPr txBox="1"/>
          <p:nvPr/>
        </p:nvSpPr>
        <p:spPr>
          <a:xfrm>
            <a:off x="822960" y="2971800"/>
            <a:ext cx="3246120" cy="2651760"/>
          </a:xfrm>
          <a:prstGeom prst="rect">
            <a:avLst/>
          </a:prstGeom>
          <a:noFill/>
        </p:spPr>
        <p:txBody>
          <a:bodyPr wrap="square" lIns="18288" rIns="18288" tIns="9144" bIns="9144">
            <a:spAutoFit/>
          </a:bodyPr>
          <a:lstStyle/>
          <a:p>
            <a:pPr>
              <a:lnSpc>
                <a:spcPct val="110000"/>
              </a:lnSpc>
              <a:defRPr sz="1700" b="0">
                <a:solidFill>
                  <a:srgbClr val="E8E5DE"/>
                </a:solidFill>
                <a:latin typeface="Cambria"/>
              </a:defRPr>
            </a:pPr>
            <a:r>
              <a:t>Assess edited footage to enhance storytelling and ensure technical compliance.</a:t>
            </a:r>
          </a:p>
        </p:txBody>
      </p:sp>
      <p:sp>
        <p:nvSpPr>
          <p:cNvPr id="12" name="TextBox 11"/>
          <p:cNvSpPr txBox="1"/>
          <p:nvPr/>
        </p:nvSpPr>
        <p:spPr>
          <a:xfrm>
            <a:off x="4526280" y="1783080"/>
            <a:ext cx="3657600" cy="256032"/>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KNOWLEDGE</a:t>
            </a:r>
          </a:p>
        </p:txBody>
      </p:sp>
      <p:sp>
        <p:nvSpPr>
          <p:cNvPr id="13" name="Rounded Rectangle 12"/>
          <p:cNvSpPr/>
          <p:nvPr/>
        </p:nvSpPr>
        <p:spPr>
          <a:xfrm>
            <a:off x="4526280" y="2093976"/>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2093976"/>
            <a:ext cx="64008" cy="7452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2093976"/>
            <a:ext cx="566928" cy="745236"/>
          </a:xfrm>
          <a:prstGeom prst="rect">
            <a:avLst/>
          </a:prstGeom>
          <a:noFill/>
        </p:spPr>
        <p:txBody>
          <a:bodyPr wrap="square" lIns="18288" rIns="18288" tIns="9144" bIns="9144" anchor="ctr">
            <a:spAutoFit/>
          </a:bodyPr>
          <a:lstStyle/>
          <a:p>
            <a:pPr>
              <a:lnSpc>
                <a:spcPct val="100000"/>
              </a:lnSpc>
              <a:defRPr sz="1500" b="1">
                <a:solidFill>
                  <a:srgbClr val="D97757"/>
                </a:solidFill>
                <a:latin typeface="Cambria"/>
              </a:defRPr>
            </a:pPr>
            <a:r>
              <a:t>K2</a:t>
            </a:r>
          </a:p>
        </p:txBody>
      </p:sp>
      <p:sp>
        <p:nvSpPr>
          <p:cNvPr id="16" name="TextBox 15"/>
          <p:cNvSpPr txBox="1"/>
          <p:nvPr/>
        </p:nvSpPr>
        <p:spPr>
          <a:xfrm>
            <a:off x="5312664" y="2093976"/>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Types of solutions to rectify quality issues</a:t>
            </a:r>
          </a:p>
        </p:txBody>
      </p:sp>
      <p:sp>
        <p:nvSpPr>
          <p:cNvPr id="17" name="Rounded Rectangle 16"/>
          <p:cNvSpPr/>
          <p:nvPr/>
        </p:nvSpPr>
        <p:spPr>
          <a:xfrm>
            <a:off x="4526280" y="2930652"/>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2930652"/>
            <a:ext cx="64008" cy="7452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2930652"/>
            <a:ext cx="566928" cy="745236"/>
          </a:xfrm>
          <a:prstGeom prst="rect">
            <a:avLst/>
          </a:prstGeom>
          <a:noFill/>
        </p:spPr>
        <p:txBody>
          <a:bodyPr wrap="square" lIns="18288" rIns="18288" tIns="9144" bIns="9144" anchor="ctr">
            <a:spAutoFit/>
          </a:bodyPr>
          <a:lstStyle/>
          <a:p>
            <a:pPr>
              <a:lnSpc>
                <a:spcPct val="100000"/>
              </a:lnSpc>
              <a:defRPr sz="1500" b="1">
                <a:solidFill>
                  <a:srgbClr val="D97757"/>
                </a:solidFill>
                <a:latin typeface="Cambria"/>
              </a:defRPr>
            </a:pPr>
            <a:r>
              <a:t>K3</a:t>
            </a:r>
          </a:p>
        </p:txBody>
      </p:sp>
      <p:sp>
        <p:nvSpPr>
          <p:cNvPr id="20" name="TextBox 19"/>
          <p:cNvSpPr txBox="1"/>
          <p:nvPr/>
        </p:nvSpPr>
        <p:spPr>
          <a:xfrm>
            <a:off x="5312664" y="2930652"/>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Parameters to assess video quality</a:t>
            </a:r>
          </a:p>
        </p:txBody>
      </p:sp>
      <p:sp>
        <p:nvSpPr>
          <p:cNvPr id="21" name="TextBox 20"/>
          <p:cNvSpPr txBox="1"/>
          <p:nvPr/>
        </p:nvSpPr>
        <p:spPr>
          <a:xfrm>
            <a:off x="4526280" y="3822191"/>
            <a:ext cx="3657600"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ABILITIES</a:t>
            </a:r>
          </a:p>
        </p:txBody>
      </p:sp>
      <p:sp>
        <p:nvSpPr>
          <p:cNvPr id="22" name="Rounded Rectangle 21"/>
          <p:cNvSpPr/>
          <p:nvPr/>
        </p:nvSpPr>
        <p:spPr>
          <a:xfrm>
            <a:off x="4526280" y="4133087"/>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26280" y="4133087"/>
            <a:ext cx="64008" cy="7452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4133087"/>
            <a:ext cx="566928" cy="745236"/>
          </a:xfrm>
          <a:prstGeom prst="rect">
            <a:avLst/>
          </a:prstGeom>
          <a:noFill/>
        </p:spPr>
        <p:txBody>
          <a:bodyPr wrap="square" lIns="18288" rIns="18288" tIns="9144" bIns="9144" anchor="ctr">
            <a:spAutoFit/>
          </a:bodyPr>
          <a:lstStyle/>
          <a:p>
            <a:pPr>
              <a:lnSpc>
                <a:spcPct val="100000"/>
              </a:lnSpc>
              <a:defRPr sz="1500" b="1">
                <a:solidFill>
                  <a:srgbClr val="3A7D7B"/>
                </a:solidFill>
                <a:latin typeface="Cambria"/>
              </a:defRPr>
            </a:pPr>
            <a:r>
              <a:t>A4</a:t>
            </a:r>
          </a:p>
        </p:txBody>
      </p:sp>
      <p:sp>
        <p:nvSpPr>
          <p:cNvPr id="25" name="TextBox 24"/>
          <p:cNvSpPr txBox="1"/>
          <p:nvPr/>
        </p:nvSpPr>
        <p:spPr>
          <a:xfrm>
            <a:off x="5312664" y="4133087"/>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Review edited footage to propose changes that will enhance the story and emotions in each scene</a:t>
            </a:r>
          </a:p>
        </p:txBody>
      </p:sp>
      <p:sp>
        <p:nvSpPr>
          <p:cNvPr id="26" name="Rounded Rectangle 25"/>
          <p:cNvSpPr/>
          <p:nvPr/>
        </p:nvSpPr>
        <p:spPr>
          <a:xfrm>
            <a:off x="4526280" y="4969764"/>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26280" y="4969764"/>
            <a:ext cx="64008" cy="7452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4969764"/>
            <a:ext cx="566928" cy="745236"/>
          </a:xfrm>
          <a:prstGeom prst="rect">
            <a:avLst/>
          </a:prstGeom>
          <a:noFill/>
        </p:spPr>
        <p:txBody>
          <a:bodyPr wrap="square" lIns="18288" rIns="18288" tIns="9144" bIns="9144" anchor="ctr">
            <a:spAutoFit/>
          </a:bodyPr>
          <a:lstStyle/>
          <a:p>
            <a:pPr>
              <a:lnSpc>
                <a:spcPct val="100000"/>
              </a:lnSpc>
              <a:defRPr sz="1500" b="1">
                <a:solidFill>
                  <a:srgbClr val="3A7D7B"/>
                </a:solidFill>
                <a:latin typeface="Cambria"/>
              </a:defRPr>
            </a:pPr>
            <a:r>
              <a:t>A5</a:t>
            </a:r>
          </a:p>
        </p:txBody>
      </p:sp>
      <p:sp>
        <p:nvSpPr>
          <p:cNvPr id="29" name="TextBox 28"/>
          <p:cNvSpPr txBox="1"/>
          <p:nvPr/>
        </p:nvSpPr>
        <p:spPr>
          <a:xfrm>
            <a:off x="5312664" y="4969764"/>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Assess edited footage against technical parameters to ensure alignment to requirements</a:t>
            </a:r>
          </a:p>
        </p:txBody>
      </p:sp>
    </p:spTree>
  </p:cSld>
  <p:clrMapOvr>
    <a:masterClrMapping/>
  </p:clrMapOvr>
  <p:transition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VIDEO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Video Generator vs a Video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generator makes a clip. An agent runs the production.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Video generator</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One prompt in, one 5-10 second clip out.</a:t>
            </a:r>
          </a:p>
        </p:txBody>
      </p:sp>
      <p:sp>
        <p:nvSpPr>
          <p:cNvPr id="13" name="Rectangle 12"/>
          <p:cNvSpPr/>
          <p:nvPr/>
        </p:nvSpPr>
        <p:spPr>
          <a:xfrm>
            <a:off x="804672" y="367588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You write every shot prompt and stitch the clips.</a:t>
            </a:r>
          </a:p>
        </p:txBody>
      </p:sp>
      <p:sp>
        <p:nvSpPr>
          <p:cNvPr id="15" name="Rectangle 14"/>
          <p:cNvSpPr/>
          <p:nvPr/>
        </p:nvSpPr>
        <p:spPr>
          <a:xfrm>
            <a:off x="804672" y="4343399"/>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Keeping a character consistent is your problem.</a:t>
            </a:r>
          </a:p>
        </p:txBody>
      </p:sp>
      <p:sp>
        <p:nvSpPr>
          <p:cNvPr id="17" name="Rectangle 16"/>
          <p:cNvSpPr/>
          <p:nvPr/>
        </p:nvSpPr>
        <p:spPr>
          <a:xfrm>
            <a:off x="804672" y="5010912"/>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No memory of the last clip or your brief.</a:t>
            </a:r>
          </a:p>
        </p:txBody>
      </p:sp>
      <p:sp>
        <p:nvSpPr>
          <p:cNvPr id="19" name="Rounded Rectangle 18"/>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Video agent (Flova)</a:t>
            </a:r>
          </a:p>
        </p:txBody>
      </p:sp>
      <p:sp>
        <p:nvSpPr>
          <p:cNvPr id="22" name="Rectangle 21"/>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One conversation in, a finished, edited video out.</a:t>
            </a:r>
          </a:p>
        </p:txBody>
      </p:sp>
      <p:sp>
        <p:nvSpPr>
          <p:cNvPr id="24" name="Rectangle 23"/>
          <p:cNvSpPr/>
          <p:nvPr/>
        </p:nvSpPr>
        <p:spPr>
          <a:xfrm>
            <a:off x="6473951" y="367588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It writes the brief, storyboard and shot prompts with you.</a:t>
            </a:r>
          </a:p>
        </p:txBody>
      </p:sp>
      <p:sp>
        <p:nvSpPr>
          <p:cNvPr id="26" name="Rectangle 25"/>
          <p:cNvSpPr/>
          <p:nvPr/>
        </p:nvSpPr>
        <p:spPr>
          <a:xfrm>
            <a:off x="6473951" y="4343399"/>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7"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Elements lock characters across every shot.</a:t>
            </a:r>
          </a:p>
        </p:txBody>
      </p:sp>
      <p:sp>
        <p:nvSpPr>
          <p:cNvPr id="28" name="Rectangle 27"/>
          <p:cNvSpPr/>
          <p:nvPr/>
        </p:nvSpPr>
        <p:spPr>
          <a:xfrm>
            <a:off x="6473951" y="5010912"/>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7"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Pauses at checkpoints; you can edit any shot or the timeline.</a:t>
            </a:r>
          </a:p>
        </p:txBody>
      </p:sp>
    </p:spTree>
  </p:cSld>
  <p:clrMapOvr>
    <a:masterClrMapping/>
  </p:clrMapOvr>
  <p:transition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FLOVA</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Flova — an All-in-One Video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flova.ai · "More than an AI video generator — your all-in-one video agent."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8" name="Rectangle 7"/>
          <p:cNvSpPr/>
          <p:nvPr/>
        </p:nvSpPr>
        <p:spPr>
          <a:xfrm>
            <a:off x="512064" y="2048255"/>
            <a:ext cx="6320332" cy="3977639"/>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lova-home.png"/>
          <p:cNvPicPr>
            <a:picLocks noChangeAspect="1"/>
          </p:cNvPicPr>
          <p:nvPr/>
        </p:nvPicPr>
        <p:blipFill>
          <a:blip r:embed="rId2"/>
          <a:stretch>
            <a:fillRect/>
          </a:stretch>
        </p:blipFill>
        <p:spPr>
          <a:xfrm>
            <a:off x="548640" y="2084831"/>
            <a:ext cx="6247180" cy="3904487"/>
          </a:xfrm>
          <a:prstGeom prst="rect">
            <a:avLst/>
          </a:prstGeom>
        </p:spPr>
      </p:pic>
      <p:sp>
        <p:nvSpPr>
          <p:cNvPr id="10" name="Rectangle 9"/>
          <p:cNvSpPr/>
          <p:nvPr/>
        </p:nvSpPr>
        <p:spPr>
          <a:xfrm>
            <a:off x="7161580"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2748" y="2130551"/>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chat, a whole crew</a:t>
            </a:r>
          </a:p>
        </p:txBody>
      </p:sp>
      <p:sp>
        <p:nvSpPr>
          <p:cNvPr id="12" name="TextBox 11"/>
          <p:cNvSpPr txBox="1"/>
          <p:nvPr/>
        </p:nvSpPr>
        <p:spPr>
          <a:xfrm>
            <a:off x="7362748" y="2459735"/>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Script, storyboard, images, video, voice, music and editing in one project.</a:t>
            </a:r>
          </a:p>
        </p:txBody>
      </p:sp>
      <p:sp>
        <p:nvSpPr>
          <p:cNvPr id="13" name="Rectangle 12"/>
          <p:cNvSpPr/>
          <p:nvPr/>
        </p:nvSpPr>
        <p:spPr>
          <a:xfrm>
            <a:off x="7161580" y="3145536"/>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2748" y="3072384"/>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Many models</a:t>
            </a:r>
          </a:p>
        </p:txBody>
      </p:sp>
      <p:sp>
        <p:nvSpPr>
          <p:cNvPr id="15" name="TextBox 14"/>
          <p:cNvSpPr txBox="1"/>
          <p:nvPr/>
        </p:nvSpPr>
        <p:spPr>
          <a:xfrm>
            <a:off x="7362748" y="3401568"/>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Picks image, video, music and narration models for each job; you can choose them.</a:t>
            </a:r>
          </a:p>
        </p:txBody>
      </p:sp>
      <p:sp>
        <p:nvSpPr>
          <p:cNvPr id="16" name="Rectangle 15"/>
          <p:cNvSpPr/>
          <p:nvPr/>
        </p:nvSpPr>
        <p:spPr>
          <a:xfrm>
            <a:off x="7161580" y="40873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2748" y="4014216"/>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Skills</a:t>
            </a:r>
          </a:p>
        </p:txBody>
      </p:sp>
      <p:sp>
        <p:nvSpPr>
          <p:cNvPr id="18" name="TextBox 17"/>
          <p:cNvSpPr txBox="1"/>
          <p:nvPr/>
        </p:nvSpPr>
        <p:spPr>
          <a:xfrm>
            <a:off x="7362748" y="4343400"/>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Save your workflow and taste as a reusable Skill.</a:t>
            </a:r>
          </a:p>
        </p:txBody>
      </p:sp>
      <p:sp>
        <p:nvSpPr>
          <p:cNvPr id="19" name="Rectangle 18"/>
          <p:cNvSpPr/>
          <p:nvPr/>
        </p:nvSpPr>
        <p:spPr>
          <a:xfrm>
            <a:off x="7161580" y="5029200"/>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2748" y="4956048"/>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Getting started</a:t>
            </a:r>
          </a:p>
        </p:txBody>
      </p:sp>
      <p:sp>
        <p:nvSpPr>
          <p:cNvPr id="21" name="TextBox 20"/>
          <p:cNvSpPr txBox="1"/>
          <p:nvPr/>
        </p:nvSpPr>
        <p:spPr>
          <a:xfrm>
            <a:off x="7362748" y="5285232"/>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Sign up for free credits; paid plans add credits and concurrency. Check the live page.</a:t>
            </a:r>
          </a:p>
        </p:txBody>
      </p:sp>
    </p:spTree>
  </p:cSld>
  <p:clrMapOvr>
    <a:masterClrMapping/>
  </p:clrMapOvr>
  <p:transition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FLOVA</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Flova Workspace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left sidebar — where each part of the job lives.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AREA</a:t>
            </a:r>
          </a:p>
        </p:txBody>
      </p:sp>
      <p:sp>
        <p:nvSpPr>
          <p:cNvPr id="10" name="TextBox 9"/>
          <p:cNvSpPr txBox="1"/>
          <p:nvPr/>
        </p:nvSpPr>
        <p:spPr>
          <a:xfrm>
            <a:off x="2962656"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HOLDS</a:t>
            </a:r>
          </a:p>
        </p:txBody>
      </p:sp>
      <p:sp>
        <p:nvSpPr>
          <p:cNvPr id="11" name="TextBox 10"/>
          <p:cNvSpPr txBox="1"/>
          <p:nvPr/>
        </p:nvSpPr>
        <p:spPr>
          <a:xfrm>
            <a:off x="8273491"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 USE IT TO</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Projects</a:t>
            </a:r>
          </a:p>
        </p:txBody>
      </p:sp>
      <p:sp>
        <p:nvSpPr>
          <p:cNvPr id="14" name="TextBox 13"/>
          <p:cNvSpPr txBox="1"/>
          <p:nvPr/>
        </p:nvSpPr>
        <p:spPr>
          <a:xfrm>
            <a:off x="2962656" y="2560320"/>
            <a:ext cx="503651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Each video: chat, storyboard, media and timeline.</a:t>
            </a:r>
          </a:p>
        </p:txBody>
      </p:sp>
      <p:sp>
        <p:nvSpPr>
          <p:cNvPr id="15" name="TextBox 14"/>
          <p:cNvSpPr txBox="1"/>
          <p:nvPr/>
        </p:nvSpPr>
        <p:spPr>
          <a:xfrm>
            <a:off x="8273491" y="25603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Make Episode 1 (Lab 3).</a:t>
            </a:r>
          </a:p>
        </p:txBody>
      </p:sp>
      <p:sp>
        <p:nvSpPr>
          <p:cNvPr id="16" name="TextBox 15"/>
          <p:cNvSpPr txBox="1"/>
          <p:nvPr/>
        </p:nvSpPr>
        <p:spPr>
          <a:xfrm>
            <a:off x="749808" y="30937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Element</a:t>
            </a:r>
          </a:p>
        </p:txBody>
      </p:sp>
      <p:sp>
        <p:nvSpPr>
          <p:cNvPr id="17" name="TextBox 16"/>
          <p:cNvSpPr txBox="1"/>
          <p:nvPr/>
        </p:nvSpPr>
        <p:spPr>
          <a:xfrm>
            <a:off x="2962656" y="3093720"/>
            <a:ext cx="503651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Reusable characters and props with reference sheets.</a:t>
            </a:r>
          </a:p>
        </p:txBody>
      </p:sp>
      <p:sp>
        <p:nvSpPr>
          <p:cNvPr id="18" name="TextBox 17"/>
          <p:cNvSpPr txBox="1"/>
          <p:nvPr/>
        </p:nvSpPr>
        <p:spPr>
          <a:xfrm>
            <a:off x="8273491" y="30937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Lock Rachel, Ah Ma and the tin.</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a:t>
            </a:r>
          </a:p>
        </p:txBody>
      </p:sp>
      <p:sp>
        <p:nvSpPr>
          <p:cNvPr id="21" name="TextBox 20"/>
          <p:cNvSpPr txBox="1"/>
          <p:nvPr/>
        </p:nvSpPr>
        <p:spPr>
          <a:xfrm>
            <a:off x="2962656" y="3627120"/>
            <a:ext cx="503651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Saved workflows — yours and the community's.</a:t>
            </a:r>
          </a:p>
        </p:txBody>
      </p:sp>
      <p:sp>
        <p:nvSpPr>
          <p:cNvPr id="22" name="TextBox 21"/>
          <p:cNvSpPr txBox="1"/>
          <p:nvPr/>
        </p:nvSpPr>
        <p:spPr>
          <a:xfrm>
            <a:off x="8273491" y="36271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Reuse the episode style.</a:t>
            </a:r>
          </a:p>
        </p:txBody>
      </p:sp>
      <p:sp>
        <p:nvSpPr>
          <p:cNvPr id="23" name="TextBox 22"/>
          <p:cNvSpPr txBox="1"/>
          <p:nvPr/>
        </p:nvSpPr>
        <p:spPr>
          <a:xfrm>
            <a:off x="749808" y="41605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Asset Library</a:t>
            </a:r>
          </a:p>
        </p:txBody>
      </p:sp>
      <p:sp>
        <p:nvSpPr>
          <p:cNvPr id="24" name="TextBox 23"/>
          <p:cNvSpPr txBox="1"/>
          <p:nvPr/>
        </p:nvSpPr>
        <p:spPr>
          <a:xfrm>
            <a:off x="2962656" y="4160520"/>
            <a:ext cx="503651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Uploaded and generated media.</a:t>
            </a:r>
          </a:p>
        </p:txBody>
      </p:sp>
      <p:sp>
        <p:nvSpPr>
          <p:cNvPr id="25" name="TextBox 24"/>
          <p:cNvSpPr txBox="1"/>
          <p:nvPr/>
        </p:nvSpPr>
        <p:spPr>
          <a:xfrm>
            <a:off x="8273491" y="41605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Reuse shots, music and logos.</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Explore</a:t>
            </a:r>
          </a:p>
        </p:txBody>
      </p:sp>
      <p:sp>
        <p:nvSpPr>
          <p:cNvPr id="28" name="TextBox 27"/>
          <p:cNvSpPr txBox="1"/>
          <p:nvPr/>
        </p:nvSpPr>
        <p:spPr>
          <a:xfrm>
            <a:off x="2962656" y="4693920"/>
            <a:ext cx="503651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Example videos and how they were made.</a:t>
            </a:r>
          </a:p>
        </p:txBody>
      </p:sp>
      <p:sp>
        <p:nvSpPr>
          <p:cNvPr id="29" name="TextBox 28"/>
          <p:cNvSpPr txBox="1"/>
          <p:nvPr/>
        </p:nvSpPr>
        <p:spPr>
          <a:xfrm>
            <a:off x="8273491" y="46939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Learn from others' creation process.</a:t>
            </a:r>
          </a:p>
        </p:txBody>
      </p:sp>
      <p:sp>
        <p:nvSpPr>
          <p:cNvPr id="30" name="TextBox 29"/>
          <p:cNvSpPr txBox="1"/>
          <p:nvPr/>
        </p:nvSpPr>
        <p:spPr>
          <a:xfrm>
            <a:off x="749808" y="5227319"/>
            <a:ext cx="193852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Plugin / CLI</a:t>
            </a:r>
          </a:p>
        </p:txBody>
      </p:sp>
      <p:sp>
        <p:nvSpPr>
          <p:cNvPr id="31" name="TextBox 30"/>
          <p:cNvSpPr txBox="1"/>
          <p:nvPr/>
        </p:nvSpPr>
        <p:spPr>
          <a:xfrm>
            <a:off x="2962656" y="5227319"/>
            <a:ext cx="503651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 Flova to other agents.</a:t>
            </a:r>
          </a:p>
        </p:txBody>
      </p:sp>
      <p:sp>
        <p:nvSpPr>
          <p:cNvPr id="32" name="TextBox 31"/>
          <p:cNvSpPr txBox="1"/>
          <p:nvPr/>
        </p:nvSpPr>
        <p:spPr>
          <a:xfrm>
            <a:off x="8273491" y="5227319"/>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Drive Flova from Hermes (Lab 5).</a:t>
            </a:r>
          </a:p>
        </p:txBody>
      </p:sp>
    </p:spTree>
  </p:cSld>
  <p:clrMapOvr>
    <a:masterClrMapping/>
  </p:clrMapOvr>
  <p:transition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FLOVA</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Flova Produces a Video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agent's pipeline — you approve at the checkpoints.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8" name="Pentagon 7"/>
          <p:cNvSpPr/>
          <p:nvPr/>
        </p:nvSpPr>
        <p:spPr>
          <a:xfrm>
            <a:off x="548640" y="2084831"/>
            <a:ext cx="1658982"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512678"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512678"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256646"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Creative Brief</a:t>
            </a:r>
          </a:p>
        </p:txBody>
      </p:sp>
      <p:sp>
        <p:nvSpPr>
          <p:cNvPr id="12" name="TextBox 11"/>
          <p:cNvSpPr txBox="1"/>
          <p:nvPr/>
        </p:nvSpPr>
        <p:spPr>
          <a:xfrm>
            <a:off x="676656" y="3730752"/>
            <a:ext cx="1256646"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Name, type, audience, language, ratio, duration, style, sound.</a:t>
            </a:r>
          </a:p>
        </p:txBody>
      </p:sp>
      <p:sp>
        <p:nvSpPr>
          <p:cNvPr id="13" name="Chevron 12"/>
          <p:cNvSpPr/>
          <p:nvPr/>
        </p:nvSpPr>
        <p:spPr>
          <a:xfrm>
            <a:off x="2116182" y="2084831"/>
            <a:ext cx="1658982"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207622" y="2962656"/>
            <a:ext cx="1421238"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07622" y="2962656"/>
            <a:ext cx="1421238"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35638" y="3127248"/>
            <a:ext cx="1165206"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Script</a:t>
            </a:r>
          </a:p>
        </p:txBody>
      </p:sp>
      <p:sp>
        <p:nvSpPr>
          <p:cNvPr id="17" name="TextBox 16"/>
          <p:cNvSpPr txBox="1"/>
          <p:nvPr/>
        </p:nvSpPr>
        <p:spPr>
          <a:xfrm>
            <a:off x="2335638" y="3730752"/>
            <a:ext cx="1165206"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story and narration, from your idea or your file.</a:t>
            </a:r>
          </a:p>
        </p:txBody>
      </p:sp>
      <p:sp>
        <p:nvSpPr>
          <p:cNvPr id="18" name="Chevron 17"/>
          <p:cNvSpPr/>
          <p:nvPr/>
        </p:nvSpPr>
        <p:spPr>
          <a:xfrm>
            <a:off x="3683725" y="2084831"/>
            <a:ext cx="1658982"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3775165" y="2962656"/>
            <a:ext cx="1421238"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75165" y="2962656"/>
            <a:ext cx="1421238"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181" y="3127248"/>
            <a:ext cx="1165206"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Storyboard</a:t>
            </a:r>
          </a:p>
        </p:txBody>
      </p:sp>
      <p:sp>
        <p:nvSpPr>
          <p:cNvPr id="22" name="TextBox 21"/>
          <p:cNvSpPr txBox="1"/>
          <p:nvPr/>
        </p:nvSpPr>
        <p:spPr>
          <a:xfrm>
            <a:off x="3903181" y="3730752"/>
            <a:ext cx="1165206"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Scenes and shots with duration, camera and characters.</a:t>
            </a:r>
          </a:p>
        </p:txBody>
      </p:sp>
      <p:sp>
        <p:nvSpPr>
          <p:cNvPr id="23" name="Chevron 22"/>
          <p:cNvSpPr/>
          <p:nvPr/>
        </p:nvSpPr>
        <p:spPr>
          <a:xfrm>
            <a:off x="5251268" y="2084831"/>
            <a:ext cx="1658982"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5342708" y="2962656"/>
            <a:ext cx="1421238"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42708" y="2962656"/>
            <a:ext cx="1421238"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70724" y="3127248"/>
            <a:ext cx="1165206"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Visual strategy</a:t>
            </a:r>
          </a:p>
        </p:txBody>
      </p:sp>
      <p:sp>
        <p:nvSpPr>
          <p:cNvPr id="27" name="TextBox 26"/>
          <p:cNvSpPr txBox="1"/>
          <p:nvPr/>
        </p:nvSpPr>
        <p:spPr>
          <a:xfrm>
            <a:off x="5470724" y="3730752"/>
            <a:ext cx="1165206"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Which model makes which shot; the look.</a:t>
            </a:r>
          </a:p>
        </p:txBody>
      </p:sp>
      <p:sp>
        <p:nvSpPr>
          <p:cNvPr id="28" name="Chevron 27"/>
          <p:cNvSpPr/>
          <p:nvPr/>
        </p:nvSpPr>
        <p:spPr>
          <a:xfrm>
            <a:off x="6818811" y="2084831"/>
            <a:ext cx="1658982"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6910251" y="2962656"/>
            <a:ext cx="1421238"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10251" y="2962656"/>
            <a:ext cx="1421238"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38267" y="3127248"/>
            <a:ext cx="1165206"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Generation</a:t>
            </a:r>
          </a:p>
        </p:txBody>
      </p:sp>
      <p:sp>
        <p:nvSpPr>
          <p:cNvPr id="32" name="TextBox 31"/>
          <p:cNvSpPr txBox="1"/>
          <p:nvPr/>
        </p:nvSpPr>
        <p:spPr>
          <a:xfrm>
            <a:off x="7038267" y="3730752"/>
            <a:ext cx="1165206"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Images, video, voice and music — in parallel.</a:t>
            </a:r>
          </a:p>
        </p:txBody>
      </p:sp>
      <p:sp>
        <p:nvSpPr>
          <p:cNvPr id="33" name="Chevron 32"/>
          <p:cNvSpPr/>
          <p:nvPr/>
        </p:nvSpPr>
        <p:spPr>
          <a:xfrm>
            <a:off x="8386354" y="2084831"/>
            <a:ext cx="1658982"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8477794" y="2962656"/>
            <a:ext cx="1421238"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77794" y="2962656"/>
            <a:ext cx="1421238"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05810" y="3127248"/>
            <a:ext cx="1165206"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Rough cut</a:t>
            </a:r>
          </a:p>
        </p:txBody>
      </p:sp>
      <p:sp>
        <p:nvSpPr>
          <p:cNvPr id="37" name="TextBox 36"/>
          <p:cNvSpPr txBox="1"/>
          <p:nvPr/>
        </p:nvSpPr>
        <p:spPr>
          <a:xfrm>
            <a:off x="8605810" y="3730752"/>
            <a:ext cx="1165206"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Clips, narration and music on the timeline.</a:t>
            </a:r>
          </a:p>
        </p:txBody>
      </p:sp>
      <p:sp>
        <p:nvSpPr>
          <p:cNvPr id="38" name="Chevron 37"/>
          <p:cNvSpPr/>
          <p:nvPr/>
        </p:nvSpPr>
        <p:spPr>
          <a:xfrm>
            <a:off x="9953897" y="2084831"/>
            <a:ext cx="1658982" cy="731520"/>
          </a:xfrm>
          <a:prstGeom prst="chevron">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07</a:t>
            </a:r>
          </a:p>
        </p:txBody>
      </p:sp>
      <p:sp>
        <p:nvSpPr>
          <p:cNvPr id="39" name="Rounded Rectangle 38"/>
          <p:cNvSpPr/>
          <p:nvPr/>
        </p:nvSpPr>
        <p:spPr>
          <a:xfrm>
            <a:off x="10045337" y="2962656"/>
            <a:ext cx="1421238"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045337" y="2962656"/>
            <a:ext cx="1421238"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73353" y="3127248"/>
            <a:ext cx="1165206"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Export</a:t>
            </a:r>
          </a:p>
        </p:txBody>
      </p:sp>
      <p:sp>
        <p:nvSpPr>
          <p:cNvPr id="42" name="TextBox 41"/>
          <p:cNvSpPr txBox="1"/>
          <p:nvPr/>
        </p:nvSpPr>
        <p:spPr>
          <a:xfrm>
            <a:off x="10173353" y="3730752"/>
            <a:ext cx="1165206"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video, or all project files.</a:t>
            </a:r>
          </a:p>
        </p:txBody>
      </p:sp>
    </p:spTree>
  </p:cSld>
  <p:clrMapOvr>
    <a:masterClrMapping/>
  </p:clrMapOvr>
  <p:transition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FLOVA</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Creative Brief Card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Flova asks for your brief as a form. Every field is a decision you made in Lab 1.</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FIELD</a:t>
            </a:r>
          </a:p>
        </p:txBody>
      </p:sp>
      <p:sp>
        <p:nvSpPr>
          <p:cNvPr id="10" name="TextBox 9"/>
          <p:cNvSpPr txBox="1"/>
          <p:nvPr/>
        </p:nvSpPr>
        <p:spPr>
          <a:xfrm>
            <a:off x="3405225"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EPISODE 1 ANSWER</a:t>
            </a:r>
          </a:p>
        </p:txBody>
      </p:sp>
      <p:sp>
        <p:nvSpPr>
          <p:cNvPr id="11" name="TextBox 10"/>
          <p:cNvSpPr txBox="1"/>
          <p:nvPr/>
        </p:nvSpPr>
        <p:spPr>
          <a:xfrm>
            <a:off x="7830921"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WHY IT MATTERS</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Project name / Video type</a:t>
            </a:r>
          </a:p>
        </p:txBody>
      </p:sp>
      <p:sp>
        <p:nvSpPr>
          <p:cNvPr id="14" name="TextBox 13"/>
          <p:cNvSpPr txBox="1"/>
          <p:nvPr/>
        </p:nvSpPr>
        <p:spPr>
          <a:xfrm>
            <a:off x="3405225" y="25603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EP01 The Rainy-Day Tin · narrative short</a:t>
            </a:r>
          </a:p>
        </p:txBody>
      </p:sp>
      <p:sp>
        <p:nvSpPr>
          <p:cNvPr id="15" name="TextBox 14"/>
          <p:cNvSpPr txBox="1"/>
          <p:nvPr/>
        </p:nvSpPr>
        <p:spPr>
          <a:xfrm>
            <a:off x="7830921" y="25603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Sets the structure the agent proposes.</a:t>
            </a:r>
          </a:p>
        </p:txBody>
      </p:sp>
      <p:sp>
        <p:nvSpPr>
          <p:cNvPr id="16" name="TextBox 15"/>
          <p:cNvSpPr txBox="1"/>
          <p:nvPr/>
        </p:nvSpPr>
        <p:spPr>
          <a:xfrm>
            <a:off x="749808" y="30937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Target audience</a:t>
            </a:r>
          </a:p>
        </p:txBody>
      </p:sp>
      <p:sp>
        <p:nvSpPr>
          <p:cNvPr id="17" name="TextBox 16"/>
          <p:cNvSpPr txBox="1"/>
          <p:nvPr/>
        </p:nvSpPr>
        <p:spPr>
          <a:xfrm>
            <a:off x="3405225" y="30937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Young working adults in Singapore</a:t>
            </a:r>
          </a:p>
        </p:txBody>
      </p:sp>
      <p:sp>
        <p:nvSpPr>
          <p:cNvPr id="18" name="TextBox 17"/>
          <p:cNvSpPr txBox="1"/>
          <p:nvPr/>
        </p:nvSpPr>
        <p:spPr>
          <a:xfrm>
            <a:off x="7830921" y="30937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Shapes tone, setting and language.</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Output language</a:t>
            </a:r>
          </a:p>
        </p:txBody>
      </p:sp>
      <p:sp>
        <p:nvSpPr>
          <p:cNvPr id="21" name="TextBox 20"/>
          <p:cNvSpPr txBox="1"/>
          <p:nvPr/>
        </p:nvSpPr>
        <p:spPr>
          <a:xfrm>
            <a:off x="3405225" y="36271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English</a:t>
            </a:r>
          </a:p>
        </p:txBody>
      </p:sp>
      <p:sp>
        <p:nvSpPr>
          <p:cNvPr id="22" name="TextBox 21"/>
          <p:cNvSpPr txBox="1"/>
          <p:nvPr/>
        </p:nvSpPr>
        <p:spPr>
          <a:xfrm>
            <a:off x="7830921" y="36271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Narration and captions.</a:t>
            </a:r>
          </a:p>
        </p:txBody>
      </p:sp>
      <p:sp>
        <p:nvSpPr>
          <p:cNvPr id="23" name="TextBox 22"/>
          <p:cNvSpPr txBox="1"/>
          <p:nvPr/>
        </p:nvSpPr>
        <p:spPr>
          <a:xfrm>
            <a:off x="749808" y="41605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Aspect ratio / duration</a:t>
            </a:r>
          </a:p>
        </p:txBody>
      </p:sp>
      <p:sp>
        <p:nvSpPr>
          <p:cNvPr id="24" name="TextBox 23"/>
          <p:cNvSpPr txBox="1"/>
          <p:nvPr/>
        </p:nvSpPr>
        <p:spPr>
          <a:xfrm>
            <a:off x="3405225" y="41605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9:16 · 60 seconds</a:t>
            </a:r>
          </a:p>
        </p:txBody>
      </p:sp>
      <p:sp>
        <p:nvSpPr>
          <p:cNvPr id="25" name="TextBox 24"/>
          <p:cNvSpPr txBox="1"/>
          <p:nvPr/>
        </p:nvSpPr>
        <p:spPr>
          <a:xfrm>
            <a:off x="7830921" y="41605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Framing and number of shots.</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Narrative driver / visual style</a:t>
            </a:r>
          </a:p>
        </p:txBody>
      </p:sp>
      <p:sp>
        <p:nvSpPr>
          <p:cNvPr id="28" name="TextBox 27"/>
          <p:cNvSpPr txBox="1"/>
          <p:nvPr/>
        </p:nvSpPr>
        <p:spPr>
          <a:xfrm>
            <a:off x="3405225" y="46939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Character-driven · warm slice-of-life, natural light</a:t>
            </a:r>
          </a:p>
        </p:txBody>
      </p:sp>
      <p:sp>
        <p:nvSpPr>
          <p:cNvPr id="29" name="TextBox 28"/>
          <p:cNvSpPr txBox="1"/>
          <p:nvPr/>
        </p:nvSpPr>
        <p:spPr>
          <a:xfrm>
            <a:off x="7830921" y="4693920"/>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look of every frame.</a:t>
            </a:r>
          </a:p>
        </p:txBody>
      </p:sp>
      <p:sp>
        <p:nvSpPr>
          <p:cNvPr id="30" name="TextBox 29"/>
          <p:cNvSpPr txBox="1"/>
          <p:nvPr/>
        </p:nvSpPr>
        <p:spPr>
          <a:xfrm>
            <a:off x="749808" y="5227319"/>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Sound tonality</a:t>
            </a:r>
          </a:p>
        </p:txBody>
      </p:sp>
      <p:sp>
        <p:nvSpPr>
          <p:cNvPr id="31" name="TextBox 30"/>
          <p:cNvSpPr txBox="1"/>
          <p:nvPr/>
        </p:nvSpPr>
        <p:spPr>
          <a:xfrm>
            <a:off x="3405225" y="5227319"/>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Gentle piano; quiet room tone</a:t>
            </a:r>
          </a:p>
        </p:txBody>
      </p:sp>
      <p:sp>
        <p:nvSpPr>
          <p:cNvPr id="32" name="TextBox 31"/>
          <p:cNvSpPr txBox="1"/>
          <p:nvPr/>
        </p:nvSpPr>
        <p:spPr>
          <a:xfrm>
            <a:off x="7830921" y="5227319"/>
            <a:ext cx="370880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emotion under the voice.</a:t>
            </a:r>
          </a:p>
        </p:txBody>
      </p:sp>
    </p:spTree>
  </p:cSld>
  <p:clrMapOvr>
    <a:masterClrMapping/>
  </p:clrMapOvr>
  <p:transition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CONSISTENCY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Elements: Locking Characters and Props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single biggest lever for consistency in AI video.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Create once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Describe the character from the bible; Flova designs a reference sheet you can edit or regenerate.</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Mention with @</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Put @Rachel in the project chat; every shot uses the same reference.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Faces and props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Elements work for objects too — the blue tin.</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Fix by reference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When a shot drifts, regenerate that shot "using @Rachel exactly".</a:t>
            </a:r>
          </a:p>
        </p:txBody>
      </p:sp>
    </p:spTree>
  </p:cSld>
  <p:clrMapOvr>
    <a:masterClrMapping/>
  </p:clrMapOvr>
  <p:transition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CHECKPOINTS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Pause at Checkpoints or Run Everything?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Flova can run the whole pipeline in one go, or stop at key points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Pause at key checkpoints</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You approve the brief, the storyboard and the look before media is made.</a:t>
            </a:r>
          </a:p>
        </p:txBody>
      </p:sp>
      <p:sp>
        <p:nvSpPr>
          <p:cNvPr id="13" name="Rectangle 12"/>
          <p:cNvSpPr/>
          <p:nvPr/>
        </p:nvSpPr>
        <p:spPr>
          <a:xfrm>
            <a:off x="804672" y="367588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Catches a wrong shot before it costs credits.</a:t>
            </a:r>
          </a:p>
        </p:txBody>
      </p:sp>
      <p:sp>
        <p:nvSpPr>
          <p:cNvPr id="15" name="Rectangle 14"/>
          <p:cNvSpPr/>
          <p:nvPr/>
        </p:nvSpPr>
        <p:spPr>
          <a:xfrm>
            <a:off x="804672" y="4343399"/>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Best for new series, new characters, anything important.</a:t>
            </a:r>
          </a:p>
        </p:txBody>
      </p:sp>
      <p:sp>
        <p:nvSpPr>
          <p:cNvPr id="17" name="Rectangle 16"/>
          <p:cNvSpPr/>
          <p:nvPr/>
        </p:nvSpPr>
        <p:spPr>
          <a:xfrm>
            <a:off x="804672" y="5010912"/>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This course: always pause.</a:t>
            </a:r>
          </a:p>
        </p:txBody>
      </p:sp>
      <p:sp>
        <p:nvSpPr>
          <p:cNvPr id="19" name="Rounded Rectangle 18"/>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Execute the whole process</a:t>
            </a:r>
          </a:p>
        </p:txBody>
      </p:sp>
      <p:sp>
        <p:nvSpPr>
          <p:cNvPr id="22" name="Rectangle 21"/>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Fastest: one confirmation, one finished cut.</a:t>
            </a:r>
          </a:p>
        </p:txBody>
      </p:sp>
      <p:sp>
        <p:nvSpPr>
          <p:cNvPr id="24" name="Rectangle 23"/>
          <p:cNvSpPr/>
          <p:nvPr/>
        </p:nvSpPr>
        <p:spPr>
          <a:xfrm>
            <a:off x="6473951" y="367588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Mistakes are found only at the end.</a:t>
            </a:r>
          </a:p>
        </p:txBody>
      </p:sp>
      <p:sp>
        <p:nvSpPr>
          <p:cNvPr id="26" name="Rectangle 25"/>
          <p:cNvSpPr/>
          <p:nvPr/>
        </p:nvSpPr>
        <p:spPr>
          <a:xfrm>
            <a:off x="6473951" y="4343399"/>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7"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Fine for a tested workflow saved as a Skill.</a:t>
            </a:r>
          </a:p>
        </p:txBody>
      </p:sp>
      <p:sp>
        <p:nvSpPr>
          <p:cNvPr id="28" name="Rectangle 27"/>
          <p:cNvSpPr/>
          <p:nvPr/>
        </p:nvSpPr>
        <p:spPr>
          <a:xfrm>
            <a:off x="6473951" y="5010912"/>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7"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Later episodes, once the style is proven.</a:t>
            </a:r>
          </a:p>
        </p:txBody>
      </p:sp>
    </p:spTree>
  </p:cSld>
  <p:clrMapOvr>
    <a:masterClrMapping/>
  </p:clrMapOvr>
  <p:transition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FLOVA</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Models, Credits and Resolution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generation spends credits. Spend them where they show.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Credits are the unit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Deducted by model, duration and resolution. Subscription credits are valid for 30 days.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low, finish high</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Make the rough cut at 720p; export the approved cut at 1080p.</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Regenerate one shot</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Fix the broken shot, not the whole video.</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Check the live page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Plans, bonuses and model prices change — confirm before you subscribe.</a:t>
            </a:r>
          </a:p>
        </p:txBody>
      </p:sp>
    </p:spTree>
  </p:cSld>
  <p:clrMapOvr>
    <a:masterClrMapping/>
  </p:clrMapOvr>
  <p:transition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MICRO-DRAMA</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a Micro-Drama Episode Works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Lessons from a full AI micro-drama workflow (Isa does AI, 2026).</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Lock the face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Attach a reference sheet from the first message.</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Pick a direction</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Ask for three story openings; choose one and steer.</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Cast for the twist</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Every character exists to set up the payoff.</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Five quick beats</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60-90 second arc with one clear reveal.</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Fix only what broke</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Regenerate the bad shots; keep the good ones.</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Caption and export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Auto captions, then a full-screen check.</a:t>
            </a:r>
          </a:p>
        </p:txBody>
      </p:sp>
    </p:spTree>
  </p:cSld>
  <p:clrMapOvr>
    <a:masterClrMapping/>
  </p:clrMapOvr>
  <p:transition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DIRECTING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Directing a Video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Six habits that turn credits into a usable cut.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Oval 7"/>
          <p:cNvSpPr/>
          <p:nvPr/>
        </p:nvSpPr>
        <p:spPr>
          <a:xfrm>
            <a:off x="640080" y="2139696"/>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9" name="TextBox 8"/>
          <p:cNvSpPr txBox="1"/>
          <p:nvPr/>
        </p:nvSpPr>
        <p:spPr>
          <a:xfrm>
            <a:off x="1261872" y="2084831"/>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Brief before prompts  </a:t>
            </a:r>
            <a:r>
              <a:rPr sz="1450">
                <a:solidFill>
                  <a:srgbClr val="6B6862"/>
                </a:solidFill>
                <a:latin typeface="Calibri"/>
              </a:rPr>
              <a:t>Fill the Creative Brief from your Lab 1 brief, not from memory.</a:t>
            </a:r>
          </a:p>
        </p:txBody>
      </p:sp>
      <p:sp>
        <p:nvSpPr>
          <p:cNvPr id="10" name="Oval 9"/>
          <p:cNvSpPr/>
          <p:nvPr/>
        </p:nvSpPr>
        <p:spPr>
          <a:xfrm>
            <a:off x="640080" y="2752344"/>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11" name="TextBox 10"/>
          <p:cNvSpPr txBox="1"/>
          <p:nvPr/>
        </p:nvSpPr>
        <p:spPr>
          <a:xfrm>
            <a:off x="1261872" y="2697479"/>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Bring your storyboard  </a:t>
            </a:r>
            <a:r>
              <a:rPr sz="1450">
                <a:solidFill>
                  <a:srgbClr val="6B6862"/>
                </a:solidFill>
                <a:latin typeface="Calibri"/>
              </a:rPr>
              <a:t>Attach it; correct the agent's storyboard to match.</a:t>
            </a:r>
          </a:p>
        </p:txBody>
      </p:sp>
      <p:sp>
        <p:nvSpPr>
          <p:cNvPr id="12" name="Oval 11"/>
          <p:cNvSpPr/>
          <p:nvPr/>
        </p:nvSpPr>
        <p:spPr>
          <a:xfrm>
            <a:off x="640080" y="3364991"/>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3" name="TextBox 12"/>
          <p:cNvSpPr txBox="1"/>
          <p:nvPr/>
        </p:nvSpPr>
        <p:spPr>
          <a:xfrm>
            <a:off x="1261872" y="3310127"/>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Lock references  </a:t>
            </a:r>
            <a:r>
              <a:rPr sz="1450">
                <a:solidFill>
                  <a:srgbClr val="6B6862"/>
                </a:solidFill>
                <a:latin typeface="Calibri"/>
              </a:rPr>
              <a:t>Elements for every character and important prop.</a:t>
            </a:r>
          </a:p>
        </p:txBody>
      </p:sp>
      <p:sp>
        <p:nvSpPr>
          <p:cNvPr id="14" name="Oval 13"/>
          <p:cNvSpPr/>
          <p:nvPr/>
        </p:nvSpPr>
        <p:spPr>
          <a:xfrm>
            <a:off x="640080" y="3977639"/>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5" name="TextBox 14"/>
          <p:cNvSpPr txBox="1"/>
          <p:nvPr/>
        </p:nvSpPr>
        <p:spPr>
          <a:xfrm>
            <a:off x="1261872" y="3922775"/>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One shot, one action  </a:t>
            </a:r>
            <a:r>
              <a:rPr sz="1450">
                <a:solidFill>
                  <a:srgbClr val="6B6862"/>
                </a:solidFill>
                <a:latin typeface="Calibri"/>
              </a:rPr>
              <a:t>Split any shot that does two things.</a:t>
            </a:r>
          </a:p>
        </p:txBody>
      </p:sp>
      <p:sp>
        <p:nvSpPr>
          <p:cNvPr id="16" name="Oval 15"/>
          <p:cNvSpPr/>
          <p:nvPr/>
        </p:nvSpPr>
        <p:spPr>
          <a:xfrm>
            <a:off x="640080" y="4590287"/>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7" name="TextBox 16"/>
          <p:cNvSpPr txBox="1"/>
          <p:nvPr/>
        </p:nvSpPr>
        <p:spPr>
          <a:xfrm>
            <a:off x="1261872" y="4535423"/>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Approve at checkpoints  </a:t>
            </a:r>
            <a:r>
              <a:rPr sz="1450">
                <a:solidFill>
                  <a:srgbClr val="6B6862"/>
                </a:solidFill>
                <a:latin typeface="Calibri"/>
              </a:rPr>
              <a:t>Brief, storyboard, look — then generate.</a:t>
            </a:r>
          </a:p>
        </p:txBody>
      </p:sp>
      <p:sp>
        <p:nvSpPr>
          <p:cNvPr id="18" name="Oval 17"/>
          <p:cNvSpPr/>
          <p:nvPr/>
        </p:nvSpPr>
        <p:spPr>
          <a:xfrm>
            <a:off x="640080" y="5202935"/>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6</a:t>
            </a:r>
          </a:p>
        </p:txBody>
      </p:sp>
      <p:sp>
        <p:nvSpPr>
          <p:cNvPr id="19" name="TextBox 18"/>
          <p:cNvSpPr txBox="1"/>
          <p:nvPr/>
        </p:nvSpPr>
        <p:spPr>
          <a:xfrm>
            <a:off x="1261872" y="5148071"/>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Say what to keep  </a:t>
            </a:r>
            <a:r>
              <a:rPr sz="1450">
                <a:solidFill>
                  <a:srgbClr val="6B6862"/>
                </a:solidFill>
                <a:latin typeface="Calibri"/>
              </a:rPr>
              <a:t>"Change shot 4 only; keep everything else."</a:t>
            </a:r>
          </a:p>
        </p:txBody>
      </p:sp>
    </p:spTree>
  </p:cSld>
  <p:clrMapOvr>
    <a:masterClrMapping/>
  </p:clrMapOvr>
  <p:transition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Create Episode 1 with the Flova Video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~75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Planning is done. Priya has opened a Flova account for the studio. Your job today: get a first cut of Episode 1 that follows your storyboard and keeps Rachel, Ah Ma and the tin consistent from shot to shot.</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Flova project "EP01 The Rainy-Day Tin" with three Elements, an approved storyboard and rough cut v1 exported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Flova (flova.ai) — an AI video agent</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Elements · Creative Brief · checkpoints · Storyboard · generation · Timeline · export   ·   K2, A4 (preparation)</a:t>
            </a:r>
          </a:p>
        </p:txBody>
      </p:sp>
    </p:spTree>
  </p:cSld>
  <p:clrMapOvr>
    <a:masterClrMapping/>
  </p:clrMapOvr>
  <p:transition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Create Episode 1 with the Flova Video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Flova (flova.ai) — an AI video agent  ·  the full step-by-step, with the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Sign in  </a:t>
            </a:r>
            <a:r>
              <a:rPr sz="1300">
                <a:solidFill>
                  <a:srgbClr val="6B6862"/>
                </a:solidFill>
                <a:latin typeface="Calibri"/>
              </a:rPr>
              <a:t>Go to flova.ai and sign up or sign in. Check your credits; use the trainer's team account if you are short.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Elements  </a:t>
            </a:r>
            <a:r>
              <a:rPr sz="1300">
                <a:solidFill>
                  <a:srgbClr val="6B6862"/>
                </a:solidFill>
                <a:latin typeface="Calibri"/>
              </a:rPr>
              <a:t>In Element, create Rachel, Ah Ma and the blue tin from your character bible (element-prompts.md).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project  </a:t>
            </a:r>
            <a:r>
              <a:rPr sz="1300">
                <a:solidFill>
                  <a:srgbClr val="6B6862"/>
                </a:solidFill>
                <a:latin typeface="Calibri"/>
              </a:rPr>
              <a:t>Projects → Create new. Mention the three Elements with @ and paste Prompt A.</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Fill the Creative Brief  </a:t>
            </a:r>
            <a:r>
              <a:rPr sz="1300">
                <a:solidFill>
                  <a:srgbClr val="6B6862"/>
                </a:solidFill>
                <a:latin typeface="Calibri"/>
              </a:rPr>
              <a:t>Set 9:16, 60 seconds, English, your audience and style. Choose to pause at key checkpoints.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storyboard  </a:t>
            </a:r>
            <a:r>
              <a:rPr sz="1300">
                <a:solidFill>
                  <a:srgbClr val="6B6862"/>
                </a:solidFill>
                <a:latin typeface="Calibri"/>
              </a:rPr>
              <a:t>Compare Flova's storyboard with yours. Prompt B corrects shots that differ.</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look  </a:t>
            </a:r>
            <a:r>
              <a:rPr sz="1300">
                <a:solidFill>
                  <a:srgbClr val="6B6862"/>
                </a:solidFill>
                <a:latin typeface="Calibri"/>
              </a:rPr>
              <a:t>At the visual-assets checkpoint, check every face against the Elements before you confirm.</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Rough cut and export  </a:t>
            </a:r>
            <a:r>
              <a:rPr sz="1300">
                <a:solidFill>
                  <a:srgbClr val="6B6862"/>
                </a:solidFill>
                <a:latin typeface="Calibri"/>
              </a:rPr>
              <a:t>Let Flova assemble the rough cut. Export v1 at 720p. Log every checkpoint decision.</a:t>
            </a:r>
          </a:p>
        </p:txBody>
      </p:sp>
    </p:spTree>
  </p:cSld>
  <p:clrMapOvr>
    <a:masterClrMapping/>
  </p:clrMapOvr>
  <p:transition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Create Episode 1 with the Flova Video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start the project in Flova</a:t>
            </a:r>
          </a:p>
        </p:txBody>
      </p:sp>
      <p:sp>
        <p:nvSpPr>
          <p:cNvPr id="9" name="TextBox 8"/>
          <p:cNvSpPr txBox="1"/>
          <p:nvPr/>
        </p:nvSpPr>
        <p:spPr>
          <a:xfrm>
            <a:off x="822960" y="2313432"/>
            <a:ext cx="10515600" cy="383974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Episode 1 of Kopi &amp; Coins, "The Rainy-Day Tin": a 60-second vertical (9:16) money story for young working adults in Singapore. Use @Rachel, @AhMa and @BlueTin as the cast and prop, and keep their look exactly as in the Elements.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Follow this storyboard (attached as storyboard.md): six shots - the dead laptop and the $1,400 repair quote, the video call with Ah Ma, the blue tin full of labelled envelopes, Rachel setting up three savings buckets on payday, six months later paying calmly for a cracked phone, and the end card.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Warm, hopeful, slice-of-life; soft natural light; Singapore HDB home. Narration in Rachel's voice, gentle piano music. Burn-in captions. End card: "Start your rainy-day tin this payday." and "For general education only. Not financial advice."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Pause at each key checkpoint so I can review before you continue.</a:t>
            </a:r>
          </a:p>
        </p:txBody>
      </p:sp>
    </p:spTree>
  </p:cSld>
  <p:clrMapOvr>
    <a:masterClrMapping/>
  </p:clrMapOvr>
  <p:transition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Create Episode 1 with the Flova Video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correct the storyboard</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Before generating, change the storyboard to match mine:</a:t>
            </a:r>
          </a:p>
          <a:p>
            <a:pPr>
              <a:lnSpc>
                <a:spcPct val="110000"/>
              </a:lnSpc>
              <a:defRPr sz="1700" b="0">
                <a:solidFill>
                  <a:srgbClr val="21201C"/>
                </a:solidFill>
                <a:latin typeface="Calibri"/>
              </a:defRPr>
            </a:pPr>
            <a:r>
              <a:t>- Shot 2 is a medium shot. Keep Rachel on the left of frame and Ah Ma on the right for the whole call.</a:t>
            </a:r>
          </a:p>
          <a:p>
            <a:pPr>
              <a:lnSpc>
                <a:spcPct val="110000"/>
              </a:lnSpc>
              <a:defRPr sz="1700" b="0">
                <a:solidFill>
                  <a:srgbClr val="21201C"/>
                </a:solidFill>
                <a:latin typeface="Calibri"/>
              </a:defRPr>
            </a:pPr>
            <a:r>
              <a:t>- Shot 3 is a close-up insert of the tin. The lid opens to show three envelopes labelled RAINY DAY, ANG PAO, HOLIDAY.</a:t>
            </a:r>
          </a:p>
          <a:p>
            <a:pPr>
              <a:lnSpc>
                <a:spcPct val="110000"/>
              </a:lnSpc>
              <a:defRPr sz="1700" b="0">
                <a:solidFill>
                  <a:srgbClr val="21201C"/>
                </a:solidFill>
                <a:latin typeface="Calibri"/>
              </a:defRPr>
            </a:pPr>
            <a:r>
              <a:t>- Shot 4 needs the on-screen text "Rule 1: rainy day first." Keep every other shot. Show me the revised storyboard.</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video agent multiplies your decisions. Clear direction at the checkpoints is what turns credits into a usable cut.</a:t>
            </a:r>
          </a:p>
        </p:txBody>
      </p:sp>
    </p:spTree>
  </p:cSld>
  <p:clrMapOvr>
    <a:masterClrMapping/>
  </p:clrMapOvr>
  <p:transition spd="fast">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Create Episode 1 with the Flova Video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Rachel, Ah Ma and the blue tin exist as Elements.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Creative Brief is set to 9:16, 60 seconds and English.</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paused at the storyboard and visual-asset checkpoints.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matches your six shots (or you recorded why not).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Rachel looks the same in every shot of the rough cut.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v1 is exported and your checkpoint log is saved.</a:t>
            </a:r>
          </a:p>
        </p:txBody>
      </p:sp>
    </p:spTree>
  </p:cSld>
  <p:clrMapOvr>
    <a:masterClrMapping/>
  </p:clrMapOvr>
  <p:transition spd="fast">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REVIEW</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Reviewing Edited Footage: Two Passes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different questions — do them separately.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755904"/>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Pass 1 · Story and emotion (A4)</a:t>
            </a:r>
          </a:p>
        </p:txBody>
      </p:sp>
      <p:sp>
        <p:nvSpPr>
          <p:cNvPr id="11" name="TextBox 10"/>
          <p:cNvSpPr txBox="1"/>
          <p:nvPr/>
        </p:nvSpPr>
        <p:spPr>
          <a:xfrm>
            <a:off x="786384" y="3297936"/>
            <a:ext cx="3066287" cy="22616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Watch as a viewer, on a phone. For each scene: what should I feel, what do I feel, what change would close the gap?</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Pass 2 · Technical (A5)</a:t>
            </a:r>
          </a:p>
        </p:txBody>
      </p:sp>
      <p:sp>
        <p:nvSpPr>
          <p:cNvPr id="15" name="TextBox 14"/>
          <p:cNvSpPr txBox="1"/>
          <p:nvPr/>
        </p:nvSpPr>
        <p:spPr>
          <a:xfrm>
            <a:off x="4547615"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Watch as an engineer. For each parameter: what is the value, what is the target, pass or fail?</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Then prioritise</a:t>
            </a:r>
          </a:p>
        </p:txBody>
      </p:sp>
      <p:sp>
        <p:nvSpPr>
          <p:cNvPr id="19" name="TextBox 18"/>
          <p:cNvSpPr txBox="1"/>
          <p:nvPr/>
        </p:nvSpPr>
        <p:spPr>
          <a:xfrm>
            <a:off x="8308847"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Choose the three fixes that matter most. A review that lists 20 problems fixes none.</a:t>
            </a:r>
          </a:p>
        </p:txBody>
      </p:sp>
    </p:spTree>
  </p:cSld>
  <p:clrMapOvr>
    <a:masterClrMapping/>
  </p:clrMapOvr>
  <p:transition spd="fast">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STORY REVIEW (A4)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Scene-by-Scene Story Review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Propose changes that strengthen the story and the emotion in each scene.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SCENE</a:t>
            </a:r>
          </a:p>
        </p:txBody>
      </p:sp>
      <p:sp>
        <p:nvSpPr>
          <p:cNvPr id="10" name="TextBox 9"/>
          <p:cNvSpPr txBox="1"/>
          <p:nvPr/>
        </p:nvSpPr>
        <p:spPr>
          <a:xfrm>
            <a:off x="2520086"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INTENDED FEELING</a:t>
            </a:r>
          </a:p>
        </p:txBody>
      </p:sp>
      <p:sp>
        <p:nvSpPr>
          <p:cNvPr id="11" name="TextBox 10"/>
          <p:cNvSpPr txBox="1"/>
          <p:nvPr/>
        </p:nvSpPr>
        <p:spPr>
          <a:xfrm>
            <a:off x="4954219"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ASK</a:t>
            </a:r>
          </a:p>
        </p:txBody>
      </p:sp>
      <p:sp>
        <p:nvSpPr>
          <p:cNvPr id="12" name="TextBox 11"/>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TYPICAL CHANGE</a:t>
            </a:r>
          </a:p>
        </p:txBody>
      </p:sp>
      <p:sp>
        <p:nvSpPr>
          <p:cNvPr id="13" name="Rectangle 12"/>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49595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Hook</a:t>
            </a:r>
          </a:p>
        </p:txBody>
      </p:sp>
      <p:sp>
        <p:nvSpPr>
          <p:cNvPr id="15" name="TextBox 14"/>
          <p:cNvSpPr txBox="1"/>
          <p:nvPr/>
        </p:nvSpPr>
        <p:spPr>
          <a:xfrm>
            <a:off x="2520086" y="2560320"/>
            <a:ext cx="2159812"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Shock, recognition</a:t>
            </a:r>
          </a:p>
        </p:txBody>
      </p:sp>
      <p:sp>
        <p:nvSpPr>
          <p:cNvPr id="16" name="TextBox 15"/>
          <p:cNvSpPr txBox="1"/>
          <p:nvPr/>
        </p:nvSpPr>
        <p:spPr>
          <a:xfrm>
            <a:off x="4954219" y="25603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Do I understand the problem in 3 s?</a:t>
            </a:r>
          </a:p>
        </p:txBody>
      </p:sp>
      <p:sp>
        <p:nvSpPr>
          <p:cNvPr id="17" name="TextBox 16"/>
          <p:cNvSpPr txBox="1"/>
          <p:nvPr/>
        </p:nvSpPr>
        <p:spPr>
          <a:xfrm>
            <a:off x="8716060" y="2560320"/>
            <a:ext cx="2823667"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 on the quote, not the room.</a:t>
            </a:r>
          </a:p>
        </p:txBody>
      </p:sp>
      <p:sp>
        <p:nvSpPr>
          <p:cNvPr id="18" name="TextBox 17"/>
          <p:cNvSpPr txBox="1"/>
          <p:nvPr/>
        </p:nvSpPr>
        <p:spPr>
          <a:xfrm>
            <a:off x="749808" y="3093720"/>
            <a:ext cx="149595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Set-up</a:t>
            </a:r>
          </a:p>
        </p:txBody>
      </p:sp>
      <p:sp>
        <p:nvSpPr>
          <p:cNvPr id="19" name="TextBox 18"/>
          <p:cNvSpPr txBox="1"/>
          <p:nvPr/>
        </p:nvSpPr>
        <p:spPr>
          <a:xfrm>
            <a:off x="2520086" y="3093720"/>
            <a:ext cx="2159812"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Embarrassment, warmth</a:t>
            </a:r>
          </a:p>
        </p:txBody>
      </p:sp>
      <p:sp>
        <p:nvSpPr>
          <p:cNvPr id="20" name="TextBox 19"/>
          <p:cNvSpPr txBox="1"/>
          <p:nvPr/>
        </p:nvSpPr>
        <p:spPr>
          <a:xfrm>
            <a:off x="4954219" y="30937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Do I care about Rachel yet?</a:t>
            </a:r>
          </a:p>
        </p:txBody>
      </p:sp>
      <p:sp>
        <p:nvSpPr>
          <p:cNvPr id="21" name="TextBox 20"/>
          <p:cNvSpPr txBox="1"/>
          <p:nvPr/>
        </p:nvSpPr>
        <p:spPr>
          <a:xfrm>
            <a:off x="8716060" y="3093720"/>
            <a:ext cx="2823667"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Hold her reaction a beat longer.</a:t>
            </a:r>
          </a:p>
        </p:txBody>
      </p:sp>
      <p:sp>
        <p:nvSpPr>
          <p:cNvPr id="22" name="Rectangle 21"/>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27120"/>
            <a:ext cx="149595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Turn</a:t>
            </a:r>
          </a:p>
        </p:txBody>
      </p:sp>
      <p:sp>
        <p:nvSpPr>
          <p:cNvPr id="24" name="TextBox 23"/>
          <p:cNvSpPr txBox="1"/>
          <p:nvPr/>
        </p:nvSpPr>
        <p:spPr>
          <a:xfrm>
            <a:off x="2520086" y="3627120"/>
            <a:ext cx="2159812"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Surprise, curiosity</a:t>
            </a:r>
          </a:p>
        </p:txBody>
      </p:sp>
      <p:sp>
        <p:nvSpPr>
          <p:cNvPr id="25" name="TextBox 24"/>
          <p:cNvSpPr txBox="1"/>
          <p:nvPr/>
        </p:nvSpPr>
        <p:spPr>
          <a:xfrm>
            <a:off x="4954219" y="36271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Is the reveal clear?</a:t>
            </a:r>
          </a:p>
        </p:txBody>
      </p:sp>
      <p:sp>
        <p:nvSpPr>
          <p:cNvPr id="26" name="TextBox 25"/>
          <p:cNvSpPr txBox="1"/>
          <p:nvPr/>
        </p:nvSpPr>
        <p:spPr>
          <a:xfrm>
            <a:off x="8716060" y="3627120"/>
            <a:ext cx="2823667"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Close-up on the labels; add the lid sound.</a:t>
            </a:r>
          </a:p>
        </p:txBody>
      </p:sp>
      <p:sp>
        <p:nvSpPr>
          <p:cNvPr id="27" name="TextBox 26"/>
          <p:cNvSpPr txBox="1"/>
          <p:nvPr/>
        </p:nvSpPr>
        <p:spPr>
          <a:xfrm>
            <a:off x="749808" y="4160520"/>
            <a:ext cx="149595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Choice</a:t>
            </a:r>
          </a:p>
        </p:txBody>
      </p:sp>
      <p:sp>
        <p:nvSpPr>
          <p:cNvPr id="28" name="TextBox 27"/>
          <p:cNvSpPr txBox="1"/>
          <p:nvPr/>
        </p:nvSpPr>
        <p:spPr>
          <a:xfrm>
            <a:off x="2520086" y="4160520"/>
            <a:ext cx="2159812"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Determination</a:t>
            </a:r>
          </a:p>
        </p:txBody>
      </p:sp>
      <p:sp>
        <p:nvSpPr>
          <p:cNvPr id="29" name="TextBox 28"/>
          <p:cNvSpPr txBox="1"/>
          <p:nvPr/>
        </p:nvSpPr>
        <p:spPr>
          <a:xfrm>
            <a:off x="4954219" y="41605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Does it drag?</a:t>
            </a:r>
          </a:p>
        </p:txBody>
      </p:sp>
      <p:sp>
        <p:nvSpPr>
          <p:cNvPr id="30" name="TextBox 29"/>
          <p:cNvSpPr txBox="1"/>
          <p:nvPr/>
        </p:nvSpPr>
        <p:spPr>
          <a:xfrm>
            <a:off x="8716060" y="4160520"/>
            <a:ext cx="2823667"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Montage of three paydays.</a:t>
            </a:r>
          </a:p>
        </p:txBody>
      </p:sp>
      <p:sp>
        <p:nvSpPr>
          <p:cNvPr id="31" name="Rectangle 30"/>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93920"/>
            <a:ext cx="149595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Payoff</a:t>
            </a:r>
          </a:p>
        </p:txBody>
      </p:sp>
      <p:sp>
        <p:nvSpPr>
          <p:cNvPr id="33" name="TextBox 32"/>
          <p:cNvSpPr txBox="1"/>
          <p:nvPr/>
        </p:nvSpPr>
        <p:spPr>
          <a:xfrm>
            <a:off x="2520086" y="4693920"/>
            <a:ext cx="2159812"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Relief, pride</a:t>
            </a:r>
          </a:p>
        </p:txBody>
      </p:sp>
      <p:sp>
        <p:nvSpPr>
          <p:cNvPr id="34" name="TextBox 33"/>
          <p:cNvSpPr txBox="1"/>
          <p:nvPr/>
        </p:nvSpPr>
        <p:spPr>
          <a:xfrm>
            <a:off x="4954219" y="46939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Is the contrast with the hook obvious?</a:t>
            </a:r>
          </a:p>
        </p:txBody>
      </p:sp>
      <p:sp>
        <p:nvSpPr>
          <p:cNvPr id="35" name="TextBox 34"/>
          <p:cNvSpPr txBox="1"/>
          <p:nvPr/>
        </p:nvSpPr>
        <p:spPr>
          <a:xfrm>
            <a:off x="8716060" y="4693920"/>
            <a:ext cx="2823667"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Mirror the opening shot.</a:t>
            </a:r>
          </a:p>
        </p:txBody>
      </p:sp>
      <p:sp>
        <p:nvSpPr>
          <p:cNvPr id="36" name="TextBox 35"/>
          <p:cNvSpPr txBox="1"/>
          <p:nvPr/>
        </p:nvSpPr>
        <p:spPr>
          <a:xfrm>
            <a:off x="749808" y="5227319"/>
            <a:ext cx="1495958"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End card</a:t>
            </a:r>
          </a:p>
        </p:txBody>
      </p:sp>
      <p:sp>
        <p:nvSpPr>
          <p:cNvPr id="37" name="TextBox 36"/>
          <p:cNvSpPr txBox="1"/>
          <p:nvPr/>
        </p:nvSpPr>
        <p:spPr>
          <a:xfrm>
            <a:off x="2520086" y="5227319"/>
            <a:ext cx="2159812"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Clarity</a:t>
            </a:r>
          </a:p>
        </p:txBody>
      </p:sp>
      <p:sp>
        <p:nvSpPr>
          <p:cNvPr id="38" name="TextBox 37"/>
          <p:cNvSpPr txBox="1"/>
          <p:nvPr/>
        </p:nvSpPr>
        <p:spPr>
          <a:xfrm>
            <a:off x="4954219" y="5227319"/>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Is the action clear and readable?</a:t>
            </a:r>
          </a:p>
        </p:txBody>
      </p:sp>
      <p:sp>
        <p:nvSpPr>
          <p:cNvPr id="39" name="TextBox 38"/>
          <p:cNvSpPr txBox="1"/>
          <p:nvPr/>
        </p:nvSpPr>
        <p:spPr>
          <a:xfrm>
            <a:off x="8716060" y="5227319"/>
            <a:ext cx="2823667"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One line; on screen 3+ s.</a:t>
            </a:r>
          </a:p>
        </p:txBody>
      </p:sp>
    </p:spTree>
  </p:cSld>
  <p:clrMapOvr>
    <a:masterClrMapping/>
  </p:clrMapOvr>
  <p:transition spd="fast">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STORY REVIEW (A4)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Emotion, Pacing and Rhythm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edit decides how a scene feels — often more than the picture.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Shot length</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Short shots raise energy; a held shot lets a feeling land. Vary them.</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Reaction shots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We feel through faces. Cut to Rachel when Ah Ma opens the tin.</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Music and silence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A music drop before the reveal makes it land.</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Contrast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The payoff mirrors the hook: same framing, opposite feeling.</a:t>
            </a:r>
          </a:p>
        </p:txBody>
      </p:sp>
    </p:spTree>
  </p:cSld>
  <p:clrMapOvr>
    <a:masterClrMapping/>
  </p:clrMapOvr>
  <p:transition spd="fast">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PARAMETERS (K3)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Parameters to Assess Video Quality: Picture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Measurable qualities, each with a target for a 60-second vertical Short.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PARAMETER</a:t>
            </a:r>
          </a:p>
        </p:txBody>
      </p:sp>
      <p:sp>
        <p:nvSpPr>
          <p:cNvPr id="10" name="TextBox 9"/>
          <p:cNvSpPr txBox="1"/>
          <p:nvPr/>
        </p:nvSpPr>
        <p:spPr>
          <a:xfrm>
            <a:off x="3183940"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MEASURES</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TARGET</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Resolution / aspect ratio</a:t>
            </a:r>
          </a:p>
        </p:txBody>
      </p:sp>
      <p:sp>
        <p:nvSpPr>
          <p:cNvPr id="14" name="TextBox 13"/>
          <p:cNvSpPr txBox="1"/>
          <p:nvPr/>
        </p:nvSpPr>
        <p:spPr>
          <a:xfrm>
            <a:off x="3183940" y="25603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Pixel size and shape of the frame.</a:t>
            </a:r>
          </a:p>
        </p:txBody>
      </p:sp>
      <p:sp>
        <p:nvSpPr>
          <p:cNvPr id="15" name="TextBox 14"/>
          <p:cNvSpPr txBox="1"/>
          <p:nvPr/>
        </p:nvSpPr>
        <p:spPr>
          <a:xfrm>
            <a:off x="7609636" y="25603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1080x1920, 9:16.</a:t>
            </a:r>
          </a:p>
        </p:txBody>
      </p:sp>
      <p:sp>
        <p:nvSpPr>
          <p:cNvPr id="16" name="TextBox 15"/>
          <p:cNvSpPr txBox="1"/>
          <p:nvPr/>
        </p:nvSpPr>
        <p:spPr>
          <a:xfrm>
            <a:off x="749808" y="30937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Frame rate</a:t>
            </a:r>
          </a:p>
        </p:txBody>
      </p:sp>
      <p:sp>
        <p:nvSpPr>
          <p:cNvPr id="17" name="TextBox 16"/>
          <p:cNvSpPr txBox="1"/>
          <p:nvPr/>
        </p:nvSpPr>
        <p:spPr>
          <a:xfrm>
            <a:off x="3183940" y="30937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Frames per second; constant or variable.</a:t>
            </a:r>
          </a:p>
        </p:txBody>
      </p:sp>
      <p:sp>
        <p:nvSpPr>
          <p:cNvPr id="18" name="TextBox 17"/>
          <p:cNvSpPr txBox="1"/>
          <p:nvPr/>
        </p:nvSpPr>
        <p:spPr>
          <a:xfrm>
            <a:off x="7609636" y="30937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24, 25 or 30 fps, constant.</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Duration</a:t>
            </a:r>
          </a:p>
        </p:txBody>
      </p:sp>
      <p:sp>
        <p:nvSpPr>
          <p:cNvPr id="21" name="TextBox 20"/>
          <p:cNvSpPr txBox="1"/>
          <p:nvPr/>
        </p:nvSpPr>
        <p:spPr>
          <a:xfrm>
            <a:off x="3183940" y="36271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Total running time.</a:t>
            </a:r>
          </a:p>
        </p:txBody>
      </p:sp>
      <p:sp>
        <p:nvSpPr>
          <p:cNvPr id="22" name="TextBox 21"/>
          <p:cNvSpPr txBox="1"/>
          <p:nvPr/>
        </p:nvSpPr>
        <p:spPr>
          <a:xfrm>
            <a:off x="7609636" y="36271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55-60 s; end card ≥ 3 s.</a:t>
            </a:r>
          </a:p>
        </p:txBody>
      </p:sp>
      <p:sp>
        <p:nvSpPr>
          <p:cNvPr id="23" name="TextBox 22"/>
          <p:cNvSpPr txBox="1"/>
          <p:nvPr/>
        </p:nvSpPr>
        <p:spPr>
          <a:xfrm>
            <a:off x="749808" y="41605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Bitrate / compression</a:t>
            </a:r>
          </a:p>
        </p:txBody>
      </p:sp>
      <p:sp>
        <p:nvSpPr>
          <p:cNvPr id="24" name="TextBox 23"/>
          <p:cNvSpPr txBox="1"/>
          <p:nvPr/>
        </p:nvSpPr>
        <p:spPr>
          <a:xfrm>
            <a:off x="3183940" y="41605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Detail kept after encoding.</a:t>
            </a:r>
          </a:p>
        </p:txBody>
      </p:sp>
      <p:sp>
        <p:nvSpPr>
          <p:cNvPr id="25" name="TextBox 24"/>
          <p:cNvSpPr txBox="1"/>
          <p:nvPr/>
        </p:nvSpPr>
        <p:spPr>
          <a:xfrm>
            <a:off x="7609636" y="41605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visible blocking in motion or dark areas.</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Exposure and colour</a:t>
            </a:r>
          </a:p>
        </p:txBody>
      </p:sp>
      <p:sp>
        <p:nvSpPr>
          <p:cNvPr id="28" name="TextBox 27"/>
          <p:cNvSpPr txBox="1"/>
          <p:nvPr/>
        </p:nvSpPr>
        <p:spPr>
          <a:xfrm>
            <a:off x="3183940" y="46939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Brightness, contrast and colour consistency.</a:t>
            </a:r>
          </a:p>
        </p:txBody>
      </p:sp>
      <p:sp>
        <p:nvSpPr>
          <p:cNvPr id="29" name="TextBox 28"/>
          <p:cNvSpPr txBox="1"/>
          <p:nvPr/>
        </p:nvSpPr>
        <p:spPr>
          <a:xfrm>
            <a:off x="7609636" y="46939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Shots match; no crushed blacks or blown skies.</a:t>
            </a:r>
          </a:p>
        </p:txBody>
      </p:sp>
      <p:sp>
        <p:nvSpPr>
          <p:cNvPr id="30" name="TextBox 29"/>
          <p:cNvSpPr txBox="1"/>
          <p:nvPr/>
        </p:nvSpPr>
        <p:spPr>
          <a:xfrm>
            <a:off x="749808" y="5227319"/>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Sharpness and artefacts</a:t>
            </a:r>
          </a:p>
        </p:txBody>
      </p:sp>
      <p:sp>
        <p:nvSpPr>
          <p:cNvPr id="31" name="TextBox 30"/>
          <p:cNvSpPr txBox="1"/>
          <p:nvPr/>
        </p:nvSpPr>
        <p:spPr>
          <a:xfrm>
            <a:off x="3183940" y="5227319"/>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Focus, flicker, warping.</a:t>
            </a:r>
          </a:p>
        </p:txBody>
      </p:sp>
      <p:sp>
        <p:nvSpPr>
          <p:cNvPr id="32" name="TextBox 31"/>
          <p:cNvSpPr txBox="1"/>
          <p:nvPr/>
        </p:nvSpPr>
        <p:spPr>
          <a:xfrm>
            <a:off x="7609636" y="5227319"/>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AI artefacts on faces, hands or text.</a:t>
            </a:r>
          </a:p>
        </p:txBody>
      </p:sp>
    </p:spTree>
  </p:cSld>
  <p:clrMapOvr>
    <a:masterClrMapping/>
  </p:clrMapOvr>
  <p:transition spd="fast">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PARAMETERS (K3)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2500" b="0">
                <a:solidFill>
                  <a:srgbClr val="21201C"/>
                </a:solidFill>
                <a:latin typeface="Cambria"/>
              </a:defRPr>
            </a:pPr>
            <a:r>
              <a:t>Parameters to Assess Video Quality: Sound, Text, Continuity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parameters reviewers miss most often.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PARAMETER</a:t>
            </a:r>
          </a:p>
        </p:txBody>
      </p:sp>
      <p:sp>
        <p:nvSpPr>
          <p:cNvPr id="10" name="TextBox 9"/>
          <p:cNvSpPr txBox="1"/>
          <p:nvPr/>
        </p:nvSpPr>
        <p:spPr>
          <a:xfrm>
            <a:off x="3183940"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MEASURES</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TARGET</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Loudness and peaks</a:t>
            </a:r>
          </a:p>
        </p:txBody>
      </p:sp>
      <p:sp>
        <p:nvSpPr>
          <p:cNvPr id="14" name="TextBox 13"/>
          <p:cNvSpPr txBox="1"/>
          <p:nvPr/>
        </p:nvSpPr>
        <p:spPr>
          <a:xfrm>
            <a:off x="3183940" y="25603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Integrated loudness (LUFS), true peak.</a:t>
            </a:r>
          </a:p>
        </p:txBody>
      </p:sp>
      <p:sp>
        <p:nvSpPr>
          <p:cNvPr id="15" name="TextBox 14"/>
          <p:cNvSpPr txBox="1"/>
          <p:nvPr/>
        </p:nvSpPr>
        <p:spPr>
          <a:xfrm>
            <a:off x="7609636" y="25603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About -14 LUFS; true peak ≤ -1 dBTP.</a:t>
            </a:r>
          </a:p>
        </p:txBody>
      </p:sp>
      <p:sp>
        <p:nvSpPr>
          <p:cNvPr id="16" name="TextBox 15"/>
          <p:cNvSpPr txBox="1"/>
          <p:nvPr/>
        </p:nvSpPr>
        <p:spPr>
          <a:xfrm>
            <a:off x="749808" y="30937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Dialogue clarity</a:t>
            </a:r>
          </a:p>
        </p:txBody>
      </p:sp>
      <p:sp>
        <p:nvSpPr>
          <p:cNvPr id="17" name="TextBox 16"/>
          <p:cNvSpPr txBox="1"/>
          <p:nvPr/>
        </p:nvSpPr>
        <p:spPr>
          <a:xfrm>
            <a:off x="3183940" y="30937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Voice level against music and effects.</a:t>
            </a:r>
          </a:p>
        </p:txBody>
      </p:sp>
      <p:sp>
        <p:nvSpPr>
          <p:cNvPr id="18" name="TextBox 17"/>
          <p:cNvSpPr txBox="1"/>
          <p:nvPr/>
        </p:nvSpPr>
        <p:spPr>
          <a:xfrm>
            <a:off x="7609636" y="30937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Music ducked under voice; every word clear.</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 and lip-sync</a:t>
            </a:r>
          </a:p>
        </p:txBody>
      </p:sp>
      <p:sp>
        <p:nvSpPr>
          <p:cNvPr id="21" name="TextBox 20"/>
          <p:cNvSpPr txBox="1"/>
          <p:nvPr/>
        </p:nvSpPr>
        <p:spPr>
          <a:xfrm>
            <a:off x="3183940" y="36271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Sound in time with picture.</a:t>
            </a:r>
          </a:p>
        </p:txBody>
      </p:sp>
      <p:sp>
        <p:nvSpPr>
          <p:cNvPr id="22" name="TextBox 21"/>
          <p:cNvSpPr txBox="1"/>
          <p:nvPr/>
        </p:nvSpPr>
        <p:spPr>
          <a:xfrm>
            <a:off x="7609636" y="36271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visible offset.</a:t>
            </a:r>
          </a:p>
        </p:txBody>
      </p:sp>
      <p:sp>
        <p:nvSpPr>
          <p:cNvPr id="23" name="TextBox 22"/>
          <p:cNvSpPr txBox="1"/>
          <p:nvPr/>
        </p:nvSpPr>
        <p:spPr>
          <a:xfrm>
            <a:off x="749808" y="41605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Captions</a:t>
            </a:r>
          </a:p>
        </p:txBody>
      </p:sp>
      <p:sp>
        <p:nvSpPr>
          <p:cNvPr id="24" name="TextBox 23"/>
          <p:cNvSpPr txBox="1"/>
          <p:nvPr/>
        </p:nvSpPr>
        <p:spPr>
          <a:xfrm>
            <a:off x="3183940" y="41605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Accuracy, timing, length, position.</a:t>
            </a:r>
          </a:p>
        </p:txBody>
      </p:sp>
      <p:sp>
        <p:nvSpPr>
          <p:cNvPr id="25" name="TextBox 24"/>
          <p:cNvSpPr txBox="1"/>
          <p:nvPr/>
        </p:nvSpPr>
        <p:spPr>
          <a:xfrm>
            <a:off x="7609636" y="41605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100% match; ≤ 2 lines; inside the safe zone.</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Continuity</a:t>
            </a:r>
          </a:p>
        </p:txBody>
      </p:sp>
      <p:sp>
        <p:nvSpPr>
          <p:cNvPr id="28" name="TextBox 27"/>
          <p:cNvSpPr txBox="1"/>
          <p:nvPr/>
        </p:nvSpPr>
        <p:spPr>
          <a:xfrm>
            <a:off x="3183940" y="46939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Characters, props, light, screen direction.</a:t>
            </a:r>
          </a:p>
        </p:txBody>
      </p:sp>
      <p:sp>
        <p:nvSpPr>
          <p:cNvPr id="29" name="TextBox 28"/>
          <p:cNvSpPr txBox="1"/>
          <p:nvPr/>
        </p:nvSpPr>
        <p:spPr>
          <a:xfrm>
            <a:off x="7609636" y="4693920"/>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Matches the character bible and previous shot.</a:t>
            </a:r>
          </a:p>
        </p:txBody>
      </p:sp>
      <p:sp>
        <p:nvSpPr>
          <p:cNvPr id="30" name="TextBox 29"/>
          <p:cNvSpPr txBox="1"/>
          <p:nvPr/>
        </p:nvSpPr>
        <p:spPr>
          <a:xfrm>
            <a:off x="749808" y="5227319"/>
            <a:ext cx="215981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Story clarity</a:t>
            </a:r>
          </a:p>
        </p:txBody>
      </p:sp>
      <p:sp>
        <p:nvSpPr>
          <p:cNvPr id="31" name="TextBox 30"/>
          <p:cNvSpPr txBox="1"/>
          <p:nvPr/>
        </p:nvSpPr>
        <p:spPr>
          <a:xfrm>
            <a:off x="3183940" y="5227319"/>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Hook, message, call to action.</a:t>
            </a:r>
          </a:p>
        </p:txBody>
      </p:sp>
      <p:sp>
        <p:nvSpPr>
          <p:cNvPr id="32" name="TextBox 31"/>
          <p:cNvSpPr txBox="1"/>
          <p:nvPr/>
        </p:nvSpPr>
        <p:spPr>
          <a:xfrm>
            <a:off x="7609636" y="5227319"/>
            <a:ext cx="393009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Message clear with sound off.</a:t>
            </a:r>
          </a:p>
        </p:txBody>
      </p:sp>
    </p:spTree>
  </p:cSld>
  <p:clrMapOvr>
    <a:masterClrMapping/>
  </p:clrMapOvr>
  <p:transition spd="fast">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SOLUTIONS (K2)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Types of Solutions to Rectify Quality Issues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Match every issue to the cheapest solution that fixes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ISSUE</a:t>
            </a:r>
          </a:p>
        </p:txBody>
      </p:sp>
      <p:sp>
        <p:nvSpPr>
          <p:cNvPr id="10" name="TextBox 9"/>
          <p:cNvSpPr txBox="1"/>
          <p:nvPr/>
        </p:nvSpPr>
        <p:spPr>
          <a:xfrm>
            <a:off x="3626510"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SOLUTION TYPE</a:t>
            </a:r>
          </a:p>
        </p:txBody>
      </p:sp>
      <p:sp>
        <p:nvSpPr>
          <p:cNvPr id="11" name="TextBox 10"/>
          <p:cNvSpPr txBox="1"/>
          <p:nvPr/>
        </p:nvSpPr>
        <p:spPr>
          <a:xfrm>
            <a:off x="6945782"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HOW, IN PRACTICE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 or prop drift</a:t>
            </a:r>
          </a:p>
        </p:txBody>
      </p:sp>
      <p:sp>
        <p:nvSpPr>
          <p:cNvPr id="14" name="TextBox 13"/>
          <p:cNvSpPr txBox="1"/>
          <p:nvPr/>
        </p:nvSpPr>
        <p:spPr>
          <a:xfrm>
            <a:off x="3626510"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Regenerate with locked references</a:t>
            </a:r>
          </a:p>
        </p:txBody>
      </p:sp>
      <p:sp>
        <p:nvSpPr>
          <p:cNvPr id="15" name="TextBox 14"/>
          <p:cNvSpPr txBox="1"/>
          <p:nvPr/>
        </p:nvSpPr>
        <p:spPr>
          <a:xfrm>
            <a:off x="6945782"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Regenerate that shot only, "using @Rachel exactly".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Scene drags / weak hook</a:t>
            </a:r>
          </a:p>
        </p:txBody>
      </p:sp>
      <p:sp>
        <p:nvSpPr>
          <p:cNvPr id="17" name="TextBox 16"/>
          <p:cNvSpPr txBox="1"/>
          <p:nvPr/>
        </p:nvSpPr>
        <p:spPr>
          <a:xfrm>
            <a:off x="3626510"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Re-edit: trim, re-order, re-time</a:t>
            </a:r>
          </a:p>
        </p:txBody>
      </p:sp>
      <p:sp>
        <p:nvSpPr>
          <p:cNvPr id="18" name="TextBox 17"/>
          <p:cNvSpPr txBox="1"/>
          <p:nvPr/>
        </p:nvSpPr>
        <p:spPr>
          <a:xfrm>
            <a:off x="6945782"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Shorten on the timeline; start on the strongest frame.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Music drowns the voice</a:t>
            </a:r>
          </a:p>
        </p:txBody>
      </p:sp>
      <p:sp>
        <p:nvSpPr>
          <p:cNvPr id="21" name="TextBox 20"/>
          <p:cNvSpPr txBox="1"/>
          <p:nvPr/>
        </p:nvSpPr>
        <p:spPr>
          <a:xfrm>
            <a:off x="3626510"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Audio mix: ducking, normalising</a:t>
            </a:r>
          </a:p>
        </p:txBody>
      </p:sp>
      <p:sp>
        <p:nvSpPr>
          <p:cNvPr id="22" name="TextBox 21"/>
          <p:cNvSpPr txBox="1"/>
          <p:nvPr/>
        </p:nvSpPr>
        <p:spPr>
          <a:xfrm>
            <a:off x="6945782"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music under voice; normalise to the loudness target.</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or missing captions</a:t>
            </a:r>
          </a:p>
        </p:txBody>
      </p:sp>
      <p:sp>
        <p:nvSpPr>
          <p:cNvPr id="24" name="TextBox 23"/>
          <p:cNvSpPr txBox="1"/>
          <p:nvPr/>
        </p:nvSpPr>
        <p:spPr>
          <a:xfrm>
            <a:off x="3626510"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Re-caption and proofread</a:t>
            </a:r>
          </a:p>
        </p:txBody>
      </p:sp>
      <p:sp>
        <p:nvSpPr>
          <p:cNvPr id="25" name="TextBox 24"/>
          <p:cNvSpPr txBox="1"/>
          <p:nvPr/>
        </p:nvSpPr>
        <p:spPr>
          <a:xfrm>
            <a:off x="6945782"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Regenerate auto captions; correct every line by hand.</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Garbled on-screen text</a:t>
            </a:r>
          </a:p>
        </p:txBody>
      </p:sp>
      <p:sp>
        <p:nvSpPr>
          <p:cNvPr id="28" name="TextBox 27"/>
          <p:cNvSpPr txBox="1"/>
          <p:nvPr/>
        </p:nvSpPr>
        <p:spPr>
          <a:xfrm>
            <a:off x="3626510"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Replace with a graphic overlay</a:t>
            </a:r>
          </a:p>
        </p:txBody>
      </p:sp>
      <p:sp>
        <p:nvSpPr>
          <p:cNvPr id="29" name="TextBox 28"/>
          <p:cNvSpPr txBox="1"/>
          <p:nvPr/>
        </p:nvSpPr>
        <p:spPr>
          <a:xfrm>
            <a:off x="6945782"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Add text in the editor instead of generating it in the image.</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detail / soft image</a:t>
            </a:r>
          </a:p>
        </p:txBody>
      </p:sp>
      <p:sp>
        <p:nvSpPr>
          <p:cNvPr id="31" name="TextBox 30"/>
          <p:cNvSpPr txBox="1"/>
          <p:nvPr/>
        </p:nvSpPr>
        <p:spPr>
          <a:xfrm>
            <a:off x="3626510"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Re-export or enhance</a:t>
            </a:r>
          </a:p>
        </p:txBody>
      </p:sp>
      <p:sp>
        <p:nvSpPr>
          <p:cNvPr id="32" name="TextBox 31"/>
          <p:cNvSpPr txBox="1"/>
          <p:nvPr/>
        </p:nvSpPr>
        <p:spPr>
          <a:xfrm>
            <a:off x="6945782"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Export at 1080p; use HD enhancement where available.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Prevention beats repair: most fixes started as a missing reference or an unclear prompt.</a:t>
            </a:r>
          </a:p>
        </p:txBody>
      </p:sp>
    </p:spTree>
  </p:cSld>
  <p:clrMapOvr>
    <a:masterClrMapping/>
  </p:clrMapOvr>
  <p:transition spd="fast">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SOLUTIONS (K2)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to Fix It in Flova</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places to make a change — from cheapest to most expensive.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Describe the change in words: "shorten shot 4 to 8 seconds; keep everything else".</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timeline</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Trim, move, adjust volume, add text and captions yourself.</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storyboard</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Edit a shot's description, duration or camera before regenerating it.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Regenerate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Re-make one shot with locked Elements — the costly option, used last.</a:t>
            </a:r>
          </a:p>
        </p:txBody>
      </p:sp>
    </p:spTree>
  </p:cSld>
  <p:clrMapOvr>
    <a:masterClrMapping/>
  </p:clrMapOvr>
  <p:transition spd="fast">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TECHNICAL QC (A5)</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Technical QC Procedure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Assess edited footage against parameters — the same way every time.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8" name="Oval 7"/>
          <p:cNvSpPr/>
          <p:nvPr/>
        </p:nvSpPr>
        <p:spPr>
          <a:xfrm>
            <a:off x="640080" y="2139696"/>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9" name="TextBox 8"/>
          <p:cNvSpPr txBox="1"/>
          <p:nvPr/>
        </p:nvSpPr>
        <p:spPr>
          <a:xfrm>
            <a:off x="1261872" y="2084831"/>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Check the export  </a:t>
            </a:r>
            <a:r>
              <a:rPr sz="1450">
                <a:solidFill>
                  <a:srgbClr val="6B6862"/>
                </a:solidFill>
                <a:latin typeface="Calibri"/>
              </a:rPr>
              <a:t>Read resolution, frame rate and duration from the export settings or file info.</a:t>
            </a:r>
          </a:p>
        </p:txBody>
      </p:sp>
      <p:sp>
        <p:nvSpPr>
          <p:cNvPr id="10" name="Oval 9"/>
          <p:cNvSpPr/>
          <p:nvPr/>
        </p:nvSpPr>
        <p:spPr>
          <a:xfrm>
            <a:off x="640080" y="2743200"/>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11" name="TextBox 10"/>
          <p:cNvSpPr txBox="1"/>
          <p:nvPr/>
        </p:nvSpPr>
        <p:spPr>
          <a:xfrm>
            <a:off x="1261872" y="2688336"/>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Play full screen on the target device  </a:t>
            </a:r>
            <a:r>
              <a:rPr sz="1450">
                <a:solidFill>
                  <a:srgbClr val="6B6862"/>
                </a:solidFill>
                <a:latin typeface="Calibri"/>
              </a:rPr>
              <a:t>A phone, sound on, then sound off.</a:t>
            </a:r>
          </a:p>
        </p:txBody>
      </p:sp>
      <p:sp>
        <p:nvSpPr>
          <p:cNvPr id="12" name="Oval 11"/>
          <p:cNvSpPr/>
          <p:nvPr/>
        </p:nvSpPr>
        <p:spPr>
          <a:xfrm>
            <a:off x="640080" y="3346703"/>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3" name="TextBox 12"/>
          <p:cNvSpPr txBox="1"/>
          <p:nvPr/>
        </p:nvSpPr>
        <p:spPr>
          <a:xfrm>
            <a:off x="1261872" y="3291839"/>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Measure the sound  </a:t>
            </a:r>
            <a:r>
              <a:rPr sz="1450">
                <a:solidFill>
                  <a:srgbClr val="6B6862"/>
                </a:solidFill>
                <a:latin typeface="Calibri"/>
              </a:rPr>
              <a:t>Loudness and peaks with a meter; listen for clipping and buried voice.</a:t>
            </a:r>
          </a:p>
        </p:txBody>
      </p:sp>
      <p:sp>
        <p:nvSpPr>
          <p:cNvPr id="14" name="Oval 13"/>
          <p:cNvSpPr/>
          <p:nvPr/>
        </p:nvSpPr>
        <p:spPr>
          <a:xfrm>
            <a:off x="640080" y="3950207"/>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5" name="TextBox 14"/>
          <p:cNvSpPr txBox="1"/>
          <p:nvPr/>
        </p:nvSpPr>
        <p:spPr>
          <a:xfrm>
            <a:off x="1261872" y="3895344"/>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Read every caption  </a:t>
            </a:r>
            <a:r>
              <a:rPr sz="1450">
                <a:solidFill>
                  <a:srgbClr val="6B6862"/>
                </a:solidFill>
                <a:latin typeface="Calibri"/>
              </a:rPr>
              <a:t>Against the script, for timing and position.</a:t>
            </a:r>
          </a:p>
        </p:txBody>
      </p:sp>
      <p:sp>
        <p:nvSpPr>
          <p:cNvPr id="16" name="Oval 15"/>
          <p:cNvSpPr/>
          <p:nvPr/>
        </p:nvSpPr>
        <p:spPr>
          <a:xfrm>
            <a:off x="640080" y="4553712"/>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7" name="TextBox 16"/>
          <p:cNvSpPr txBox="1"/>
          <p:nvPr/>
        </p:nvSpPr>
        <p:spPr>
          <a:xfrm>
            <a:off x="1261872" y="4498848"/>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Compare adjacent shots  </a:t>
            </a:r>
            <a:r>
              <a:rPr sz="1450">
                <a:solidFill>
                  <a:srgbClr val="6B6862"/>
                </a:solidFill>
                <a:latin typeface="Calibri"/>
              </a:rPr>
              <a:t>Faces, props, light, direction.</a:t>
            </a:r>
          </a:p>
        </p:txBody>
      </p:sp>
      <p:sp>
        <p:nvSpPr>
          <p:cNvPr id="18" name="Oval 17"/>
          <p:cNvSpPr/>
          <p:nvPr/>
        </p:nvSpPr>
        <p:spPr>
          <a:xfrm>
            <a:off x="640080" y="5157216"/>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6</a:t>
            </a:r>
          </a:p>
        </p:txBody>
      </p:sp>
      <p:sp>
        <p:nvSpPr>
          <p:cNvPr id="19" name="TextBox 18"/>
          <p:cNvSpPr txBox="1"/>
          <p:nvPr/>
        </p:nvSpPr>
        <p:spPr>
          <a:xfrm>
            <a:off x="1261872" y="5102352"/>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Record and decide  </a:t>
            </a:r>
            <a:r>
              <a:rPr sz="1450">
                <a:solidFill>
                  <a:srgbClr val="6B6862"/>
                </a:solidFill>
                <a:latin typeface="Calibri"/>
              </a:rPr>
              <a:t>Value, target, PASS or FAIL, evidence — then fix and re-check.</a:t>
            </a:r>
          </a:p>
        </p:txBody>
      </p:sp>
      <p:sp>
        <p:nvSpPr>
          <p:cNvPr id="20" name="Rounded Rectangle 1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QC report without values is an opinion. Record the number.</a:t>
            </a:r>
          </a:p>
        </p:txBody>
      </p:sp>
    </p:spTree>
  </p:cSld>
  <p:clrMapOvr>
    <a:masterClrMapping/>
  </p:clrMapOvr>
  <p:transition spd="fast">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TECHNICAL QC (A5)</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Measuring the File (Trainer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commands that turn "looks fine" into evidence. FFmpeg is free.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Rounded Rectangle 7"/>
          <p:cNvSpPr/>
          <p:nvPr/>
        </p:nvSpPr>
        <p:spPr>
          <a:xfrm>
            <a:off x="548640" y="2084831"/>
            <a:ext cx="11064240" cy="3385367"/>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COMMANDS — ffprobe and ffmpeg</a:t>
            </a:r>
          </a:p>
        </p:txBody>
      </p:sp>
      <p:sp>
        <p:nvSpPr>
          <p:cNvPr id="11" name="TextBox 10"/>
          <p:cNvSpPr txBox="1"/>
          <p:nvPr/>
        </p:nvSpPr>
        <p:spPr>
          <a:xfrm>
            <a:off x="822959" y="2724911"/>
            <a:ext cx="10515600" cy="2617271"/>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 resolution, frame rate and duration</a:t>
            </a:r>
          </a:p>
          <a:p>
            <a:pPr>
              <a:lnSpc>
                <a:spcPct val="114000"/>
              </a:lnSpc>
              <a:defRPr sz="1300" b="0">
                <a:solidFill>
                  <a:srgbClr val="E8E5DE"/>
                </a:solidFill>
                <a:latin typeface="Courier New"/>
              </a:defRPr>
            </a:pPr>
            <a:r>
              <a:t>ffprobe -v error -select_streams v:0 \</a:t>
            </a:r>
          </a:p>
          <a:p>
            <a:pPr>
              <a:lnSpc>
                <a:spcPct val="114000"/>
              </a:lnSpc>
              <a:defRPr sz="1300" b="0">
                <a:solidFill>
                  <a:srgbClr val="E8E5DE"/>
                </a:solidFill>
                <a:latin typeface="Courier New"/>
              </a:defRPr>
            </a:pPr>
            <a:r>
              <a:t>  -show_entries stream=width,height,r_frame_rate:format=duration \</a:t>
            </a:r>
          </a:p>
          <a:p>
            <a:pPr>
              <a:lnSpc>
                <a:spcPct val="114000"/>
              </a:lnSpc>
              <a:defRPr sz="1300" b="0">
                <a:solidFill>
                  <a:srgbClr val="E8E5DE"/>
                </a:solidFill>
                <a:latin typeface="Courier New"/>
              </a:defRPr>
            </a:pPr>
            <a:r>
              <a:t>  -of default=nw=1 EP01_v2.mp4</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 integrated loudness (LUFS) and true peak (dBTP)</a:t>
            </a:r>
          </a:p>
          <a:p>
            <a:pPr>
              <a:lnSpc>
                <a:spcPct val="114000"/>
              </a:lnSpc>
              <a:defRPr sz="1300" b="0">
                <a:solidFill>
                  <a:srgbClr val="E8E5DE"/>
                </a:solidFill>
                <a:latin typeface="Courier New"/>
              </a:defRPr>
            </a:pPr>
            <a:r>
              <a:t>ffmpeg -i EP01_v2.mp4 -af loudnorm=print_format=summary -f null -</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 expected for a Short: width=1080 height=1920, 30/1 fps,</a:t>
            </a:r>
          </a:p>
          <a:p>
            <a:pPr>
              <a:lnSpc>
                <a:spcPct val="114000"/>
              </a:lnSpc>
              <a:defRPr sz="1300" b="0">
                <a:solidFill>
                  <a:srgbClr val="E8E5DE"/>
                </a:solidFill>
                <a:latin typeface="Courier New"/>
              </a:defRPr>
            </a:pPr>
            <a:r>
              <a:t># duration about 60, Input Integrated about -14 LUFS,</a:t>
            </a:r>
          </a:p>
          <a:p>
            <a:pPr>
              <a:lnSpc>
                <a:spcPct val="114000"/>
              </a:lnSpc>
              <a:defRPr sz="1300" b="0">
                <a:solidFill>
                  <a:srgbClr val="E8E5DE"/>
                </a:solidFill>
                <a:latin typeface="Courier New"/>
              </a:defRPr>
            </a:pPr>
            <a:r>
              <a:t># Input True Peak no higher than -1 dBTP</a:t>
            </a:r>
          </a:p>
        </p:txBody>
      </p:sp>
    </p:spTree>
  </p:cSld>
  <p:clrMapOvr>
    <a:masterClrMapping/>
  </p:clrMapOvr>
  <p:transition spd="fast">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Review and Refine the Edit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~60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rough cut is in. Priya watched it once on her phone: "The story is nearly there, but something feels flat in the middle, and I could not hear the voice over the music." Review it properly, fix what matters, and export v2.</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story-review.md, qc-report.md and EP01 v2 exported at 1080p</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Flova (Storyboard, Timeline, chat) + QC checklist</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Scene-by-scene story review · technical QC · targeted fixes · regenerate one shot · auto captions · final export   ·   K2, K3, A4, A5</a:t>
            </a:r>
          </a:p>
        </p:txBody>
      </p:sp>
    </p:spTree>
  </p:cSld>
  <p:clrMapOvr>
    <a:masterClrMapping/>
  </p:clrMapOvr>
  <p:transition spd="fast">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Review and Refine the Edit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Flova (Storyboard, Timeline, chat) + QC checklist  ·  the full step-by-step, with the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Watch as a viewer  </a:t>
            </a:r>
            <a:r>
              <a:rPr sz="1300">
                <a:solidFill>
                  <a:srgbClr val="6B6862"/>
                </a:solidFill>
                <a:latin typeface="Calibri"/>
              </a:rPr>
              <a:t>Play v1 on your phone, full screen, sound on. Note where your attention drops.</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Review story and emotion  </a:t>
            </a:r>
            <a:r>
              <a:rPr sz="1300">
                <a:solidFill>
                  <a:srgbClr val="6B6862"/>
                </a:solidFill>
                <a:latin typeface="Calibri"/>
              </a:rPr>
              <a:t>Fill story-review.md scene by scene: intended feeling, actual feeling, proposed change.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parameters  </a:t>
            </a:r>
            <a:r>
              <a:rPr sz="1300">
                <a:solidFill>
                  <a:srgbClr val="6B6862"/>
                </a:solidFill>
                <a:latin typeface="Calibri"/>
              </a:rPr>
              <a:t>Work through qc-checklist.md: resolution, aspect ratio, frame rate, duration, loudness, captions, continuity.</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three fixes  </a:t>
            </a:r>
            <a:r>
              <a:rPr sz="1300">
                <a:solidFill>
                  <a:srgbClr val="6B6862"/>
                </a:solidFill>
                <a:latin typeface="Calibri"/>
              </a:rPr>
              <a:t>Pick the three issues that matter most and the solution type for each.</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Fix in Flova  </a:t>
            </a:r>
            <a:r>
              <a:rPr sz="1300">
                <a:solidFill>
                  <a:srgbClr val="6B6862"/>
                </a:solidFill>
                <a:latin typeface="Calibri"/>
              </a:rPr>
              <a:t>Use Prompt A in the project chat; use the Timeline for timing and volume. Regenerate single shots only.</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Export v2  </a:t>
            </a:r>
            <a:r>
              <a:rPr sz="1300">
                <a:solidFill>
                  <a:srgbClr val="6B6862"/>
                </a:solidFill>
                <a:latin typeface="Calibri"/>
              </a:rPr>
              <a:t>Export at 1080p. Re-check the failed items and record the result in the fix log.</a:t>
            </a:r>
          </a:p>
        </p:txBody>
      </p:sp>
    </p:spTree>
  </p:cSld>
  <p:clrMapOvr>
    <a:masterClrMapping/>
  </p:clrMapOvr>
  <p:transition spd="fast">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Review and Refine the Edit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targeted fixes in Flova</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Make these three changes to the current cut and keep everything else exactly as it is: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1. Shot 4 drags. Shorten it to 8 seconds and add a quick montage of three payday transfers.</a:t>
            </a:r>
          </a:p>
          <a:p>
            <a:pPr>
              <a:lnSpc>
                <a:spcPct val="110000"/>
              </a:lnSpc>
              <a:defRPr sz="1700" b="0">
                <a:solidFill>
                  <a:srgbClr val="21201C"/>
                </a:solidFill>
                <a:latin typeface="Calibri"/>
              </a:defRPr>
            </a:pPr>
            <a:r>
              <a:t>2. The music is too loud under the narration. Duck the music by about 8 dB whenever Rachel speaks.</a:t>
            </a:r>
          </a:p>
          <a:p>
            <a:pPr>
              <a:lnSpc>
                <a:spcPct val="110000"/>
              </a:lnSpc>
              <a:defRPr sz="1700" b="0">
                <a:solidFill>
                  <a:srgbClr val="21201C"/>
                </a:solidFill>
                <a:latin typeface="Calibri"/>
              </a:defRPr>
            </a:pPr>
            <a:r>
              <a:t>3. In shot 5 Rachel's glasses are missing. Regenerate shot 5 only, using @Rachel exactly.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Then regenerate the auto captions, check every caption against the narration, and show me the updated timeline.</a:t>
            </a:r>
          </a:p>
        </p:txBody>
      </p:sp>
    </p:spTree>
  </p:cSld>
  <p:clrMapOvr>
    <a:masterClrMapping/>
  </p:clrMapOvr>
  <p:transition spd="fast">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Review and Refine the Edit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ask the agent to check its work</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Before I export, list for this cut: total duration, aspect ratio, resolution, frame rate, whether captions are on every spoken line, and any shot where a character's look differs from their Element. Do not change anything — just report.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Review is where taste meets measurement. Fix the three things that matter, prove they are fixed, and stop.</a:t>
            </a:r>
          </a:p>
        </p:txBody>
      </p:sp>
    </p:spTree>
  </p:cSld>
  <p:clrMapOvr>
    <a:masterClrMapping/>
  </p:clrMapOvr>
  <p:transition spd="fast">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Review and Refine the Edit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story-review.md covers all six scenes with intended feeling, actual feeling and a proposed change.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qc-report.md records a value and PASS or FAIL for every parameter.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of your three fixes names its solution type.</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Only the broken shots were regenerated.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v2 is 1080x1920, about 60 seconds, captions on, disclaimer on the end card.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 log shows each failed item re-checked after the fix.</a:t>
            </a:r>
          </a:p>
        </p:txBody>
      </p:sp>
    </p:spTree>
  </p:cSld>
  <p:clrMapOvr>
    <a:masterClrMapping/>
  </p:clrMapOvr>
  <p:transition spd="fast">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Episode 1 is made, reviewed and fixed.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Made — Lab 3</a:t>
            </a:r>
          </a:p>
        </p:txBody>
      </p:sp>
      <p:sp>
        <p:nvSpPr>
          <p:cNvPr id="11" name="TextBox 10"/>
          <p:cNvSpPr txBox="1"/>
          <p:nvPr/>
        </p:nvSpPr>
        <p:spPr>
          <a:xfrm>
            <a:off x="786384"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A Flova project with Elements, an approved storyboard and a rough cut.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755904"/>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Reviewed and fixed — Lab 4</a:t>
            </a:r>
          </a:p>
        </p:txBody>
      </p:sp>
      <p:sp>
        <p:nvSpPr>
          <p:cNvPr id="15" name="TextBox 14"/>
          <p:cNvSpPr txBox="1"/>
          <p:nvPr/>
        </p:nvSpPr>
        <p:spPr>
          <a:xfrm>
            <a:off x="4547615" y="3297936"/>
            <a:ext cx="3066287" cy="22616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A story review, a QC report with values, three targeted fixes and v2 at 1080p.</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Next — Topic 3</a:t>
            </a:r>
          </a:p>
        </p:txBody>
      </p:sp>
      <p:sp>
        <p:nvSpPr>
          <p:cNvPr id="19" name="TextBox 18"/>
          <p:cNvSpPr txBox="1"/>
          <p:nvPr/>
        </p:nvSpPr>
        <p:spPr>
          <a:xfrm>
            <a:off x="8308847"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Make it repeatable and compliant: an always-on agent, a compliance skill and a team.</a:t>
            </a:r>
          </a:p>
        </p:txBody>
      </p:sp>
    </p:spTree>
  </p:cSld>
  <p:clrMapOvr>
    <a:masterClrMapping/>
  </p:clrMapOvr>
  <p:transition spd="fast">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188720"/>
            <a:ext cx="10972800" cy="1097280"/>
          </a:xfrm>
          <a:prstGeom prst="rect">
            <a:avLst/>
          </a:prstGeom>
          <a:noFill/>
        </p:spPr>
        <p:txBody>
          <a:bodyPr wrap="square" lIns="18288" rIns="18288" tIns="9144" bIns="9144">
            <a:spAutoFit/>
          </a:bodyPr>
          <a:lstStyle/>
          <a:p>
            <a:pPr>
              <a:lnSpc>
                <a:spcPct val="95000"/>
              </a:lnSpc>
              <a:defRPr sz="3000" b="0">
                <a:solidFill>
                  <a:srgbClr val="FFFFFF"/>
                </a:solidFill>
                <a:latin typeface="Cambria"/>
              </a:defRPr>
            </a:pPr>
            <a:r>
              <a:t>Workflow Optimisation, Industry Compliance and Emerging Video Technologies</a:t>
            </a:r>
          </a:p>
        </p:txBody>
      </p:sp>
      <p:sp>
        <p:nvSpPr>
          <p:cNvPr id="4" name="Rectangle 3"/>
          <p:cNvSpPr/>
          <p:nvPr/>
        </p:nvSpPr>
        <p:spPr>
          <a:xfrm>
            <a:off x="585216" y="239572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78892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80720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one agent to a team: Hermes Agent</a:t>
            </a:r>
          </a:p>
        </p:txBody>
      </p:sp>
      <p:sp>
        <p:nvSpPr>
          <p:cNvPr id="7" name="Oval 6"/>
          <p:cNvSpPr/>
          <p:nvPr/>
        </p:nvSpPr>
        <p:spPr>
          <a:xfrm>
            <a:off x="603504" y="350215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52044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Skills, plugins and connecting Flova</a:t>
            </a:r>
          </a:p>
        </p:txBody>
      </p:sp>
      <p:sp>
        <p:nvSpPr>
          <p:cNvPr id="9" name="Oval 8"/>
          <p:cNvSpPr/>
          <p:nvPr/>
        </p:nvSpPr>
        <p:spPr>
          <a:xfrm>
            <a:off x="603504" y="4215383"/>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233671"/>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Industry quality standards and remedial actions</a:t>
            </a:r>
          </a:p>
        </p:txBody>
      </p:sp>
      <p:sp>
        <p:nvSpPr>
          <p:cNvPr id="11" name="Oval 10"/>
          <p:cNvSpPr/>
          <p:nvPr/>
        </p:nvSpPr>
        <p:spPr>
          <a:xfrm>
            <a:off x="603504" y="492861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4946903"/>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multi-agent studio on Kanban, and adopting new technology</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Agentic AI for Video Creation  ·  TGS-2023036088 </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LEARNING OUTCOME, KNOWLEDGE AND ABILITIES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2200" b="0">
                <a:solidFill>
                  <a:srgbClr val="21201C"/>
                </a:solidFill>
                <a:latin typeface="Cambria"/>
              </a:defRPr>
            </a:pPr>
            <a:r>
              <a:t>Workflow Optimisation, Industry Compliance and Emerging Video Technologies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7" name="Rounded Rectangle 6"/>
          <p:cNvSpPr/>
          <p:nvPr/>
        </p:nvSpPr>
        <p:spPr>
          <a:xfrm>
            <a:off x="548640" y="1783080"/>
            <a:ext cx="3749039" cy="402336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374903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29968"/>
            <a:ext cx="32918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LEARNING OUTCOME</a:t>
            </a:r>
          </a:p>
        </p:txBody>
      </p:sp>
      <p:sp>
        <p:nvSpPr>
          <p:cNvPr id="10" name="TextBox 9"/>
          <p:cNvSpPr txBox="1"/>
          <p:nvPr/>
        </p:nvSpPr>
        <p:spPr>
          <a:xfrm>
            <a:off x="822960" y="2359152"/>
            <a:ext cx="3291840" cy="457200"/>
          </a:xfrm>
          <a:prstGeom prst="rect">
            <a:avLst/>
          </a:prstGeom>
          <a:noFill/>
        </p:spPr>
        <p:txBody>
          <a:bodyPr wrap="square" lIns="18288" rIns="18288" tIns="9144" bIns="9144">
            <a:spAutoFit/>
          </a:bodyPr>
          <a:lstStyle/>
          <a:p>
            <a:pPr>
              <a:lnSpc>
                <a:spcPct val="100000"/>
              </a:lnSpc>
              <a:defRPr sz="2800" b="1">
                <a:solidFill>
                  <a:srgbClr val="FFFFFF"/>
                </a:solidFill>
                <a:latin typeface="Cambria"/>
              </a:defRPr>
            </a:pPr>
            <a:r>
              <a:t>LO3</a:t>
            </a:r>
          </a:p>
        </p:txBody>
      </p:sp>
      <p:sp>
        <p:nvSpPr>
          <p:cNvPr id="11" name="TextBox 10"/>
          <p:cNvSpPr txBox="1"/>
          <p:nvPr/>
        </p:nvSpPr>
        <p:spPr>
          <a:xfrm>
            <a:off x="822960" y="2971800"/>
            <a:ext cx="3246120" cy="2651760"/>
          </a:xfrm>
          <a:prstGeom prst="rect">
            <a:avLst/>
          </a:prstGeom>
          <a:noFill/>
        </p:spPr>
        <p:txBody>
          <a:bodyPr wrap="square" lIns="18288" rIns="18288" tIns="9144" bIns="9144">
            <a:spAutoFit/>
          </a:bodyPr>
          <a:lstStyle/>
          <a:p>
            <a:pPr>
              <a:lnSpc>
                <a:spcPct val="110000"/>
              </a:lnSpc>
              <a:defRPr sz="1700" b="0">
                <a:solidFill>
                  <a:srgbClr val="E8E5DE"/>
                </a:solidFill>
                <a:latin typeface="Cambria"/>
              </a:defRPr>
            </a:pPr>
            <a:r>
              <a:t>Develop remedial actions to ensure industry compliance and facilitate the adoption of new technologies in visual editing.</a:t>
            </a:r>
          </a:p>
        </p:txBody>
      </p:sp>
      <p:sp>
        <p:nvSpPr>
          <p:cNvPr id="12" name="TextBox 11"/>
          <p:cNvSpPr txBox="1"/>
          <p:nvPr/>
        </p:nvSpPr>
        <p:spPr>
          <a:xfrm>
            <a:off x="4526280" y="1783080"/>
            <a:ext cx="3657600" cy="256032"/>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KNOWLEDGE</a:t>
            </a:r>
          </a:p>
        </p:txBody>
      </p:sp>
      <p:sp>
        <p:nvSpPr>
          <p:cNvPr id="13" name="Rounded Rectangle 12"/>
          <p:cNvSpPr/>
          <p:nvPr/>
        </p:nvSpPr>
        <p:spPr>
          <a:xfrm>
            <a:off x="4526280" y="2093976"/>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2093976"/>
            <a:ext cx="64008" cy="7452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2093976"/>
            <a:ext cx="566928" cy="745236"/>
          </a:xfrm>
          <a:prstGeom prst="rect">
            <a:avLst/>
          </a:prstGeom>
          <a:noFill/>
        </p:spPr>
        <p:txBody>
          <a:bodyPr wrap="square" lIns="18288" rIns="18288" tIns="9144" bIns="9144" anchor="ctr">
            <a:spAutoFit/>
          </a:bodyPr>
          <a:lstStyle/>
          <a:p>
            <a:pPr>
              <a:lnSpc>
                <a:spcPct val="100000"/>
              </a:lnSpc>
              <a:defRPr sz="1500" b="1">
                <a:solidFill>
                  <a:srgbClr val="D97757"/>
                </a:solidFill>
                <a:latin typeface="Cambria"/>
              </a:defRPr>
            </a:pPr>
            <a:r>
              <a:t>K4</a:t>
            </a:r>
          </a:p>
        </p:txBody>
      </p:sp>
      <p:sp>
        <p:nvSpPr>
          <p:cNvPr id="16" name="TextBox 15"/>
          <p:cNvSpPr txBox="1"/>
          <p:nvPr/>
        </p:nvSpPr>
        <p:spPr>
          <a:xfrm>
            <a:off x="5312664" y="2093976"/>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Industry quality standards</a:t>
            </a:r>
          </a:p>
        </p:txBody>
      </p:sp>
      <p:sp>
        <p:nvSpPr>
          <p:cNvPr id="17" name="Rounded Rectangle 16"/>
          <p:cNvSpPr/>
          <p:nvPr/>
        </p:nvSpPr>
        <p:spPr>
          <a:xfrm>
            <a:off x="4526280" y="2930652"/>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2930652"/>
            <a:ext cx="64008" cy="7452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2930652"/>
            <a:ext cx="566928" cy="745236"/>
          </a:xfrm>
          <a:prstGeom prst="rect">
            <a:avLst/>
          </a:prstGeom>
          <a:noFill/>
        </p:spPr>
        <p:txBody>
          <a:bodyPr wrap="square" lIns="18288" rIns="18288" tIns="9144" bIns="9144" anchor="ctr">
            <a:spAutoFit/>
          </a:bodyPr>
          <a:lstStyle/>
          <a:p>
            <a:pPr>
              <a:lnSpc>
                <a:spcPct val="100000"/>
              </a:lnSpc>
              <a:defRPr sz="1500" b="1">
                <a:solidFill>
                  <a:srgbClr val="D97757"/>
                </a:solidFill>
                <a:latin typeface="Cambria"/>
              </a:defRPr>
            </a:pPr>
            <a:r>
              <a:t>K5</a:t>
            </a:r>
          </a:p>
        </p:txBody>
      </p:sp>
      <p:sp>
        <p:nvSpPr>
          <p:cNvPr id="20" name="TextBox 19"/>
          <p:cNvSpPr txBox="1"/>
          <p:nvPr/>
        </p:nvSpPr>
        <p:spPr>
          <a:xfrm>
            <a:off x="5312664" y="2930652"/>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Technologies that improve efficiency and quality of video edits</a:t>
            </a:r>
          </a:p>
        </p:txBody>
      </p:sp>
      <p:sp>
        <p:nvSpPr>
          <p:cNvPr id="21" name="TextBox 20"/>
          <p:cNvSpPr txBox="1"/>
          <p:nvPr/>
        </p:nvSpPr>
        <p:spPr>
          <a:xfrm>
            <a:off x="4526280" y="3822191"/>
            <a:ext cx="3657600"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ABILITIES</a:t>
            </a:r>
          </a:p>
        </p:txBody>
      </p:sp>
      <p:sp>
        <p:nvSpPr>
          <p:cNvPr id="22" name="Rounded Rectangle 21"/>
          <p:cNvSpPr/>
          <p:nvPr/>
        </p:nvSpPr>
        <p:spPr>
          <a:xfrm>
            <a:off x="4526280" y="4133087"/>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26280" y="4133087"/>
            <a:ext cx="64008" cy="7452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4133087"/>
            <a:ext cx="566928" cy="745236"/>
          </a:xfrm>
          <a:prstGeom prst="rect">
            <a:avLst/>
          </a:prstGeom>
          <a:noFill/>
        </p:spPr>
        <p:txBody>
          <a:bodyPr wrap="square" lIns="18288" rIns="18288" tIns="9144" bIns="9144" anchor="ctr">
            <a:spAutoFit/>
          </a:bodyPr>
          <a:lstStyle/>
          <a:p>
            <a:pPr>
              <a:lnSpc>
                <a:spcPct val="100000"/>
              </a:lnSpc>
              <a:defRPr sz="1500" b="1">
                <a:solidFill>
                  <a:srgbClr val="3A7D7B"/>
                </a:solidFill>
                <a:latin typeface="Cambria"/>
              </a:defRPr>
            </a:pPr>
            <a:r>
              <a:t>A6</a:t>
            </a:r>
          </a:p>
        </p:txBody>
      </p:sp>
      <p:sp>
        <p:nvSpPr>
          <p:cNvPr id="25" name="TextBox 24"/>
          <p:cNvSpPr txBox="1"/>
          <p:nvPr/>
        </p:nvSpPr>
        <p:spPr>
          <a:xfrm>
            <a:off x="5312664" y="4133087"/>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remedial actions to resolve issues that do not comply with industry standards</a:t>
            </a:r>
          </a:p>
        </p:txBody>
      </p:sp>
      <p:sp>
        <p:nvSpPr>
          <p:cNvPr id="26" name="Rounded Rectangle 25"/>
          <p:cNvSpPr/>
          <p:nvPr/>
        </p:nvSpPr>
        <p:spPr>
          <a:xfrm>
            <a:off x="4526280" y="4969764"/>
            <a:ext cx="7086599" cy="745236"/>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26280" y="4969764"/>
            <a:ext cx="64008" cy="7452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4969764"/>
            <a:ext cx="566928" cy="745236"/>
          </a:xfrm>
          <a:prstGeom prst="rect">
            <a:avLst/>
          </a:prstGeom>
          <a:noFill/>
        </p:spPr>
        <p:txBody>
          <a:bodyPr wrap="square" lIns="18288" rIns="18288" tIns="9144" bIns="9144" anchor="ctr">
            <a:spAutoFit/>
          </a:bodyPr>
          <a:lstStyle/>
          <a:p>
            <a:pPr>
              <a:lnSpc>
                <a:spcPct val="100000"/>
              </a:lnSpc>
              <a:defRPr sz="1500" b="1">
                <a:solidFill>
                  <a:srgbClr val="3A7D7B"/>
                </a:solidFill>
                <a:latin typeface="Cambria"/>
              </a:defRPr>
            </a:pPr>
            <a:r>
              <a:t>A7</a:t>
            </a:r>
          </a:p>
        </p:txBody>
      </p:sp>
      <p:sp>
        <p:nvSpPr>
          <p:cNvPr id="29" name="TextBox 28"/>
          <p:cNvSpPr txBox="1"/>
          <p:nvPr/>
        </p:nvSpPr>
        <p:spPr>
          <a:xfrm>
            <a:off x="5312664" y="4969764"/>
            <a:ext cx="6172199" cy="745236"/>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Facilitate the adoption of new technologies to improve the efficiency and quality of visual outputs</a:t>
            </a:r>
          </a:p>
        </p:txBody>
      </p:sp>
    </p:spTree>
  </p:cSld>
  <p:clrMapOvr>
    <a:masterClrMapping/>
  </p:clrMapOvr>
  <p:transition spd="fast">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MULTI-AGENT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One Agent to a Studio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When the work splits into jobs with different skills, one agent becomes a bottleneck.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brief</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script</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shots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edit</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review</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PRODUCER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Producer</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briefs · routes · never renders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Scriptwriter</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profile</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Director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drives Flova</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Reviewer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only</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Publisher</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after approval</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Each a separate Hermes profile · own SOUL.md, skills and memory · hand-offs on Kanban</a:t>
            </a:r>
          </a:p>
        </p:txBody>
      </p:sp>
      <p:sp>
        <p:nvSpPr>
          <p:cNvPr id="46" name="Rounded Rectangle 45"/>
          <p:cNvSpPr/>
          <p:nvPr/>
        </p:nvSpPr>
        <p:spPr>
          <a:xfrm>
            <a:off x="548640" y="4809744"/>
            <a:ext cx="2656332"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656332"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2363724"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Separate roles</a:t>
            </a:r>
          </a:p>
        </p:txBody>
      </p:sp>
      <p:sp>
        <p:nvSpPr>
          <p:cNvPr id="49" name="TextBox 48"/>
          <p:cNvSpPr txBox="1"/>
          <p:nvPr/>
        </p:nvSpPr>
        <p:spPr>
          <a:xfrm>
            <a:off x="694944" y="5230368"/>
            <a:ext cx="2363724"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has one job and the skills for it.</a:t>
            </a:r>
          </a:p>
        </p:txBody>
      </p:sp>
      <p:sp>
        <p:nvSpPr>
          <p:cNvPr id="50" name="Rounded Rectangle 49"/>
          <p:cNvSpPr/>
          <p:nvPr/>
        </p:nvSpPr>
        <p:spPr>
          <a:xfrm>
            <a:off x="3351276" y="4809744"/>
            <a:ext cx="2656332"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51276" y="4809744"/>
            <a:ext cx="2656332"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97580" y="4919472"/>
            <a:ext cx="2363724"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Independent review</a:t>
            </a:r>
          </a:p>
        </p:txBody>
      </p:sp>
      <p:sp>
        <p:nvSpPr>
          <p:cNvPr id="53" name="TextBox 52"/>
          <p:cNvSpPr txBox="1"/>
          <p:nvPr/>
        </p:nvSpPr>
        <p:spPr>
          <a:xfrm>
            <a:off x="3497580" y="5230368"/>
            <a:ext cx="2363724"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reviewer never marks its own work.</a:t>
            </a:r>
          </a:p>
        </p:txBody>
      </p:sp>
      <p:sp>
        <p:nvSpPr>
          <p:cNvPr id="54" name="Rounded Rectangle 53"/>
          <p:cNvSpPr/>
          <p:nvPr/>
        </p:nvSpPr>
        <p:spPr>
          <a:xfrm>
            <a:off x="6153912" y="4809744"/>
            <a:ext cx="2656332"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53912" y="4809744"/>
            <a:ext cx="2656332"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00216" y="4919472"/>
            <a:ext cx="2363724"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Parallel work</a:t>
            </a:r>
          </a:p>
        </p:txBody>
      </p:sp>
      <p:sp>
        <p:nvSpPr>
          <p:cNvPr id="57" name="TextBox 56"/>
          <p:cNvSpPr txBox="1"/>
          <p:nvPr/>
        </p:nvSpPr>
        <p:spPr>
          <a:xfrm>
            <a:off x="6300216" y="5230368"/>
            <a:ext cx="2363724"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Script for EP03 while EP02 renders.</a:t>
            </a:r>
          </a:p>
        </p:txBody>
      </p:sp>
      <p:sp>
        <p:nvSpPr>
          <p:cNvPr id="58" name="Rounded Rectangle 57"/>
          <p:cNvSpPr/>
          <p:nvPr/>
        </p:nvSpPr>
        <p:spPr>
          <a:xfrm>
            <a:off x="8956548" y="4809744"/>
            <a:ext cx="2656332"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56548" y="4809744"/>
            <a:ext cx="2656332"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02852" y="4919472"/>
            <a:ext cx="2363724"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Human approval</a:t>
            </a:r>
          </a:p>
        </p:txBody>
      </p:sp>
      <p:sp>
        <p:nvSpPr>
          <p:cNvPr id="61" name="TextBox 60"/>
          <p:cNvSpPr txBox="1"/>
          <p:nvPr/>
        </p:nvSpPr>
        <p:spPr>
          <a:xfrm>
            <a:off x="9102852" y="5230368"/>
            <a:ext cx="2363724"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 person signs off before anything is published.</a:t>
            </a:r>
          </a:p>
        </p:txBody>
      </p:sp>
    </p:spTree>
  </p:cSld>
  <p:clrMapOvr>
    <a:masterClrMapping/>
  </p:clrMapOvr>
  <p:transition spd="fast">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HERMES AGENT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Agent — the Agent That Grows With You</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hermes-agent.nousresearch.com · open source, by Nous Research.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8" name="Rectangle 7"/>
          <p:cNvSpPr/>
          <p:nvPr/>
        </p:nvSpPr>
        <p:spPr>
          <a:xfrm>
            <a:off x="512064" y="2048255"/>
            <a:ext cx="6320332" cy="3977639"/>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rmes-home.png"/>
          <p:cNvPicPr>
            <a:picLocks noChangeAspect="1"/>
          </p:cNvPicPr>
          <p:nvPr/>
        </p:nvPicPr>
        <p:blipFill>
          <a:blip r:embed="rId2"/>
          <a:stretch>
            <a:fillRect/>
          </a:stretch>
        </p:blipFill>
        <p:spPr>
          <a:xfrm>
            <a:off x="548640" y="2084831"/>
            <a:ext cx="6247180" cy="3904487"/>
          </a:xfrm>
          <a:prstGeom prst="rect">
            <a:avLst/>
          </a:prstGeom>
        </p:spPr>
      </p:pic>
      <p:sp>
        <p:nvSpPr>
          <p:cNvPr id="10" name="Rectangle 9"/>
          <p:cNvSpPr/>
          <p:nvPr/>
        </p:nvSpPr>
        <p:spPr>
          <a:xfrm>
            <a:off x="7161580"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2748" y="2130551"/>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Always on</a:t>
            </a:r>
          </a:p>
        </p:txBody>
      </p:sp>
      <p:sp>
        <p:nvSpPr>
          <p:cNvPr id="12" name="TextBox 11"/>
          <p:cNvSpPr txBox="1"/>
          <p:nvPr/>
        </p:nvSpPr>
        <p:spPr>
          <a:xfrm>
            <a:off x="7362748" y="2459735"/>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Runs on your computer or a server; reachable from Telegram, Discord, Slack and more.</a:t>
            </a:r>
          </a:p>
        </p:txBody>
      </p:sp>
      <p:sp>
        <p:nvSpPr>
          <p:cNvPr id="13" name="Rectangle 12"/>
          <p:cNvSpPr/>
          <p:nvPr/>
        </p:nvSpPr>
        <p:spPr>
          <a:xfrm>
            <a:off x="7161580" y="3145536"/>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2748" y="3072384"/>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Remembers</a:t>
            </a:r>
          </a:p>
        </p:txBody>
      </p:sp>
      <p:sp>
        <p:nvSpPr>
          <p:cNvPr id="15" name="TextBox 14"/>
          <p:cNvSpPr txBox="1"/>
          <p:nvPr/>
        </p:nvSpPr>
        <p:spPr>
          <a:xfrm>
            <a:off x="7362748" y="3401568"/>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Long-term memory across every session.</a:t>
            </a:r>
          </a:p>
        </p:txBody>
      </p:sp>
      <p:sp>
        <p:nvSpPr>
          <p:cNvPr id="16" name="Rectangle 15"/>
          <p:cNvSpPr/>
          <p:nvPr/>
        </p:nvSpPr>
        <p:spPr>
          <a:xfrm>
            <a:off x="7161580" y="40873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2748" y="4014216"/>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Grows</a:t>
            </a:r>
          </a:p>
        </p:txBody>
      </p:sp>
      <p:sp>
        <p:nvSpPr>
          <p:cNvPr id="18" name="TextBox 17"/>
          <p:cNvSpPr txBox="1"/>
          <p:nvPr/>
        </p:nvSpPr>
        <p:spPr>
          <a:xfrm>
            <a:off x="7362748" y="4343400"/>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Saves good workflows as skills it can reuse and improve.</a:t>
            </a:r>
          </a:p>
        </p:txBody>
      </p:sp>
      <p:sp>
        <p:nvSpPr>
          <p:cNvPr id="19" name="Rectangle 18"/>
          <p:cNvSpPr/>
          <p:nvPr/>
        </p:nvSpPr>
        <p:spPr>
          <a:xfrm>
            <a:off x="7161580" y="5029200"/>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2748" y="4956048"/>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Many models</a:t>
            </a:r>
          </a:p>
        </p:txBody>
      </p:sp>
      <p:sp>
        <p:nvSpPr>
          <p:cNvPr id="21" name="TextBox 20"/>
          <p:cNvSpPr txBox="1"/>
          <p:nvPr/>
        </p:nvSpPr>
        <p:spPr>
          <a:xfrm>
            <a:off x="7362748" y="5285232"/>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Works with the provider you choose — set with hermes setup.</a:t>
            </a:r>
          </a:p>
        </p:txBody>
      </p:sp>
    </p:spTree>
  </p:cSld>
  <p:clrMapOvr>
    <a:masterClrMapping/>
  </p:clrMapOvr>
  <p:transition spd="fast">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Hermes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Desktop app or one terminal command. Both share the same profiles and settings.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1500" b="1">
                <a:solidFill>
                  <a:srgbClr val="FFFFFF"/>
                </a:solidFill>
                <a:latin typeface="Cambria"/>
              </a:defRPr>
            </a:pPr>
            <a:r>
              <a:rPr sz="1500" b="1">
                <a:solidFill>
                  <a:srgbClr val="FFFFFF"/>
                </a:solidFill>
                <a:latin typeface="Cambria"/>
                <a:hlinkClick r:id="rId2"/>
              </a:rPr>
              <a:t>hermes-agent.nousresearch.com</a:t>
            </a:r>
          </a:p>
        </p:txBody>
      </p:sp>
      <p:sp>
        <p:nvSpPr>
          <p:cNvPr id="11" name="Rounded Rectangle 10"/>
          <p:cNvSpPr/>
          <p:nvPr/>
        </p:nvSpPr>
        <p:spPr>
          <a:xfrm>
            <a:off x="822960" y="3273552"/>
            <a:ext cx="3749040" cy="731520"/>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3649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Desktop app</a:t>
            </a:r>
          </a:p>
        </p:txBody>
      </p:sp>
      <p:sp>
        <p:nvSpPr>
          <p:cNvPr id="13" name="TextBox 12"/>
          <p:cNvSpPr txBox="1"/>
          <p:nvPr/>
        </p:nvSpPr>
        <p:spPr>
          <a:xfrm>
            <a:off x="1005840" y="3621024"/>
            <a:ext cx="3383280" cy="237744"/>
          </a:xfrm>
          <a:prstGeom prst="rect">
            <a:avLst/>
          </a:prstGeom>
          <a:noFill/>
        </p:spPr>
        <p:txBody>
          <a:bodyPr wrap="square" lIns="18288" rIns="18288" tIns="9144" bIns="9144">
            <a:spAutoFit/>
          </a:bodyPr>
          <a:lstStyle/>
          <a:p>
            <a:pPr>
              <a:lnSpc>
                <a:spcPct val="100000"/>
              </a:lnSpc>
              <a:defRPr sz="1000" b="0">
                <a:solidFill>
                  <a:srgbClr val="C9C4B9"/>
                </a:solidFill>
                <a:latin typeface="Calibri"/>
              </a:defRPr>
            </a:pPr>
            <a:r>
              <a:t>macOS and Windows installer on the home page</a:t>
            </a:r>
          </a:p>
        </p:txBody>
      </p:sp>
      <p:sp>
        <p:nvSpPr>
          <p:cNvPr id="14" name="Rounded Rectangle 13"/>
          <p:cNvSpPr/>
          <p:nvPr/>
        </p:nvSpPr>
        <p:spPr>
          <a:xfrm>
            <a:off x="822960" y="4114800"/>
            <a:ext cx="3749040" cy="731520"/>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062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Terminal</a:t>
            </a:r>
          </a:p>
        </p:txBody>
      </p:sp>
      <p:sp>
        <p:nvSpPr>
          <p:cNvPr id="16" name="TextBox 15"/>
          <p:cNvSpPr txBox="1"/>
          <p:nvPr/>
        </p:nvSpPr>
        <p:spPr>
          <a:xfrm>
            <a:off x="1005840" y="4462272"/>
            <a:ext cx="3383280" cy="237744"/>
          </a:xfrm>
          <a:prstGeom prst="rect">
            <a:avLst/>
          </a:prstGeom>
          <a:noFill/>
        </p:spPr>
        <p:txBody>
          <a:bodyPr wrap="square" lIns="18288" rIns="18288" tIns="9144" bIns="9144">
            <a:spAutoFit/>
          </a:bodyPr>
          <a:lstStyle/>
          <a:p>
            <a:pPr>
              <a:lnSpc>
                <a:spcPct val="100000"/>
              </a:lnSpc>
              <a:defRPr sz="1000" b="0">
                <a:solidFill>
                  <a:srgbClr val="C9C4B9"/>
                </a:solidFill>
                <a:latin typeface="Calibri"/>
              </a:defRPr>
            </a:pPr>
            <a:r>
              <a:t>macOS/Linux: curl …/install.sh | bash</a:t>
            </a:r>
          </a:p>
        </p:txBody>
      </p:sp>
      <p:sp>
        <p:nvSpPr>
          <p:cNvPr id="17" name="TextBox 16"/>
          <p:cNvSpPr txBox="1"/>
          <p:nvPr/>
        </p:nvSpPr>
        <p:spPr>
          <a:xfrm>
            <a:off x="822960" y="5084064"/>
            <a:ext cx="3749040" cy="566928"/>
          </a:xfrm>
          <a:prstGeom prst="rect">
            <a:avLst/>
          </a:prstGeom>
          <a:noFill/>
        </p:spPr>
        <p:txBody>
          <a:bodyPr wrap="square" lIns="18288" rIns="18288" tIns="9144" bIns="9144">
            <a:spAutoFit/>
          </a:bodyPr>
          <a:lstStyle/>
          <a:p>
            <a:pPr>
              <a:lnSpc>
                <a:spcPct val="100000"/>
              </a:lnSpc>
              <a:defRPr sz="1050" b="1">
                <a:solidFill>
                  <a:srgbClr val="D97757"/>
                </a:solidFill>
                <a:latin typeface="Calibri"/>
              </a:defRPr>
            </a:pPr>
            <a:r>
              <a:t>Profiles isolate settings, not your files: the agent can use your account's file access.</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Install  </a:t>
            </a:r>
            <a:r>
              <a:rPr sz="1350">
                <a:solidFill>
                  <a:srgbClr val="6B6862"/>
                </a:solidFill>
                <a:latin typeface="Calibri"/>
              </a:rPr>
              <a:t>Run the Desktop installer, or the terminal command for your system.</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Choose a model  </a:t>
            </a:r>
            <a:r>
              <a:rPr sz="1350">
                <a:solidFill>
                  <a:srgbClr val="6B6862"/>
                </a:solidFill>
                <a:latin typeface="Calibri"/>
              </a:rPr>
              <a:t>Run hermes setup (or hermes model) and sign in to a provider.</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Check  </a:t>
            </a:r>
            <a:r>
              <a:rPr sz="1350">
                <a:solidFill>
                  <a:srgbClr val="6B6862"/>
                </a:solidFill>
                <a:latin typeface="Calibri"/>
              </a:rPr>
              <a:t>hermes doctor confirms the install, tools and model.</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Chat  </a:t>
            </a:r>
            <a:r>
              <a:rPr sz="1350">
                <a:solidFill>
                  <a:srgbClr val="6B6862"/>
                </a:solidFill>
                <a:latin typeface="Calibri"/>
              </a:rPr>
              <a:t>Open Hermes Desktop, or type hermes in a terminal.</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Stay safe  </a:t>
            </a:r>
            <a:r>
              <a:rPr sz="1350">
                <a:solidFill>
                  <a:srgbClr val="6B6862"/>
                </a:solidFill>
                <a:latin typeface="Calibri"/>
              </a:rPr>
              <a:t>Keys live in ~/.hermes/.env — never in a prompt, file or screenshot.</a:t>
            </a:r>
          </a:p>
        </p:txBody>
      </p:sp>
    </p:spTree>
  </p:cSld>
  <p:clrMapOvr>
    <a:masterClrMapping/>
  </p:clrMapOvr>
  <p:transition spd="fast">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EXTENDING HERMES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Tools, Skills, Plugins, MCP and Profiles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to extend Hermes — each loaded or started differently.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BUILT IN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Tools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Actions Hermes can take: files, terminal, browser, web search, image generation.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web_search</a:t>
            </a:r>
          </a:p>
          <a:p>
            <a:pPr>
              <a:lnSpc>
                <a:spcPct val="100000"/>
              </a:lnSpc>
              <a:defRPr sz="1050" b="0">
                <a:solidFill>
                  <a:srgbClr val="21201C"/>
                </a:solidFill>
                <a:latin typeface="Courier New"/>
              </a:defRPr>
            </a:pPr>
            <a:r>
              <a:t>terminal</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Ship with Hermes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WHEN THE TASK MATCHES</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SKILL.md instructions loaded on demand, or called as /skill-name.</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/kopi-compliance-</a:t>
            </a:r>
          </a:p>
          <a:p>
            <a:pPr>
              <a:lnSpc>
                <a:spcPct val="100000"/>
              </a:lnSpc>
              <a:defRPr sz="1050" b="0">
                <a:solidFill>
                  <a:srgbClr val="21201C"/>
                </a:solidFill>
                <a:latin typeface="Courier New"/>
              </a:defRPr>
            </a:pPr>
            <a:r>
              <a:t>review</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~/.hermes/skills/</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AT START-UP</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Plugins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Python code that adds tools, hooks, commands or a memory backend.</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hermes plugins</a:t>
            </a:r>
          </a:p>
          <a:p>
            <a:pPr>
              <a:lnSpc>
                <a:spcPct val="100000"/>
              </a:lnSpc>
              <a:defRPr sz="1050" b="0">
                <a:solidFill>
                  <a:srgbClr val="21201C"/>
                </a:solidFill>
                <a:latin typeface="Courier New"/>
              </a:defRPr>
            </a:pPr>
            <a:r>
              <a:t>install &lt;name&gt;</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~/.hermes/plugins/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WHEN CONNECTED</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MCP servers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An outside server whose tools Hermes discovers and uses.</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hermes mcp add</a:t>
            </a:r>
          </a:p>
          <a:p>
            <a:pPr>
              <a:lnSpc>
                <a:spcPct val="100000"/>
              </a:lnSpc>
              <a:defRPr sz="1050" b="0">
                <a:solidFill>
                  <a:srgbClr val="21201C"/>
                </a:solidFill>
                <a:latin typeface="Courier New"/>
              </a:defRPr>
            </a:pPr>
            <a:r>
              <a:t>&lt;name&gt; --url …</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config.yaml</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PER AGENT</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Profiles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A separate Hermes: own SOUL.md, memory, skills, keys.</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hermes profile</a:t>
            </a:r>
          </a:p>
          <a:p>
            <a:pPr>
              <a:lnSpc>
                <a:spcPct val="100000"/>
              </a:lnSpc>
              <a:defRPr sz="1050" b="0">
                <a:solidFill>
                  <a:srgbClr val="21201C"/>
                </a:solidFill>
                <a:latin typeface="Courier New"/>
              </a:defRPr>
            </a:pPr>
            <a:r>
              <a:t>create director</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~/.hermes/profiles/</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the lightest option: a skill before a plugin, a plugin before writing your own MCP server.</a:t>
            </a:r>
          </a:p>
        </p:txBody>
      </p:sp>
    </p:spTree>
  </p:cSld>
  <p:clrMapOvr>
    <a:masterClrMapping/>
  </p:clrMapOvr>
  <p:transition spd="fast">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Hermes Skills Hub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Discover, search and install skills from 12 registries — built-in, optional and community.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8" name="Rectangle 7"/>
          <p:cNvSpPr/>
          <p:nvPr/>
        </p:nvSpPr>
        <p:spPr>
          <a:xfrm>
            <a:off x="512064" y="2048255"/>
            <a:ext cx="6320332" cy="3977639"/>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rmes-skills.png"/>
          <p:cNvPicPr>
            <a:picLocks noChangeAspect="1"/>
          </p:cNvPicPr>
          <p:nvPr/>
        </p:nvPicPr>
        <p:blipFill>
          <a:blip r:embed="rId2"/>
          <a:stretch>
            <a:fillRect/>
          </a:stretch>
        </p:blipFill>
        <p:spPr>
          <a:xfrm>
            <a:off x="548640" y="2084831"/>
            <a:ext cx="6247180" cy="3904487"/>
          </a:xfrm>
          <a:prstGeom prst="rect">
            <a:avLst/>
          </a:prstGeom>
        </p:spPr>
      </p:pic>
      <p:sp>
        <p:nvSpPr>
          <p:cNvPr id="10" name="Rectangle 9"/>
          <p:cNvSpPr/>
          <p:nvPr/>
        </p:nvSpPr>
        <p:spPr>
          <a:xfrm>
            <a:off x="7161580"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2748" y="2130551"/>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Browse and search</a:t>
            </a:r>
          </a:p>
        </p:txBody>
      </p:sp>
      <p:sp>
        <p:nvSpPr>
          <p:cNvPr id="12" name="TextBox 11"/>
          <p:cNvSpPr txBox="1"/>
          <p:nvPr/>
        </p:nvSpPr>
        <p:spPr>
          <a:xfrm>
            <a:off x="7362748" y="2459735"/>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hermes skills browse · hermes skills search video</a:t>
            </a:r>
          </a:p>
        </p:txBody>
      </p:sp>
      <p:sp>
        <p:nvSpPr>
          <p:cNvPr id="13" name="Rectangle 12"/>
          <p:cNvSpPr/>
          <p:nvPr/>
        </p:nvSpPr>
        <p:spPr>
          <a:xfrm>
            <a:off x="7161580" y="3145536"/>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2748" y="3072384"/>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Install</a:t>
            </a:r>
          </a:p>
        </p:txBody>
      </p:sp>
      <p:sp>
        <p:nvSpPr>
          <p:cNvPr id="15" name="TextBox 14"/>
          <p:cNvSpPr txBox="1"/>
          <p:nvPr/>
        </p:nvSpPr>
        <p:spPr>
          <a:xfrm>
            <a:off x="7362748" y="3401568"/>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hermes skills install official/creative/kanban-video-orchestrator</a:t>
            </a:r>
          </a:p>
        </p:txBody>
      </p:sp>
      <p:sp>
        <p:nvSpPr>
          <p:cNvPr id="16" name="Rectangle 15"/>
          <p:cNvSpPr/>
          <p:nvPr/>
        </p:nvSpPr>
        <p:spPr>
          <a:xfrm>
            <a:off x="7161580" y="40873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2748" y="4014216"/>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Use</a:t>
            </a:r>
          </a:p>
        </p:txBody>
      </p:sp>
      <p:sp>
        <p:nvSpPr>
          <p:cNvPr id="18" name="TextBox 17"/>
          <p:cNvSpPr txBox="1"/>
          <p:nvPr/>
        </p:nvSpPr>
        <p:spPr>
          <a:xfrm>
            <a:off x="7362748" y="4343400"/>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Every skill becomes a slash command: /youtube-content</a:t>
            </a:r>
          </a:p>
        </p:txBody>
      </p:sp>
      <p:sp>
        <p:nvSpPr>
          <p:cNvPr id="19" name="Rectangle 18"/>
          <p:cNvSpPr/>
          <p:nvPr/>
        </p:nvSpPr>
        <p:spPr>
          <a:xfrm>
            <a:off x="7161580" y="5029200"/>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2748" y="4956048"/>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Trust</a:t>
            </a:r>
          </a:p>
        </p:txBody>
      </p:sp>
      <p:sp>
        <p:nvSpPr>
          <p:cNvPr id="21" name="TextBox 20"/>
          <p:cNvSpPr txBox="1"/>
          <p:nvPr/>
        </p:nvSpPr>
        <p:spPr>
          <a:xfrm>
            <a:off x="7362748" y="5285232"/>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Hub installs are scanned; review community skills before you trust them.</a:t>
            </a:r>
          </a:p>
        </p:txBody>
      </p:sp>
    </p:spTree>
  </p:cSld>
  <p:clrMapOvr>
    <a:masterClrMapping/>
  </p:clrMapOvr>
  <p:transition spd="fast">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Skills for a Video Studio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Skills listed on the Hermes Skills Hub (checked 8 Oct 2026).</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a:t>
            </a:r>
          </a:p>
        </p:txBody>
      </p:sp>
      <p:sp>
        <p:nvSpPr>
          <p:cNvPr id="10" name="TextBox 9"/>
          <p:cNvSpPr txBox="1"/>
          <p:nvPr/>
        </p:nvSpPr>
        <p:spPr>
          <a:xfrm>
            <a:off x="3847795" y="2203703"/>
            <a:ext cx="127467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TYPE</a:t>
            </a:r>
          </a:p>
        </p:txBody>
      </p:sp>
      <p:sp>
        <p:nvSpPr>
          <p:cNvPr id="11" name="TextBox 10"/>
          <p:cNvSpPr txBox="1"/>
          <p:nvPr/>
        </p:nvSpPr>
        <p:spPr>
          <a:xfrm>
            <a:off x="5396788" y="2203703"/>
            <a:ext cx="6142939"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DOES</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82366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flova</a:t>
            </a:r>
          </a:p>
        </p:txBody>
      </p:sp>
      <p:sp>
        <p:nvSpPr>
          <p:cNvPr id="14" name="TextBox 13"/>
          <p:cNvSpPr txBox="1"/>
          <p:nvPr/>
        </p:nvSpPr>
        <p:spPr>
          <a:xfrm>
            <a:off x="3847795" y="2560320"/>
            <a:ext cx="127467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Flova CLI</a:t>
            </a:r>
          </a:p>
        </p:txBody>
      </p:sp>
      <p:sp>
        <p:nvSpPr>
          <p:cNvPr id="15" name="TextBox 14"/>
          <p:cNvSpPr txBox="1"/>
          <p:nvPr/>
        </p:nvSpPr>
        <p:spPr>
          <a:xfrm>
            <a:off x="5396788" y="2560320"/>
            <a:ext cx="614293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Drives Flova: create projects, send requests, read real progress, export.</a:t>
            </a:r>
          </a:p>
        </p:txBody>
      </p:sp>
      <p:sp>
        <p:nvSpPr>
          <p:cNvPr id="16" name="TextBox 15"/>
          <p:cNvSpPr txBox="1"/>
          <p:nvPr/>
        </p:nvSpPr>
        <p:spPr>
          <a:xfrm>
            <a:off x="749808" y="3093720"/>
            <a:ext cx="282366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kanban-video-orchestrator</a:t>
            </a:r>
          </a:p>
        </p:txBody>
      </p:sp>
      <p:sp>
        <p:nvSpPr>
          <p:cNvPr id="17" name="TextBox 16"/>
          <p:cNvSpPr txBox="1"/>
          <p:nvPr/>
        </p:nvSpPr>
        <p:spPr>
          <a:xfrm>
            <a:off x="3847795" y="3093720"/>
            <a:ext cx="127467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Optional</a:t>
            </a:r>
          </a:p>
        </p:txBody>
      </p:sp>
      <p:sp>
        <p:nvSpPr>
          <p:cNvPr id="18" name="TextBox 17"/>
          <p:cNvSpPr txBox="1"/>
          <p:nvPr/>
        </p:nvSpPr>
        <p:spPr>
          <a:xfrm>
            <a:off x="5396788" y="3093720"/>
            <a:ext cx="614293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and runs multi-agent video production on Kanban (Lab 6).</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82366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youtube-content</a:t>
            </a:r>
          </a:p>
        </p:txBody>
      </p:sp>
      <p:sp>
        <p:nvSpPr>
          <p:cNvPr id="21" name="TextBox 20"/>
          <p:cNvSpPr txBox="1"/>
          <p:nvPr/>
        </p:nvSpPr>
        <p:spPr>
          <a:xfrm>
            <a:off x="3847795" y="3627120"/>
            <a:ext cx="127467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Built-in</a:t>
            </a:r>
          </a:p>
        </p:txBody>
      </p:sp>
      <p:sp>
        <p:nvSpPr>
          <p:cNvPr id="22" name="TextBox 21"/>
          <p:cNvSpPr txBox="1"/>
          <p:nvPr/>
        </p:nvSpPr>
        <p:spPr>
          <a:xfrm>
            <a:off x="5396788" y="3627120"/>
            <a:ext cx="614293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Turns YouTube transcripts into summaries, threads and blog posts.</a:t>
            </a:r>
          </a:p>
        </p:txBody>
      </p:sp>
      <p:sp>
        <p:nvSpPr>
          <p:cNvPr id="23" name="TextBox 22"/>
          <p:cNvSpPr txBox="1"/>
          <p:nvPr/>
        </p:nvSpPr>
        <p:spPr>
          <a:xfrm>
            <a:off x="749808" y="4160520"/>
            <a:ext cx="282366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manim-video</a:t>
            </a:r>
          </a:p>
        </p:txBody>
      </p:sp>
      <p:sp>
        <p:nvSpPr>
          <p:cNvPr id="24" name="TextBox 23"/>
          <p:cNvSpPr txBox="1"/>
          <p:nvPr/>
        </p:nvSpPr>
        <p:spPr>
          <a:xfrm>
            <a:off x="3847795" y="4160520"/>
            <a:ext cx="127467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Built-in</a:t>
            </a:r>
          </a:p>
        </p:txBody>
      </p:sp>
      <p:sp>
        <p:nvSpPr>
          <p:cNvPr id="25" name="TextBox 24"/>
          <p:cNvSpPr txBox="1"/>
          <p:nvPr/>
        </p:nvSpPr>
        <p:spPr>
          <a:xfrm>
            <a:off x="5396788" y="4160520"/>
            <a:ext cx="614293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Mathematical and explainer animations (Manim).</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82366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hyperframes</a:t>
            </a:r>
          </a:p>
        </p:txBody>
      </p:sp>
      <p:sp>
        <p:nvSpPr>
          <p:cNvPr id="28" name="TextBox 27"/>
          <p:cNvSpPr txBox="1"/>
          <p:nvPr/>
        </p:nvSpPr>
        <p:spPr>
          <a:xfrm>
            <a:off x="3847795" y="4693920"/>
            <a:ext cx="127467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Optional</a:t>
            </a:r>
          </a:p>
        </p:txBody>
      </p:sp>
      <p:sp>
        <p:nvSpPr>
          <p:cNvPr id="29" name="TextBox 28"/>
          <p:cNvSpPr txBox="1"/>
          <p:nvPr/>
        </p:nvSpPr>
        <p:spPr>
          <a:xfrm>
            <a:off x="5396788" y="4693920"/>
            <a:ext cx="614293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Renders MP4 or WebM video from HTML compositions.</a:t>
            </a:r>
          </a:p>
        </p:txBody>
      </p:sp>
      <p:sp>
        <p:nvSpPr>
          <p:cNvPr id="30" name="TextBox 29"/>
          <p:cNvSpPr txBox="1"/>
          <p:nvPr/>
        </p:nvSpPr>
        <p:spPr>
          <a:xfrm>
            <a:off x="749808" y="5227319"/>
            <a:ext cx="282366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kopi-compliance-review</a:t>
            </a:r>
          </a:p>
        </p:txBody>
      </p:sp>
      <p:sp>
        <p:nvSpPr>
          <p:cNvPr id="31" name="TextBox 30"/>
          <p:cNvSpPr txBox="1"/>
          <p:nvPr/>
        </p:nvSpPr>
        <p:spPr>
          <a:xfrm>
            <a:off x="3847795" y="5227319"/>
            <a:ext cx="1274673"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Your own</a:t>
            </a:r>
          </a:p>
        </p:txBody>
      </p:sp>
      <p:sp>
        <p:nvSpPr>
          <p:cNvPr id="32" name="TextBox 31"/>
          <p:cNvSpPr txBox="1"/>
          <p:nvPr/>
        </p:nvSpPr>
        <p:spPr>
          <a:xfrm>
            <a:off x="5396788" y="5227319"/>
            <a:ext cx="614293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studio's standards as a repeatable review (Lab 5).</a:t>
            </a:r>
          </a:p>
        </p:txBody>
      </p:sp>
    </p:spTree>
  </p:cSld>
  <p:clrMapOvr>
    <a:masterClrMapping/>
  </p:clrMapOvr>
  <p:transition spd="fast">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PLUGINS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Plugins: Code That Extends Hermes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plugin adds tools, hooks, slash commands or backends. It runs inside Hermes, so install only what you trust.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COMMAND</a:t>
            </a:r>
          </a:p>
        </p:txBody>
      </p:sp>
      <p:sp>
        <p:nvSpPr>
          <p:cNvPr id="10" name="TextBox 9"/>
          <p:cNvSpPr txBox="1"/>
          <p:nvPr/>
        </p:nvSpPr>
        <p:spPr>
          <a:xfrm>
            <a:off x="4954219" y="2203703"/>
            <a:ext cx="658550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DOES</a:t>
            </a:r>
          </a:p>
        </p:txBody>
      </p:sp>
      <p:sp>
        <p:nvSpPr>
          <p:cNvPr id="11" name="Rectangle 10"/>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3930091"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plugins list</a:t>
            </a:r>
          </a:p>
        </p:txBody>
      </p:sp>
      <p:sp>
        <p:nvSpPr>
          <p:cNvPr id="13" name="TextBox 12"/>
          <p:cNvSpPr txBox="1"/>
          <p:nvPr/>
        </p:nvSpPr>
        <p:spPr>
          <a:xfrm>
            <a:off x="4954219" y="2560320"/>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Show installed plugins and whether each is enabled.</a:t>
            </a:r>
          </a:p>
        </p:txBody>
      </p:sp>
      <p:sp>
        <p:nvSpPr>
          <p:cNvPr id="14" name="TextBox 13"/>
          <p:cNvSpPr txBox="1"/>
          <p:nvPr/>
        </p:nvSpPr>
        <p:spPr>
          <a:xfrm>
            <a:off x="749808" y="3189427"/>
            <a:ext cx="3930091"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plugins search &lt;term&gt;</a:t>
            </a:r>
          </a:p>
        </p:txBody>
      </p:sp>
      <p:sp>
        <p:nvSpPr>
          <p:cNvPr id="15" name="TextBox 14"/>
          <p:cNvSpPr txBox="1"/>
          <p:nvPr/>
        </p:nvSpPr>
        <p:spPr>
          <a:xfrm>
            <a:off x="4954219" y="3189427"/>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Search the curated catalogue.</a:t>
            </a:r>
          </a:p>
        </p:txBody>
      </p:sp>
      <p:sp>
        <p:nvSpPr>
          <p:cNvPr id="16" name="Rectangle 15"/>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818534"/>
            <a:ext cx="3930091"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plugins install &lt;name&gt;</a:t>
            </a:r>
          </a:p>
        </p:txBody>
      </p:sp>
      <p:sp>
        <p:nvSpPr>
          <p:cNvPr id="18" name="TextBox 17"/>
          <p:cNvSpPr txBox="1"/>
          <p:nvPr/>
        </p:nvSpPr>
        <p:spPr>
          <a:xfrm>
            <a:off x="4954219" y="3818534"/>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Install from the catalogue or a GitHub owner/repo.</a:t>
            </a:r>
          </a:p>
        </p:txBody>
      </p:sp>
      <p:sp>
        <p:nvSpPr>
          <p:cNvPr id="19" name="TextBox 18"/>
          <p:cNvSpPr txBox="1"/>
          <p:nvPr/>
        </p:nvSpPr>
        <p:spPr>
          <a:xfrm>
            <a:off x="749808" y="4447641"/>
            <a:ext cx="3930091"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plugins enable &lt;name&gt;</a:t>
            </a:r>
          </a:p>
        </p:txBody>
      </p:sp>
      <p:sp>
        <p:nvSpPr>
          <p:cNvPr id="20" name="TextBox 19"/>
          <p:cNvSpPr txBox="1"/>
          <p:nvPr/>
        </p:nvSpPr>
        <p:spPr>
          <a:xfrm>
            <a:off x="4954219" y="4447641"/>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Opt in — general plugins are disabled until you enable them.</a:t>
            </a:r>
          </a:p>
        </p:txBody>
      </p:sp>
      <p:sp>
        <p:nvSpPr>
          <p:cNvPr id="21" name="Rectangle 20"/>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76748"/>
            <a:ext cx="3930091"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 provider plugins</a:t>
            </a:r>
          </a:p>
        </p:txBody>
      </p:sp>
      <p:sp>
        <p:nvSpPr>
          <p:cNvPr id="23" name="TextBox 22"/>
          <p:cNvSpPr txBox="1"/>
          <p:nvPr/>
        </p:nvSpPr>
        <p:spPr>
          <a:xfrm>
            <a:off x="4954219" y="5076748"/>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Honcho, Mem0 or Supermemory as the memory backend — one active at a time.</a:t>
            </a:r>
          </a:p>
        </p:txBody>
      </p:sp>
      <p:sp>
        <p:nvSpPr>
          <p:cNvPr id="24" name="Rounded Rectangle 23"/>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Pin a plugin to a commit (--ref) for a repeatable studio set-up.</a:t>
            </a:r>
          </a:p>
        </p:txBody>
      </p:sp>
    </p:spTree>
  </p:cSld>
  <p:clrMapOvr>
    <a:masterClrMapping/>
  </p:clrMapOvr>
  <p:transition spd="fast">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CONNECT FLOVA</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Connecting Hermes to Flova</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Flova publishes an Agent CLI and skill for Codex, Claude Code, Hermes and others.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ectangle 7"/>
          <p:cNvSpPr/>
          <p:nvPr/>
        </p:nvSpPr>
        <p:spPr>
          <a:xfrm>
            <a:off x="512064" y="2048255"/>
            <a:ext cx="6320332" cy="3977639"/>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lova-cli.png"/>
          <p:cNvPicPr>
            <a:picLocks noChangeAspect="1"/>
          </p:cNvPicPr>
          <p:nvPr/>
        </p:nvPicPr>
        <p:blipFill>
          <a:blip r:embed="rId2"/>
          <a:stretch>
            <a:fillRect/>
          </a:stretch>
        </p:blipFill>
        <p:spPr>
          <a:xfrm>
            <a:off x="548640" y="2084831"/>
            <a:ext cx="6247180" cy="3904487"/>
          </a:xfrm>
          <a:prstGeom prst="rect">
            <a:avLst/>
          </a:prstGeom>
        </p:spPr>
      </p:pic>
      <p:sp>
        <p:nvSpPr>
          <p:cNvPr id="10" name="Rectangle 9"/>
          <p:cNvSpPr/>
          <p:nvPr/>
        </p:nvSpPr>
        <p:spPr>
          <a:xfrm>
            <a:off x="7161580"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2748" y="2130551"/>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setup prompt</a:t>
            </a:r>
          </a:p>
        </p:txBody>
      </p:sp>
      <p:sp>
        <p:nvSpPr>
          <p:cNvPr id="12" name="TextBox 11"/>
          <p:cNvSpPr txBox="1"/>
          <p:nvPr/>
        </p:nvSpPr>
        <p:spPr>
          <a:xfrm>
            <a:off x="7362748" y="2459735"/>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"Please help me install Flova CLI: https://cli.flova.ai/flovaCLI-setup.md"</a:t>
            </a:r>
          </a:p>
        </p:txBody>
      </p:sp>
      <p:sp>
        <p:nvSpPr>
          <p:cNvPr id="13" name="Rectangle 12"/>
          <p:cNvSpPr/>
          <p:nvPr/>
        </p:nvSpPr>
        <p:spPr>
          <a:xfrm>
            <a:off x="7161580" y="3145536"/>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2748" y="3072384"/>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The skill</a:t>
            </a:r>
          </a:p>
        </p:txBody>
      </p:sp>
      <p:sp>
        <p:nvSpPr>
          <p:cNvPr id="15" name="TextBox 14"/>
          <p:cNvSpPr txBox="1"/>
          <p:nvPr/>
        </p:nvSpPr>
        <p:spPr>
          <a:xfrm>
            <a:off x="7362748" y="3401568"/>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Installs to ~/.flova/SKILL.md; link it into ~/.hermes/skills/flova.</a:t>
            </a:r>
          </a:p>
        </p:txBody>
      </p:sp>
      <p:sp>
        <p:nvSpPr>
          <p:cNvPr id="16" name="Rectangle 15"/>
          <p:cNvSpPr/>
          <p:nvPr/>
        </p:nvSpPr>
        <p:spPr>
          <a:xfrm>
            <a:off x="7161580" y="40873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2748" y="4014216"/>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Sign in</a:t>
            </a:r>
          </a:p>
        </p:txBody>
      </p:sp>
      <p:sp>
        <p:nvSpPr>
          <p:cNvPr id="18" name="TextBox 17"/>
          <p:cNvSpPr txBox="1"/>
          <p:nvPr/>
        </p:nvSpPr>
        <p:spPr>
          <a:xfrm>
            <a:off x="7362748" y="4343400"/>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Browser login first; an Agent API key only as a fallback — never printed or saved.</a:t>
            </a:r>
          </a:p>
        </p:txBody>
      </p:sp>
      <p:sp>
        <p:nvSpPr>
          <p:cNvPr id="19" name="Rectangle 18"/>
          <p:cNvSpPr/>
          <p:nvPr/>
        </p:nvSpPr>
        <p:spPr>
          <a:xfrm>
            <a:off x="7161580" y="5029200"/>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2748" y="4956048"/>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Real state</a:t>
            </a:r>
          </a:p>
        </p:txBody>
      </p:sp>
      <p:sp>
        <p:nvSpPr>
          <p:cNvPr id="21" name="TextBox 20"/>
          <p:cNvSpPr txBox="1"/>
          <p:nvPr/>
        </p:nvSpPr>
        <p:spPr>
          <a:xfrm>
            <a:off x="7362748" y="5285232"/>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The agent reads storyboard, assets and export status instead of guessing.</a:t>
            </a:r>
          </a:p>
        </p:txBody>
      </p:sp>
    </p:spTree>
  </p:cSld>
  <p:clrMapOvr>
    <a:masterClrMapping/>
  </p:clrMapOvr>
  <p:transition spd="fast">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STANDARDS (K4)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Industry Quality Standards: Technical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published standards a professional video is measured against.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STANDARD</a:t>
            </a:r>
          </a:p>
        </p:txBody>
      </p:sp>
      <p:sp>
        <p:nvSpPr>
          <p:cNvPr id="10" name="TextBox 9"/>
          <p:cNvSpPr txBox="1"/>
          <p:nvPr/>
        </p:nvSpPr>
        <p:spPr>
          <a:xfrm>
            <a:off x="3626510"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SETS</a:t>
            </a:r>
          </a:p>
        </p:txBody>
      </p:sp>
      <p:sp>
        <p:nvSpPr>
          <p:cNvPr id="11" name="TextBox 10"/>
          <p:cNvSpPr txBox="1"/>
          <p:nvPr/>
        </p:nvSpPr>
        <p:spPr>
          <a:xfrm>
            <a:off x="805220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HOW YOU CHECK</a:t>
            </a:r>
          </a:p>
        </p:txBody>
      </p:sp>
      <p:sp>
        <p:nvSpPr>
          <p:cNvPr id="12" name="Rectangle 11"/>
          <p:cNvSpPr/>
          <p:nvPr/>
        </p:nvSpPr>
        <p:spPr>
          <a:xfrm>
            <a:off x="548640" y="256032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EBU R128 / ATSC A/85</a:t>
            </a:r>
          </a:p>
        </p:txBody>
      </p:sp>
      <p:sp>
        <p:nvSpPr>
          <p:cNvPr id="14" name="TextBox 13"/>
          <p:cNvSpPr txBox="1"/>
          <p:nvPr/>
        </p:nvSpPr>
        <p:spPr>
          <a:xfrm>
            <a:off x="3626510" y="2560320"/>
            <a:ext cx="415137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Broadcast loudness: -23 LUFS / -24 LKFS; true peak ≤ -1 dBTP.</a:t>
            </a:r>
          </a:p>
        </p:txBody>
      </p:sp>
      <p:sp>
        <p:nvSpPr>
          <p:cNvPr id="15" name="TextBox 14"/>
          <p:cNvSpPr txBox="1"/>
          <p:nvPr/>
        </p:nvSpPr>
        <p:spPr>
          <a:xfrm>
            <a:off x="8052206" y="256032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Loudness meter on the final mix.</a:t>
            </a:r>
          </a:p>
        </p:txBody>
      </p:sp>
      <p:sp>
        <p:nvSpPr>
          <p:cNvPr id="16" name="TextBox 15"/>
          <p:cNvSpPr txBox="1"/>
          <p:nvPr/>
        </p:nvSpPr>
        <p:spPr>
          <a:xfrm>
            <a:off x="749808" y="3200400"/>
            <a:ext cx="2602382"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Platform loudness</a:t>
            </a:r>
          </a:p>
        </p:txBody>
      </p:sp>
      <p:sp>
        <p:nvSpPr>
          <p:cNvPr id="17" name="TextBox 16"/>
          <p:cNvSpPr txBox="1"/>
          <p:nvPr/>
        </p:nvSpPr>
        <p:spPr>
          <a:xfrm>
            <a:off x="3626510" y="3200400"/>
            <a:ext cx="415137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Streaming normalises near -14 LUFS.</a:t>
            </a:r>
          </a:p>
        </p:txBody>
      </p:sp>
      <p:sp>
        <p:nvSpPr>
          <p:cNvPr id="18" name="TextBox 17"/>
          <p:cNvSpPr txBox="1"/>
          <p:nvPr/>
        </p:nvSpPr>
        <p:spPr>
          <a:xfrm>
            <a:off x="8052206" y="320040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Measure; avoid heavy limiting.</a:t>
            </a:r>
          </a:p>
        </p:txBody>
      </p:sp>
      <p:sp>
        <p:nvSpPr>
          <p:cNvPr id="19" name="Rectangle 18"/>
          <p:cNvSpPr/>
          <p:nvPr/>
        </p:nvSpPr>
        <p:spPr>
          <a:xfrm>
            <a:off x="548640" y="384048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40480"/>
            <a:ext cx="2602382"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ITU-R BT.709</a:t>
            </a:r>
          </a:p>
        </p:txBody>
      </p:sp>
      <p:sp>
        <p:nvSpPr>
          <p:cNvPr id="21" name="TextBox 20"/>
          <p:cNvSpPr txBox="1"/>
          <p:nvPr/>
        </p:nvSpPr>
        <p:spPr>
          <a:xfrm>
            <a:off x="3626510" y="3840480"/>
            <a:ext cx="415137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HD colour space and range.</a:t>
            </a:r>
          </a:p>
        </p:txBody>
      </p:sp>
      <p:sp>
        <p:nvSpPr>
          <p:cNvPr id="22" name="TextBox 21"/>
          <p:cNvSpPr txBox="1"/>
          <p:nvPr/>
        </p:nvSpPr>
        <p:spPr>
          <a:xfrm>
            <a:off x="8052206" y="384048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Scopes; consistent shots.</a:t>
            </a:r>
          </a:p>
        </p:txBody>
      </p:sp>
      <p:sp>
        <p:nvSpPr>
          <p:cNvPr id="23" name="TextBox 22"/>
          <p:cNvSpPr txBox="1"/>
          <p:nvPr/>
        </p:nvSpPr>
        <p:spPr>
          <a:xfrm>
            <a:off x="749808" y="4480560"/>
            <a:ext cx="2602382"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Platform specifications</a:t>
            </a:r>
          </a:p>
        </p:txBody>
      </p:sp>
      <p:sp>
        <p:nvSpPr>
          <p:cNvPr id="24" name="TextBox 23"/>
          <p:cNvSpPr txBox="1"/>
          <p:nvPr/>
        </p:nvSpPr>
        <p:spPr>
          <a:xfrm>
            <a:off x="3626510" y="4480560"/>
            <a:ext cx="415137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Aspect ratio, resolution, codec, duration, safe areas.</a:t>
            </a:r>
          </a:p>
        </p:txBody>
      </p:sp>
      <p:sp>
        <p:nvSpPr>
          <p:cNvPr id="25" name="TextBox 24"/>
          <p:cNvSpPr txBox="1"/>
          <p:nvPr/>
        </p:nvSpPr>
        <p:spPr>
          <a:xfrm>
            <a:off x="8052206" y="448056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Export settings against the help page.</a:t>
            </a:r>
          </a:p>
        </p:txBody>
      </p:sp>
      <p:sp>
        <p:nvSpPr>
          <p:cNvPr id="26" name="Rectangle 25"/>
          <p:cNvSpPr/>
          <p:nvPr/>
        </p:nvSpPr>
        <p:spPr>
          <a:xfrm>
            <a:off x="548640" y="512064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120640"/>
            <a:ext cx="2602382"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WCAG 2.2 (1.2.2)</a:t>
            </a:r>
          </a:p>
        </p:txBody>
      </p:sp>
      <p:sp>
        <p:nvSpPr>
          <p:cNvPr id="28" name="TextBox 27"/>
          <p:cNvSpPr txBox="1"/>
          <p:nvPr/>
        </p:nvSpPr>
        <p:spPr>
          <a:xfrm>
            <a:off x="3626510" y="5120640"/>
            <a:ext cx="415137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Captions for prerecorded audio.</a:t>
            </a:r>
          </a:p>
        </p:txBody>
      </p:sp>
      <p:sp>
        <p:nvSpPr>
          <p:cNvPr id="29" name="TextBox 28"/>
          <p:cNvSpPr txBox="1"/>
          <p:nvPr/>
        </p:nvSpPr>
        <p:spPr>
          <a:xfrm>
            <a:off x="8052206" y="5120640"/>
            <a:ext cx="3487521"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spoken line captioned and accurate.</a:t>
            </a:r>
          </a:p>
        </p:txBody>
      </p:sp>
    </p:spTree>
  </p:cSld>
  <p:clrMapOvr>
    <a:masterClrMapping/>
  </p:clrMapOvr>
  <p:transition spd="fast">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STANDARDS (K4)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Industry Quality Standards: Content and Legal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Standards that protect the audience — and the studio.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STANDARD</a:t>
            </a:r>
          </a:p>
        </p:txBody>
      </p:sp>
      <p:sp>
        <p:nvSpPr>
          <p:cNvPr id="10" name="TextBox 9"/>
          <p:cNvSpPr txBox="1"/>
          <p:nvPr/>
        </p:nvSpPr>
        <p:spPr>
          <a:xfrm>
            <a:off x="3626510"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REQUIRES</a:t>
            </a:r>
          </a:p>
        </p:txBody>
      </p:sp>
      <p:sp>
        <p:nvSpPr>
          <p:cNvPr id="11" name="TextBox 10"/>
          <p:cNvSpPr txBox="1"/>
          <p:nvPr/>
        </p:nvSpPr>
        <p:spPr>
          <a:xfrm>
            <a:off x="805220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KOPI &amp; COINS CHECK</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Copyright Act 2021</a:t>
            </a:r>
          </a:p>
        </p:txBody>
      </p:sp>
      <p:sp>
        <p:nvSpPr>
          <p:cNvPr id="14" name="TextBox 13"/>
          <p:cNvSpPr txBox="1"/>
          <p:nvPr/>
        </p:nvSpPr>
        <p:spPr>
          <a:xfrm>
            <a:off x="3626510" y="25603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Permission or licence for music, images and footage.</a:t>
            </a:r>
          </a:p>
        </p:txBody>
      </p:sp>
      <p:sp>
        <p:nvSpPr>
          <p:cNvPr id="15" name="TextBox 14"/>
          <p:cNvSpPr txBox="1"/>
          <p:nvPr/>
        </p:nvSpPr>
        <p:spPr>
          <a:xfrm>
            <a:off x="8052206" y="25603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Licence recorded for every track.</a:t>
            </a:r>
          </a:p>
        </p:txBody>
      </p:sp>
      <p:sp>
        <p:nvSpPr>
          <p:cNvPr id="16" name="TextBox 15"/>
          <p:cNvSpPr txBox="1"/>
          <p:nvPr/>
        </p:nvSpPr>
        <p:spPr>
          <a:xfrm>
            <a:off x="749808" y="3093720"/>
            <a:ext cx="260238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PDPA</a:t>
            </a:r>
          </a:p>
        </p:txBody>
      </p:sp>
      <p:sp>
        <p:nvSpPr>
          <p:cNvPr id="17" name="TextBox 16"/>
          <p:cNvSpPr txBox="1"/>
          <p:nvPr/>
        </p:nvSpPr>
        <p:spPr>
          <a:xfrm>
            <a:off x="3626510" y="30937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 without consent.</a:t>
            </a:r>
          </a:p>
        </p:txBody>
      </p:sp>
      <p:sp>
        <p:nvSpPr>
          <p:cNvPr id="18" name="TextBox 17"/>
          <p:cNvSpPr txBox="1"/>
          <p:nvPr/>
        </p:nvSpPr>
        <p:spPr>
          <a:xfrm>
            <a:off x="8052206" y="30937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Fictional people; no real account screens.</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60238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Financial Advisers Act (MAS)</a:t>
            </a:r>
          </a:p>
        </p:txBody>
      </p:sp>
      <p:sp>
        <p:nvSpPr>
          <p:cNvPr id="21" name="TextBox 20"/>
          <p:cNvSpPr txBox="1"/>
          <p:nvPr/>
        </p:nvSpPr>
        <p:spPr>
          <a:xfrm>
            <a:off x="3626510" y="36271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Product recommendations are regulated advice.</a:t>
            </a:r>
          </a:p>
        </p:txBody>
      </p:sp>
      <p:sp>
        <p:nvSpPr>
          <p:cNvPr id="22" name="TextBox 21"/>
          <p:cNvSpPr txBox="1"/>
          <p:nvPr/>
        </p:nvSpPr>
        <p:spPr>
          <a:xfrm>
            <a:off x="8052206" y="36271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education; disclaimer on end card.</a:t>
            </a:r>
          </a:p>
        </p:txBody>
      </p:sp>
      <p:sp>
        <p:nvSpPr>
          <p:cNvPr id="23" name="TextBox 22"/>
          <p:cNvSpPr txBox="1"/>
          <p:nvPr/>
        </p:nvSpPr>
        <p:spPr>
          <a:xfrm>
            <a:off x="749808" y="4160520"/>
            <a:ext cx="260238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SCAP (ASAS)</a:t>
            </a:r>
          </a:p>
        </p:txBody>
      </p:sp>
      <p:sp>
        <p:nvSpPr>
          <p:cNvPr id="24" name="TextBox 23"/>
          <p:cNvSpPr txBox="1"/>
          <p:nvPr/>
        </p:nvSpPr>
        <p:spPr>
          <a:xfrm>
            <a:off x="3626510" y="41605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Advertising must be legal, decent, honest and truthful.</a:t>
            </a:r>
          </a:p>
        </p:txBody>
      </p:sp>
      <p:sp>
        <p:nvSpPr>
          <p:cNvPr id="25" name="TextBox 24"/>
          <p:cNvSpPr txBox="1"/>
          <p:nvPr/>
        </p:nvSpPr>
        <p:spPr>
          <a:xfrm>
            <a:off x="8052206" y="41605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promised returns; sponsorship labelled.</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60238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Platform AI-content policies</a:t>
            </a:r>
          </a:p>
        </p:txBody>
      </p:sp>
      <p:sp>
        <p:nvSpPr>
          <p:cNvPr id="28" name="TextBox 27"/>
          <p:cNvSpPr txBox="1"/>
          <p:nvPr/>
        </p:nvSpPr>
        <p:spPr>
          <a:xfrm>
            <a:off x="3626510" y="4693920"/>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Disclose realistic altered or synthetic media.</a:t>
            </a:r>
          </a:p>
        </p:txBody>
      </p:sp>
      <p:sp>
        <p:nvSpPr>
          <p:cNvPr id="29" name="TextBox 28"/>
          <p:cNvSpPr txBox="1"/>
          <p:nvPr/>
        </p:nvSpPr>
        <p:spPr>
          <a:xfrm>
            <a:off x="8052206" y="4693920"/>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AI disclosure on at upload.</a:t>
            </a:r>
          </a:p>
        </p:txBody>
      </p:sp>
      <p:sp>
        <p:nvSpPr>
          <p:cNvPr id="30" name="TextBox 29"/>
          <p:cNvSpPr txBox="1"/>
          <p:nvPr/>
        </p:nvSpPr>
        <p:spPr>
          <a:xfrm>
            <a:off x="749808" y="5227319"/>
            <a:ext cx="2602382"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C2PA Content Credentials</a:t>
            </a:r>
          </a:p>
        </p:txBody>
      </p:sp>
      <p:sp>
        <p:nvSpPr>
          <p:cNvPr id="31" name="TextBox 30"/>
          <p:cNvSpPr txBox="1"/>
          <p:nvPr/>
        </p:nvSpPr>
        <p:spPr>
          <a:xfrm>
            <a:off x="3626510" y="5227319"/>
            <a:ext cx="415137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Provenance metadata for media.</a:t>
            </a:r>
          </a:p>
        </p:txBody>
      </p:sp>
      <p:sp>
        <p:nvSpPr>
          <p:cNvPr id="32" name="TextBox 31"/>
          <p:cNvSpPr txBox="1"/>
          <p:nvPr/>
        </p:nvSpPr>
        <p:spPr>
          <a:xfrm>
            <a:off x="8052206" y="5227319"/>
            <a:ext cx="3487521"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Keep credentials where tools add them.</a:t>
            </a:r>
          </a:p>
        </p:txBody>
      </p:sp>
    </p:spTree>
  </p:cSld>
  <p:clrMapOvr>
    <a:masterClrMapping/>
  </p:clrMapOvr>
  <p:transition spd="fast">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REMEDIAL ACTIONS (A6)</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Non-Compliance to Remedy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finding needs a corrective action, an owner and a date.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NON-COMPLIANCE</a:t>
            </a:r>
          </a:p>
        </p:txBody>
      </p:sp>
      <p:sp>
        <p:nvSpPr>
          <p:cNvPr id="10" name="TextBox 9"/>
          <p:cNvSpPr txBox="1"/>
          <p:nvPr/>
        </p:nvSpPr>
        <p:spPr>
          <a:xfrm>
            <a:off x="3847795"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STANDARD</a:t>
            </a:r>
          </a:p>
        </p:txBody>
      </p:sp>
      <p:sp>
        <p:nvSpPr>
          <p:cNvPr id="11" name="TextBox 10"/>
          <p:cNvSpPr txBox="1"/>
          <p:nvPr/>
        </p:nvSpPr>
        <p:spPr>
          <a:xfrm>
            <a:off x="5839358"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REMEDIAL ACTION</a:t>
            </a:r>
          </a:p>
        </p:txBody>
      </p:sp>
      <p:sp>
        <p:nvSpPr>
          <p:cNvPr id="12" name="TextBox 11"/>
          <p:cNvSpPr txBox="1"/>
          <p:nvPr/>
        </p:nvSpPr>
        <p:spPr>
          <a:xfrm>
            <a:off x="9822484"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OWNER</a:t>
            </a:r>
          </a:p>
        </p:txBody>
      </p:sp>
      <p:sp>
        <p:nvSpPr>
          <p:cNvPr id="13" name="Rectangle 12"/>
          <p:cNvSpPr/>
          <p:nvPr/>
        </p:nvSpPr>
        <p:spPr>
          <a:xfrm>
            <a:off x="548640" y="256032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Voice says "your savings will grow 8%"</a:t>
            </a:r>
          </a:p>
        </p:txBody>
      </p:sp>
      <p:sp>
        <p:nvSpPr>
          <p:cNvPr id="15" name="TextBox 14"/>
          <p:cNvSpPr txBox="1"/>
          <p:nvPr/>
        </p:nvSpPr>
        <p:spPr>
          <a:xfrm>
            <a:off x="3847795" y="256032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FAA / SCAP</a:t>
            </a:r>
          </a:p>
        </p:txBody>
      </p:sp>
      <p:sp>
        <p:nvSpPr>
          <p:cNvPr id="16" name="TextBox 15"/>
          <p:cNvSpPr txBox="1"/>
          <p:nvPr/>
        </p:nvSpPr>
        <p:spPr>
          <a:xfrm>
            <a:off x="5839358" y="2560320"/>
            <a:ext cx="370880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Rewrite to general wording; re-voice the line.</a:t>
            </a:r>
          </a:p>
        </p:txBody>
      </p:sp>
      <p:sp>
        <p:nvSpPr>
          <p:cNvPr id="17" name="TextBox 16"/>
          <p:cNvSpPr txBox="1"/>
          <p:nvPr/>
        </p:nvSpPr>
        <p:spPr>
          <a:xfrm>
            <a:off x="9822484" y="256032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Scriptwriter</a:t>
            </a:r>
          </a:p>
        </p:txBody>
      </p:sp>
      <p:sp>
        <p:nvSpPr>
          <p:cNvPr id="18" name="TextBox 17"/>
          <p:cNvSpPr txBox="1"/>
          <p:nvPr/>
        </p:nvSpPr>
        <p:spPr>
          <a:xfrm>
            <a:off x="749808" y="320040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Music licence not recorded</a:t>
            </a:r>
          </a:p>
        </p:txBody>
      </p:sp>
      <p:sp>
        <p:nvSpPr>
          <p:cNvPr id="19" name="TextBox 18"/>
          <p:cNvSpPr txBox="1"/>
          <p:nvPr/>
        </p:nvSpPr>
        <p:spPr>
          <a:xfrm>
            <a:off x="3847795" y="320040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Copyright</a:t>
            </a:r>
          </a:p>
        </p:txBody>
      </p:sp>
      <p:sp>
        <p:nvSpPr>
          <p:cNvPr id="20" name="TextBox 19"/>
          <p:cNvSpPr txBox="1"/>
          <p:nvPr/>
        </p:nvSpPr>
        <p:spPr>
          <a:xfrm>
            <a:off x="5839358" y="3200400"/>
            <a:ext cx="370880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Replace with licensed track; log the licence.</a:t>
            </a:r>
          </a:p>
        </p:txBody>
      </p:sp>
      <p:sp>
        <p:nvSpPr>
          <p:cNvPr id="21" name="TextBox 20"/>
          <p:cNvSpPr txBox="1"/>
          <p:nvPr/>
        </p:nvSpPr>
        <p:spPr>
          <a:xfrm>
            <a:off x="9822484" y="320040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Editor</a:t>
            </a:r>
          </a:p>
        </p:txBody>
      </p:sp>
      <p:sp>
        <p:nvSpPr>
          <p:cNvPr id="22" name="Rectangle 21"/>
          <p:cNvSpPr/>
          <p:nvPr/>
        </p:nvSpPr>
        <p:spPr>
          <a:xfrm>
            <a:off x="548640" y="384048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84048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Mix at -9 LUFS, clipping</a:t>
            </a:r>
          </a:p>
        </p:txBody>
      </p:sp>
      <p:sp>
        <p:nvSpPr>
          <p:cNvPr id="24" name="TextBox 23"/>
          <p:cNvSpPr txBox="1"/>
          <p:nvPr/>
        </p:nvSpPr>
        <p:spPr>
          <a:xfrm>
            <a:off x="3847795" y="384048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Platform loudness</a:t>
            </a:r>
          </a:p>
        </p:txBody>
      </p:sp>
      <p:sp>
        <p:nvSpPr>
          <p:cNvPr id="25" name="TextBox 24"/>
          <p:cNvSpPr txBox="1"/>
          <p:nvPr/>
        </p:nvSpPr>
        <p:spPr>
          <a:xfrm>
            <a:off x="5839358" y="3840480"/>
            <a:ext cx="370880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Re-mix to about -14 LUFS, peak ≤ -1 dBTP.</a:t>
            </a:r>
          </a:p>
        </p:txBody>
      </p:sp>
      <p:sp>
        <p:nvSpPr>
          <p:cNvPr id="26" name="TextBox 25"/>
          <p:cNvSpPr txBox="1"/>
          <p:nvPr/>
        </p:nvSpPr>
        <p:spPr>
          <a:xfrm>
            <a:off x="9822484" y="384048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Editor</a:t>
            </a:r>
          </a:p>
        </p:txBody>
      </p:sp>
      <p:sp>
        <p:nvSpPr>
          <p:cNvPr id="27" name="TextBox 26"/>
          <p:cNvSpPr txBox="1"/>
          <p:nvPr/>
        </p:nvSpPr>
        <p:spPr>
          <a:xfrm>
            <a:off x="749808" y="448056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Captions under the UI bar</a:t>
            </a:r>
          </a:p>
        </p:txBody>
      </p:sp>
      <p:sp>
        <p:nvSpPr>
          <p:cNvPr id="28" name="TextBox 27"/>
          <p:cNvSpPr txBox="1"/>
          <p:nvPr/>
        </p:nvSpPr>
        <p:spPr>
          <a:xfrm>
            <a:off x="3847795" y="448056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Platform safe area</a:t>
            </a:r>
          </a:p>
        </p:txBody>
      </p:sp>
      <p:sp>
        <p:nvSpPr>
          <p:cNvPr id="29" name="TextBox 28"/>
          <p:cNvSpPr txBox="1"/>
          <p:nvPr/>
        </p:nvSpPr>
        <p:spPr>
          <a:xfrm>
            <a:off x="5839358" y="4480560"/>
            <a:ext cx="370880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Move captions up; re-export.</a:t>
            </a:r>
          </a:p>
        </p:txBody>
      </p:sp>
      <p:sp>
        <p:nvSpPr>
          <p:cNvPr id="30" name="TextBox 29"/>
          <p:cNvSpPr txBox="1"/>
          <p:nvPr/>
        </p:nvSpPr>
        <p:spPr>
          <a:xfrm>
            <a:off x="9822484" y="448056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Editor</a:t>
            </a:r>
          </a:p>
        </p:txBody>
      </p:sp>
      <p:sp>
        <p:nvSpPr>
          <p:cNvPr id="31" name="Rectangle 30"/>
          <p:cNvSpPr/>
          <p:nvPr/>
        </p:nvSpPr>
        <p:spPr>
          <a:xfrm>
            <a:off x="548640" y="512064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12064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No AI-content disclosure</a:t>
            </a:r>
          </a:p>
        </p:txBody>
      </p:sp>
      <p:sp>
        <p:nvSpPr>
          <p:cNvPr id="33" name="TextBox 32"/>
          <p:cNvSpPr txBox="1"/>
          <p:nvPr/>
        </p:nvSpPr>
        <p:spPr>
          <a:xfrm>
            <a:off x="3847795" y="512064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Platform policy</a:t>
            </a:r>
          </a:p>
        </p:txBody>
      </p:sp>
      <p:sp>
        <p:nvSpPr>
          <p:cNvPr id="34" name="TextBox 33"/>
          <p:cNvSpPr txBox="1"/>
          <p:nvPr/>
        </p:nvSpPr>
        <p:spPr>
          <a:xfrm>
            <a:off x="5839358" y="5120640"/>
            <a:ext cx="3708806"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Turn on disclosure in the upload plan.</a:t>
            </a:r>
          </a:p>
        </p:txBody>
      </p:sp>
      <p:sp>
        <p:nvSpPr>
          <p:cNvPr id="35" name="TextBox 34"/>
          <p:cNvSpPr txBox="1"/>
          <p:nvPr/>
        </p:nvSpPr>
        <p:spPr>
          <a:xfrm>
            <a:off x="9822484" y="5120640"/>
            <a:ext cx="1717243"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Publisher</a:t>
            </a:r>
          </a:p>
        </p:txBody>
      </p:sp>
    </p:spTree>
  </p:cSld>
  <p:clrMapOvr>
    <a:masterClrMapping/>
  </p:clrMapOvr>
  <p:transition spd="fast">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REMEDIAL ACTIONS (A6)</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Developing a Remedial Action Plan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repeatable way to resolve issues that do not comply with industry standards.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Oval 7"/>
          <p:cNvSpPr/>
          <p:nvPr/>
        </p:nvSpPr>
        <p:spPr>
          <a:xfrm>
            <a:off x="640080" y="2139696"/>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9" name="TextBox 8"/>
          <p:cNvSpPr txBox="1"/>
          <p:nvPr/>
        </p:nvSpPr>
        <p:spPr>
          <a:xfrm>
            <a:off x="1261872" y="2084831"/>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Identify  </a:t>
            </a:r>
            <a:r>
              <a:rPr sz="1450">
                <a:solidFill>
                  <a:srgbClr val="6B6862"/>
                </a:solidFill>
                <a:latin typeface="Calibri"/>
              </a:rPr>
              <a:t>Find the issue and the evidence: timecode, frame, reading.</a:t>
            </a:r>
          </a:p>
        </p:txBody>
      </p:sp>
      <p:sp>
        <p:nvSpPr>
          <p:cNvPr id="10" name="Oval 9"/>
          <p:cNvSpPr/>
          <p:nvPr/>
        </p:nvSpPr>
        <p:spPr>
          <a:xfrm>
            <a:off x="640080" y="2743200"/>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11" name="TextBox 10"/>
          <p:cNvSpPr txBox="1"/>
          <p:nvPr/>
        </p:nvSpPr>
        <p:spPr>
          <a:xfrm>
            <a:off x="1261872" y="2688336"/>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Reference the standard  </a:t>
            </a:r>
            <a:r>
              <a:rPr sz="1450">
                <a:solidFill>
                  <a:srgbClr val="6B6862"/>
                </a:solidFill>
                <a:latin typeface="Calibri"/>
              </a:rPr>
              <a:t>Name the rule it breaks and why it matters.</a:t>
            </a:r>
          </a:p>
        </p:txBody>
      </p:sp>
      <p:sp>
        <p:nvSpPr>
          <p:cNvPr id="12" name="Oval 11"/>
          <p:cNvSpPr/>
          <p:nvPr/>
        </p:nvSpPr>
        <p:spPr>
          <a:xfrm>
            <a:off x="640080" y="3346703"/>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3" name="TextBox 12"/>
          <p:cNvSpPr txBox="1"/>
          <p:nvPr/>
        </p:nvSpPr>
        <p:spPr>
          <a:xfrm>
            <a:off x="1261872" y="3291839"/>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Assess the risk  </a:t>
            </a:r>
            <a:r>
              <a:rPr sz="1450">
                <a:solidFill>
                  <a:srgbClr val="6B6862"/>
                </a:solidFill>
                <a:latin typeface="Calibri"/>
              </a:rPr>
              <a:t>High: legal or reputational. Medium: viewer experience. Low: polish.</a:t>
            </a:r>
          </a:p>
        </p:txBody>
      </p:sp>
      <p:sp>
        <p:nvSpPr>
          <p:cNvPr id="14" name="Oval 13"/>
          <p:cNvSpPr/>
          <p:nvPr/>
        </p:nvSpPr>
        <p:spPr>
          <a:xfrm>
            <a:off x="640080" y="3950207"/>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5" name="TextBox 14"/>
          <p:cNvSpPr txBox="1"/>
          <p:nvPr/>
        </p:nvSpPr>
        <p:spPr>
          <a:xfrm>
            <a:off x="1261872" y="3895344"/>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Decide the action  </a:t>
            </a:r>
            <a:r>
              <a:rPr sz="1450">
                <a:solidFill>
                  <a:srgbClr val="6B6862"/>
                </a:solidFill>
                <a:latin typeface="Calibri"/>
              </a:rPr>
              <a:t>Correct, replace, re-edit or withdraw — and prevent it recurring.</a:t>
            </a:r>
          </a:p>
        </p:txBody>
      </p:sp>
      <p:sp>
        <p:nvSpPr>
          <p:cNvPr id="16" name="Oval 15"/>
          <p:cNvSpPr/>
          <p:nvPr/>
        </p:nvSpPr>
        <p:spPr>
          <a:xfrm>
            <a:off x="640080" y="4553712"/>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7" name="TextBox 16"/>
          <p:cNvSpPr txBox="1"/>
          <p:nvPr/>
        </p:nvSpPr>
        <p:spPr>
          <a:xfrm>
            <a:off x="1261872" y="4498848"/>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Assign and schedule  </a:t>
            </a:r>
            <a:r>
              <a:rPr sz="1450">
                <a:solidFill>
                  <a:srgbClr val="6B6862"/>
                </a:solidFill>
                <a:latin typeface="Calibri"/>
              </a:rPr>
              <a:t>One owner, one due date, high risks first.</a:t>
            </a:r>
          </a:p>
        </p:txBody>
      </p:sp>
      <p:sp>
        <p:nvSpPr>
          <p:cNvPr id="18" name="Oval 17"/>
          <p:cNvSpPr/>
          <p:nvPr/>
        </p:nvSpPr>
        <p:spPr>
          <a:xfrm>
            <a:off x="640080" y="5157216"/>
            <a:ext cx="420624" cy="42062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6</a:t>
            </a:r>
          </a:p>
        </p:txBody>
      </p:sp>
      <p:sp>
        <p:nvSpPr>
          <p:cNvPr id="19" name="TextBox 18"/>
          <p:cNvSpPr txBox="1"/>
          <p:nvPr/>
        </p:nvSpPr>
        <p:spPr>
          <a:xfrm>
            <a:off x="1261872" y="5102352"/>
            <a:ext cx="10515600" cy="530352"/>
          </a:xfrm>
          <a:prstGeom prst="rect">
            <a:avLst/>
          </a:prstGeom>
          <a:noFill/>
        </p:spPr>
        <p:txBody>
          <a:bodyPr wrap="square" lIns="18288" rIns="18288" tIns="9144" bIns="9144" anchor="ctr">
            <a:spAutoFit/>
          </a:bodyPr>
          <a:lstStyle/>
          <a:p>
            <a:pPr>
              <a:lnSpc>
                <a:spcPct val="100000"/>
              </a:lnSpc>
              <a:defRPr sz="1450" b="0">
                <a:solidFill>
                  <a:srgbClr val="6B6862"/>
                </a:solidFill>
                <a:latin typeface="Calibri"/>
              </a:defRPr>
            </a:pPr>
            <a:r>
              <a:rPr sz="1450" b="1">
                <a:solidFill>
                  <a:srgbClr val="21201C"/>
                </a:solidFill>
                <a:latin typeface="Calibri"/>
              </a:rPr>
              <a:t>Verify and record  </a:t>
            </a:r>
            <a:r>
              <a:rPr sz="1450">
                <a:solidFill>
                  <a:srgbClr val="6B6862"/>
                </a:solidFill>
                <a:latin typeface="Calibri"/>
              </a:rPr>
              <a:t>Re-check after the fix; update the skill or standard so it does not return.</a:t>
            </a:r>
          </a:p>
        </p:txBody>
      </p:sp>
      <p:sp>
        <p:nvSpPr>
          <p:cNvPr id="20" name="Rounded Rectangle 1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last step is what makes a studio better: fix the process, not just the episode.</a:t>
            </a:r>
          </a:p>
        </p:txBody>
      </p:sp>
    </p:spTree>
  </p:cSld>
  <p:clrMapOvr>
    <a:masterClrMapping/>
  </p:clrMapOvr>
  <p:transition spd="fast">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YOUR OWN SKILL</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Compliance Skill — SKILL.md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skill is a folder with SKILL.md. This is the one you install in Lab 5 (shortened).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SKILL.md — ~/.hermes/skills/kopi-compliance-review/</a:t>
            </a:r>
          </a:p>
        </p:txBody>
      </p:sp>
      <p:sp>
        <p:nvSpPr>
          <p:cNvPr id="11" name="TextBox 10"/>
          <p:cNvSpPr txBox="1"/>
          <p:nvPr/>
        </p:nvSpPr>
        <p:spPr>
          <a:xfrm>
            <a:off x="822959" y="2724911"/>
            <a:ext cx="10515600" cy="3588745"/>
          </a:xfrm>
          <a:prstGeom prst="rect">
            <a:avLst/>
          </a:prstGeom>
          <a:noFill/>
        </p:spPr>
        <p:txBody>
          <a:bodyPr wrap="square" lIns="18288" rIns="18288" tIns="9144" bIns="9144">
            <a:spAutoFit/>
          </a:bodyPr>
          <a:lstStyle/>
          <a:p>
            <a:pPr>
              <a:lnSpc>
                <a:spcPct val="114000"/>
              </a:lnSpc>
              <a:defRPr sz="1100" b="0">
                <a:solidFill>
                  <a:srgbClr val="E8E5DE"/>
                </a:solidFill>
                <a:latin typeface="Courier New"/>
              </a:defRPr>
            </a:pPr>
            <a:r>
              <a:t>---</a:t>
            </a:r>
          </a:p>
          <a:p>
            <a:pPr>
              <a:lnSpc>
                <a:spcPct val="114000"/>
              </a:lnSpc>
              <a:defRPr sz="1100" b="0">
                <a:solidFill>
                  <a:srgbClr val="E8E5DE"/>
                </a:solidFill>
                <a:latin typeface="Courier New"/>
              </a:defRPr>
            </a:pPr>
            <a:r>
              <a:t>name: kopi-compliance-review</a:t>
            </a:r>
          </a:p>
          <a:p>
            <a:pPr>
              <a:lnSpc>
                <a:spcPct val="114000"/>
              </a:lnSpc>
              <a:defRPr sz="1100" b="0">
                <a:solidFill>
                  <a:srgbClr val="E8E5DE"/>
                </a:solidFill>
                <a:latin typeface="Courier New"/>
              </a:defRPr>
            </a:pPr>
            <a:r>
              <a:t>description: Review a Kopi &amp; Coins episode against the studio's</a:t>
            </a:r>
          </a:p>
          <a:p>
            <a:pPr>
              <a:lnSpc>
                <a:spcPct val="114000"/>
              </a:lnSpc>
              <a:defRPr sz="1100" b="0">
                <a:solidFill>
                  <a:srgbClr val="E8E5DE"/>
                </a:solidFill>
                <a:latin typeface="Courier New"/>
              </a:defRPr>
            </a:pPr>
            <a:r>
              <a:t>  editing standards and industry standards; report findings with</a:t>
            </a:r>
          </a:p>
          <a:p>
            <a:pPr>
              <a:lnSpc>
                <a:spcPct val="114000"/>
              </a:lnSpc>
              <a:defRPr sz="1100" b="0">
                <a:solidFill>
                  <a:srgbClr val="E8E5DE"/>
                </a:solidFill>
                <a:latin typeface="Courier New"/>
              </a:defRPr>
            </a:pPr>
            <a:r>
              <a:t>  evidence, risk and a remedial action. Use before any approval.</a:t>
            </a:r>
          </a:p>
          <a:p>
            <a:pPr>
              <a:lnSpc>
                <a:spcPct val="114000"/>
              </a:lnSpc>
              <a:defRPr sz="1100" b="0">
                <a:solidFill>
                  <a:srgbClr val="E8E5DE"/>
                </a:solidFill>
                <a:latin typeface="Courier New"/>
              </a:defRPr>
            </a:pPr>
            <a:r>
              <a:t>version: 1.0.0</a:t>
            </a:r>
          </a:p>
          <a:p>
            <a:pPr>
              <a:lnSpc>
                <a:spcPct val="114000"/>
              </a:lnSpc>
              <a:defRPr sz="1100" b="0">
                <a:solidFill>
                  <a:srgbClr val="E8E5DE"/>
                </a:solidFill>
                <a:latin typeface="Courier New"/>
              </a:defRPr>
            </a:pPr>
            <a:r>
              <a:t>---</a:t>
            </a:r>
          </a:p>
          <a:p>
            <a:pPr>
              <a:lnSpc>
                <a:spcPct val="114000"/>
              </a:lnSpc>
              <a:defRPr sz="1100" b="0">
                <a:solidFill>
                  <a:srgbClr val="E8E5DE"/>
                </a:solidFill>
                <a:latin typeface="Courier New"/>
              </a:defRPr>
            </a:pPr>
            <a:r>
              <a:t># When to use</a:t>
            </a:r>
          </a:p>
          <a:p>
            <a:pPr>
              <a:lnSpc>
                <a:spcPct val="114000"/>
              </a:lnSpc>
              <a:defRPr sz="1100" b="0">
                <a:solidFill>
                  <a:srgbClr val="E8E5DE"/>
                </a:solidFill>
                <a:latin typeface="Courier New"/>
              </a:defRPr>
            </a:pPr>
            <a:r>
              <a:t>Before an episode goes to human approval or upload.</a:t>
            </a:r>
          </a:p>
          <a:p>
            <a:pPr>
              <a:lnSpc>
                <a:spcPct val="114000"/>
              </a:lnSpc>
              <a:defRPr sz="1100" b="0">
                <a:solidFill>
                  <a:srgbClr val="E8E5DE"/>
                </a:solidFill>
                <a:latin typeface="Courier New"/>
              </a:defRPr>
            </a:pPr>
            <a:r>
              <a:t># Procedure</a:t>
            </a:r>
          </a:p>
          <a:p>
            <a:pPr>
              <a:lnSpc>
                <a:spcPct val="114000"/>
              </a:lnSpc>
              <a:defRPr sz="1100" b="0">
                <a:solidFill>
                  <a:srgbClr val="E8E5DE"/>
                </a:solidFill>
                <a:latin typeface="Courier New"/>
              </a:defRPr>
            </a:pPr>
            <a:r>
              <a:t>1. Read references/standards.md and the episode's real state</a:t>
            </a:r>
          </a:p>
          <a:p>
            <a:pPr>
              <a:lnSpc>
                <a:spcPct val="114000"/>
              </a:lnSpc>
              <a:defRPr sz="1100" b="0">
                <a:solidFill>
                  <a:srgbClr val="E8E5DE"/>
                </a:solidFill>
                <a:latin typeface="Courier New"/>
              </a:defRPr>
            </a:pPr>
            <a:r>
              <a:t>   (via the flova skill): storyboard, captions, music, export.</a:t>
            </a:r>
          </a:p>
          <a:p>
            <a:pPr>
              <a:lnSpc>
                <a:spcPct val="114000"/>
              </a:lnSpc>
              <a:defRPr sz="1100" b="0">
                <a:solidFill>
                  <a:srgbClr val="E8E5DE"/>
                </a:solidFill>
                <a:latin typeface="Courier New"/>
              </a:defRPr>
            </a:pPr>
            <a:r>
              <a:t>2. Check platform specs, loudness, captions and safe areas,</a:t>
            </a:r>
          </a:p>
          <a:p>
            <a:pPr>
              <a:lnSpc>
                <a:spcPct val="114000"/>
              </a:lnSpc>
              <a:defRPr sz="1100" b="0">
                <a:solidFill>
                  <a:srgbClr val="E8E5DE"/>
                </a:solidFill>
                <a:latin typeface="Courier New"/>
              </a:defRPr>
            </a:pPr>
            <a:r>
              <a:t>   copyright, personal data, money messaging, AI disclosure.</a:t>
            </a:r>
          </a:p>
          <a:p>
            <a:pPr>
              <a:lnSpc>
                <a:spcPct val="114000"/>
              </a:lnSpc>
              <a:defRPr sz="1100" b="0">
                <a:solidFill>
                  <a:srgbClr val="E8E5DE"/>
                </a:solidFill>
                <a:latin typeface="Courier New"/>
              </a:defRPr>
            </a:pPr>
            <a:r>
              <a:t>3. One row per finding: standard, evidence, risk, remedy, owner.</a:t>
            </a:r>
          </a:p>
          <a:p>
            <a:pPr>
              <a:lnSpc>
                <a:spcPct val="114000"/>
              </a:lnSpc>
              <a:defRPr sz="1100" b="0">
                <a:solidFill>
                  <a:srgbClr val="E8E5DE"/>
                </a:solidFill>
                <a:latin typeface="Courier New"/>
              </a:defRPr>
            </a:pPr>
            <a:r>
              <a:t>4. Mark anything you cannot verify as UNVERIFIED.</a:t>
            </a:r>
          </a:p>
          <a:p>
            <a:pPr>
              <a:lnSpc>
                <a:spcPct val="114000"/>
              </a:lnSpc>
              <a:defRPr sz="1100" b="0">
                <a:solidFill>
                  <a:srgbClr val="E8E5DE"/>
                </a:solidFill>
                <a:latin typeface="Courier New"/>
              </a:defRPr>
            </a:pPr>
            <a:r>
              <a:t># Pitfalls</a:t>
            </a:r>
          </a:p>
          <a:p>
            <a:pPr>
              <a:lnSpc>
                <a:spcPct val="114000"/>
              </a:lnSpc>
              <a:defRPr sz="1100" b="0">
                <a:solidFill>
                  <a:srgbClr val="E8E5DE"/>
                </a:solidFill>
                <a:latin typeface="Courier New"/>
              </a:defRPr>
            </a:pPr>
            <a:r>
              <a:t>Never edit the video. Never approve - only a human approves.</a:t>
            </a:r>
          </a:p>
        </p:txBody>
      </p:sp>
    </p:spTree>
  </p:cSld>
  <p:clrMapOvr>
    <a:masterClrMapping/>
  </p:clrMapOvr>
  <p:transition spd="fast">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Flova, Skills and a Compliance Review</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~60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Kopi &amp; Coins wants to publish two episodes a week. Priya cannot review every one herself, and one non-compliant money video could cost the studio its reputation. Set up Hermes as the studio's agent, connect it to Flova, and give it a compliance skill.</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Hermes with Flova connected, the kopi-compliance-review skill, and compliance-report.md with remedial actions for EP01 v2</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Hermes Agent (Desktop or CLI) + Flova CLI</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Install Hermes · connect Flova · hub skills · plugins · a custom compliance skill · remedial action plan   ·   K4, A6</a:t>
            </a:r>
          </a:p>
        </p:txBody>
      </p:sp>
    </p:spTree>
  </p:cSld>
  <p:clrMapOvr>
    <a:masterClrMapping/>
  </p:clrMapOvr>
  <p:transition spd="fast">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Flova, Skills and a Compliance Review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Hermes Agent (Desktop or CLI) + Flova CLI  ·  the full step-by-step, with the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Hermes  </a:t>
            </a:r>
            <a:r>
              <a:rPr sz="1300">
                <a:solidFill>
                  <a:srgbClr val="6B6862"/>
                </a:solidFill>
                <a:latin typeface="Calibri"/>
              </a:rPr>
              <a:t>Download Hermes Desktop, or run the install command in a terminal. Then run hermes setup to choose a model.</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Connect Flova  </a:t>
            </a:r>
            <a:r>
              <a:rPr sz="1300">
                <a:solidFill>
                  <a:srgbClr val="6B6862"/>
                </a:solidFill>
                <a:latin typeface="Calibri"/>
              </a:rPr>
              <a:t>Paste the Flova setup prompt into Hermes. Sign in when the browser opens. Never paste the key into a file.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skills  </a:t>
            </a:r>
            <a:r>
              <a:rPr sz="1300">
                <a:solidFill>
                  <a:srgbClr val="6B6862"/>
                </a:solidFill>
                <a:latin typeface="Calibri"/>
              </a:rPr>
              <a:t>Run hermes skills list. Confirm flova is there; install youtube-content if it is missing.</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Look at plugins  </a:t>
            </a:r>
            <a:r>
              <a:rPr sz="1300">
                <a:solidFill>
                  <a:srgbClr val="6B6862"/>
                </a:solidFill>
                <a:latin typeface="Calibri"/>
              </a:rPr>
              <a:t>Run hermes plugins list. Enable the plugin the trainer names; note how a plugin differs from a skill.</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compliance skill  </a:t>
            </a:r>
            <a:r>
              <a:rPr sz="1300">
                <a:solidFill>
                  <a:srgbClr val="6B6862"/>
                </a:solidFill>
                <a:latin typeface="Calibri"/>
              </a:rPr>
              <a:t>Copy the folder assets/skills/kopi-compliance-review into ~/.hermes/skills/. Start a new chat so Hermes loads it.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the review  </a:t>
            </a:r>
            <a:r>
              <a:rPr sz="1300">
                <a:solidFill>
                  <a:srgbClr val="6B6862"/>
                </a:solidFill>
                <a:latin typeface="Calibri"/>
              </a:rPr>
              <a:t>Prompt B runs /kopi-compliance-review on Episode 1 v2 and writes compliance-report.md.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the remedies  </a:t>
            </a:r>
            <a:r>
              <a:rPr sz="1300">
                <a:solidFill>
                  <a:srgbClr val="6B6862"/>
                </a:solidFill>
                <a:latin typeface="Calibri"/>
              </a:rPr>
              <a:t>Check every finding. Complete the remedial action plan: owner, action, due date.</a:t>
            </a:r>
          </a:p>
        </p:txBody>
      </p:sp>
    </p:spTree>
  </p:cSld>
  <p:clrMapOvr>
    <a:masterClrMapping/>
  </p:clrMapOvr>
  <p:transition spd="fast">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Flova, Skills and a Compliance Review</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ounded Rectangle 6"/>
          <p:cNvSpPr/>
          <p:nvPr/>
        </p:nvSpPr>
        <p:spPr>
          <a:xfrm>
            <a:off x="548640" y="1783080"/>
            <a:ext cx="11064240" cy="2007641"/>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002536"/>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COMMANDS — install Hermes (macOS / Linux / WSL2)</a:t>
            </a:r>
          </a:p>
        </p:txBody>
      </p:sp>
      <p:sp>
        <p:nvSpPr>
          <p:cNvPr id="10" name="TextBox 9"/>
          <p:cNvSpPr txBox="1"/>
          <p:nvPr/>
        </p:nvSpPr>
        <p:spPr>
          <a:xfrm>
            <a:off x="822959" y="2423160"/>
            <a:ext cx="10515600" cy="1239545"/>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curl -fsSL https://hermes-agent.nousresearch.com/install.sh | bash</a:t>
            </a:r>
          </a:p>
          <a:p>
            <a:pPr>
              <a:lnSpc>
                <a:spcPct val="114000"/>
              </a:lnSpc>
              <a:defRPr sz="1300" b="0">
                <a:solidFill>
                  <a:srgbClr val="E8E5DE"/>
                </a:solidFill>
                <a:latin typeface="Courier New"/>
              </a:defRPr>
            </a:pPr>
            <a:r>
              <a:t>hermes setup          # choose a model provider and sign in</a:t>
            </a:r>
          </a:p>
          <a:p>
            <a:pPr>
              <a:lnSpc>
                <a:spcPct val="114000"/>
              </a:lnSpc>
              <a:defRPr sz="1300" b="0">
                <a:solidFill>
                  <a:srgbClr val="E8E5DE"/>
                </a:solidFill>
                <a:latin typeface="Courier New"/>
              </a:defRPr>
            </a:pPr>
            <a:r>
              <a:t>hermes doctor         # check the install</a:t>
            </a:r>
          </a:p>
          <a:p>
            <a:pPr>
              <a:lnSpc>
                <a:spcPct val="114000"/>
              </a:lnSpc>
              <a:defRPr sz="1300" b="0">
                <a:solidFill>
                  <a:srgbClr val="E8E5DE"/>
                </a:solidFill>
                <a:latin typeface="Courier New"/>
              </a:defRPr>
            </a:pPr>
            <a:r>
              <a:t>hermes skills list    # what skills are loaded</a:t>
            </a:r>
          </a:p>
          <a:p>
            <a:pPr>
              <a:lnSpc>
                <a:spcPct val="114000"/>
              </a:lnSpc>
              <a:defRPr sz="1300" b="0">
                <a:solidFill>
                  <a:srgbClr val="E8E5DE"/>
                </a:solidFill>
                <a:latin typeface="Courier New"/>
              </a:defRPr>
            </a:pPr>
            <a:r>
              <a:t>hermes plugins list   # what plugins are installed</a:t>
            </a:r>
          </a:p>
        </p:txBody>
      </p:sp>
    </p:spTree>
  </p:cSld>
  <p:clrMapOvr>
    <a:masterClrMapping/>
  </p:clrMapOvr>
  <p:transition spd="fast">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Flova, Skills and a Compliance Review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connect Flova (paste into Hermes)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Please help me install Flova CLI:</a:t>
            </a:r>
          </a:p>
          <a:p>
            <a:pPr>
              <a:lnSpc>
                <a:spcPct val="110000"/>
              </a:lnSpc>
              <a:defRPr sz="1700" b="0">
                <a:solidFill>
                  <a:srgbClr val="21201C"/>
                </a:solidFill>
                <a:latin typeface="Calibri"/>
              </a:defRPr>
            </a:pPr>
            <a:r>
              <a:t>https://cli.flova.ai/flovaCLI-setup.md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Link the Flova skill into ~/.hermes/skills/flova so Hermes can use it. Open the browser for me to sign in. Never print, log or save my API key. When you are done, show me that the flova skill is listed.</a:t>
            </a:r>
          </a:p>
        </p:txBody>
      </p:sp>
    </p:spTree>
  </p:cSld>
  <p:clrMapOvr>
    <a:masterClrMapping/>
  </p:clrMapOvr>
  <p:transition spd="fast">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Flova, Skills and a Compliance Review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run the compliance review</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/kopi-compliance-review Review Episode 1 v2 of Kopi &amp; Coins. Use the notes in episode-01-v2-notes.md and, through the Flova skill, read the real project state of "EP01 The Rainy-Day Tin":</a:t>
            </a:r>
          </a:p>
          <a:p>
            <a:pPr>
              <a:lnSpc>
                <a:spcPct val="110000"/>
              </a:lnSpc>
              <a:defRPr sz="1700" b="0">
                <a:solidFill>
                  <a:srgbClr val="21201C"/>
                </a:solidFill>
                <a:latin typeface="Calibri"/>
              </a:defRPr>
            </a:pPr>
            <a:r>
              <a:t>its storyboard, captions, music and export settings.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Write compliance-report.md: one row per finding with the standard it breaks, the evidence, the risk (high, medium, low) and a proposed remedial action. Mark anything you could not verify as UNVERIFIED. Do not change the video.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Standards protect the studio only when they are applied every time. A skill makes the review repeatable; the remedy plan makes it useful.</a:t>
            </a:r>
          </a:p>
        </p:txBody>
      </p:sp>
    </p:spTree>
  </p:cSld>
  <p:clrMapOvr>
    <a:masterClrMapping/>
  </p:clrMapOvr>
  <p:transition spd="fast">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Flova, Skills and a Compliance Review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hermes doctor passes and a model answers in chat.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hermes skills list shows flova and kopi-compliance-review.</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can explain the difference between a skill, a plugin and MCP.</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compliance-report.md has evidence and a risk rating per finding.</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finding has a remedial action, an owner and a due date.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API key appears in any file, prompt or screenshot.</a:t>
            </a:r>
          </a:p>
        </p:txBody>
      </p:sp>
    </p:spTree>
  </p:cSld>
  <p:clrMapOvr>
    <a:masterClrMapping/>
  </p:clrMapOvr>
  <p:transition spd="fast">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THE STUDIO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Five Agents, Five Jobs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role is a Hermes profile with its own SOUL.md and skills.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Producer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Writes the brief, designs the board, routes work. Never renders.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Scriptwriter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Script and storyboard from the brief and the series bible.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Director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Drives Flova through the flova skill; delivers the draft.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Reviewer</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Runs kopi-compliance-review and the story review. Never edits.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Publisher</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Prepares the private upload plan after human approval.</a:t>
            </a:r>
          </a:p>
        </p:txBody>
      </p:sp>
    </p:spTree>
  </p:cSld>
  <p:clrMapOvr>
    <a:masterClrMapping/>
  </p:clrMapOvr>
  <p:transition spd="fast">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PROFILES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Profiles and SOUL.md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profile is a separate Hermes home. SOUL.md is who that agent is.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hermes profile create director — then director chat, or hermes -p director chat.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Isolated</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Own config, .env keys, SOUL.md, memory, sessions, skills and cron jobs.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SOUL.md</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Role, rules, what it receives, what it returns, when it is done. Lives in ~/.hermes/profiles/&lt;name&gt;/.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Least privilege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Only the director gets the Flova skill; only the publisher plans uploads.</a:t>
            </a:r>
          </a:p>
        </p:txBody>
      </p:sp>
    </p:spTree>
  </p:cSld>
  <p:clrMapOvr>
    <a:masterClrMapping/>
  </p:clrMapOvr>
  <p:transition spd="fast">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KANBAN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Kanban: Durable Teamwork for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Tasks, owners, dependencies and comments — stored, so work survives crashes and waits for people.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kanban create "Write script" --assignee scriptwriter</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Depend</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--parent &lt;id&gt;: a child waits until every parent is done.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Dispatch</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gateway's dispatcher starts the assigned profile as a worker.</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Work</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Workers comment, block or complete their card with a hand-off.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dashboard: the board in your browser; comment to unblock.</a:t>
            </a:r>
          </a:p>
        </p:txBody>
      </p:sp>
    </p:spTree>
  </p:cSld>
  <p:clrMapOvr>
    <a:masterClrMapping/>
  </p:clrMapOvr>
  <p:transition spd="fast">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KANBAN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Kanban Commands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Lab 6 needs. The orchestrator skill writes most of these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COMMAND</a:t>
            </a:r>
          </a:p>
        </p:txBody>
      </p:sp>
      <p:sp>
        <p:nvSpPr>
          <p:cNvPr id="10" name="TextBox 9"/>
          <p:cNvSpPr txBox="1"/>
          <p:nvPr/>
        </p:nvSpPr>
        <p:spPr>
          <a:xfrm>
            <a:off x="5839358" y="2203703"/>
            <a:ext cx="5700369"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DOES</a:t>
            </a:r>
          </a:p>
        </p:txBody>
      </p:sp>
      <p:sp>
        <p:nvSpPr>
          <p:cNvPr id="11" name="Rectangle 10"/>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4815230"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kanban init</a:t>
            </a:r>
          </a:p>
        </p:txBody>
      </p:sp>
      <p:sp>
        <p:nvSpPr>
          <p:cNvPr id="13" name="TextBox 12"/>
          <p:cNvSpPr txBox="1"/>
          <p:nvPr/>
        </p:nvSpPr>
        <p:spPr>
          <a:xfrm>
            <a:off x="5839358" y="2560320"/>
            <a:ext cx="570036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Create the default board.</a:t>
            </a:r>
          </a:p>
        </p:txBody>
      </p:sp>
      <p:sp>
        <p:nvSpPr>
          <p:cNvPr id="14" name="TextBox 13"/>
          <p:cNvSpPr txBox="1"/>
          <p:nvPr/>
        </p:nvSpPr>
        <p:spPr>
          <a:xfrm>
            <a:off x="749808" y="3093720"/>
            <a:ext cx="4815230"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kanban create "&lt;title&gt;" --assignee &lt;profile&gt;</a:t>
            </a:r>
          </a:p>
        </p:txBody>
      </p:sp>
      <p:sp>
        <p:nvSpPr>
          <p:cNvPr id="15" name="TextBox 14"/>
          <p:cNvSpPr txBox="1"/>
          <p:nvPr/>
        </p:nvSpPr>
        <p:spPr>
          <a:xfrm>
            <a:off x="5839358" y="3093720"/>
            <a:ext cx="570036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Add a task for a profile.</a:t>
            </a:r>
          </a:p>
        </p:txBody>
      </p:sp>
      <p:sp>
        <p:nvSpPr>
          <p:cNvPr id="16" name="Rectangle 15"/>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27120"/>
            <a:ext cx="4815230"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 --parent &lt;id&gt;</a:t>
            </a:r>
          </a:p>
        </p:txBody>
      </p:sp>
      <p:sp>
        <p:nvSpPr>
          <p:cNvPr id="18" name="TextBox 17"/>
          <p:cNvSpPr txBox="1"/>
          <p:nvPr/>
        </p:nvSpPr>
        <p:spPr>
          <a:xfrm>
            <a:off x="5839358" y="3627120"/>
            <a:ext cx="570036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Make it depend on another task.</a:t>
            </a:r>
          </a:p>
        </p:txBody>
      </p:sp>
      <p:sp>
        <p:nvSpPr>
          <p:cNvPr id="19" name="TextBox 18"/>
          <p:cNvSpPr txBox="1"/>
          <p:nvPr/>
        </p:nvSpPr>
        <p:spPr>
          <a:xfrm>
            <a:off x="749808" y="4160520"/>
            <a:ext cx="4815230"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kanban list  ·  hermes kanban watch</a:t>
            </a:r>
          </a:p>
        </p:txBody>
      </p:sp>
      <p:sp>
        <p:nvSpPr>
          <p:cNvPr id="20" name="TextBox 19"/>
          <p:cNvSpPr txBox="1"/>
          <p:nvPr/>
        </p:nvSpPr>
        <p:spPr>
          <a:xfrm>
            <a:off x="5839358" y="4160520"/>
            <a:ext cx="570036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See the board in the terminal.</a:t>
            </a:r>
          </a:p>
        </p:txBody>
      </p:sp>
      <p:sp>
        <p:nvSpPr>
          <p:cNvPr id="21" name="Rectangle 20"/>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93920"/>
            <a:ext cx="4815230"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gateway start</a:t>
            </a:r>
          </a:p>
        </p:txBody>
      </p:sp>
      <p:sp>
        <p:nvSpPr>
          <p:cNvPr id="23" name="TextBox 22"/>
          <p:cNvSpPr txBox="1"/>
          <p:nvPr/>
        </p:nvSpPr>
        <p:spPr>
          <a:xfrm>
            <a:off x="5839358" y="4693920"/>
            <a:ext cx="570036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 the gateway — it dispatches tasks.</a:t>
            </a:r>
          </a:p>
        </p:txBody>
      </p:sp>
      <p:sp>
        <p:nvSpPr>
          <p:cNvPr id="24" name="TextBox 23"/>
          <p:cNvSpPr txBox="1"/>
          <p:nvPr/>
        </p:nvSpPr>
        <p:spPr>
          <a:xfrm>
            <a:off x="749808" y="5227319"/>
            <a:ext cx="4815230"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dashboard</a:t>
            </a:r>
          </a:p>
        </p:txBody>
      </p:sp>
      <p:sp>
        <p:nvSpPr>
          <p:cNvPr id="25" name="TextBox 24"/>
          <p:cNvSpPr txBox="1"/>
          <p:nvPr/>
        </p:nvSpPr>
        <p:spPr>
          <a:xfrm>
            <a:off x="5839358" y="5227319"/>
            <a:ext cx="5700369"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Open the web board: comment, assign, drag.</a:t>
            </a:r>
          </a:p>
        </p:txBody>
      </p:sp>
    </p:spTree>
  </p:cSld>
  <p:clrMapOvr>
    <a:masterClrMapping/>
  </p:clrMapOvr>
  <p:transition spd="fast">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KANBAN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delegate_task or Kanban?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ways for agents to share work. Pick by how long and how important the work is.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delegate_task</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 quick fork-and-join: the parent waits for one answer.</a:t>
            </a:r>
          </a:p>
        </p:txBody>
      </p:sp>
      <p:sp>
        <p:nvSpPr>
          <p:cNvPr id="13" name="Rectangle 12"/>
          <p:cNvSpPr/>
          <p:nvPr/>
        </p:nvSpPr>
        <p:spPr>
          <a:xfrm>
            <a:off x="804672" y="367588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helper is anonymous and temporary.</a:t>
            </a:r>
          </a:p>
        </p:txBody>
      </p:sp>
      <p:sp>
        <p:nvSpPr>
          <p:cNvPr id="15" name="Rectangle 14"/>
          <p:cNvSpPr/>
          <p:nvPr/>
        </p:nvSpPr>
        <p:spPr>
          <a:xfrm>
            <a:off x="804672" y="4343399"/>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No history, no retries, no human in the loop.</a:t>
            </a:r>
          </a:p>
        </p:txBody>
      </p:sp>
      <p:sp>
        <p:nvSpPr>
          <p:cNvPr id="17" name="Rectangle 16"/>
          <p:cNvSpPr/>
          <p:nvPr/>
        </p:nvSpPr>
        <p:spPr>
          <a:xfrm>
            <a:off x="804672" y="5010912"/>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Use for: "summarise these three scripts".</a:t>
            </a:r>
          </a:p>
        </p:txBody>
      </p:sp>
      <p:sp>
        <p:nvSpPr>
          <p:cNvPr id="19" name="Rounded Rectangle 18"/>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Kanban</a:t>
            </a:r>
          </a:p>
        </p:txBody>
      </p:sp>
      <p:sp>
        <p:nvSpPr>
          <p:cNvPr id="22" name="Rectangle 21"/>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 durable queue with named workers.</a:t>
            </a:r>
          </a:p>
        </p:txBody>
      </p:sp>
      <p:sp>
        <p:nvSpPr>
          <p:cNvPr id="24" name="Rectangle 23"/>
          <p:cNvSpPr/>
          <p:nvPr/>
        </p:nvSpPr>
        <p:spPr>
          <a:xfrm>
            <a:off x="6473951" y="367588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Dependencies, retries and stored history.</a:t>
            </a:r>
          </a:p>
        </p:txBody>
      </p:sp>
      <p:sp>
        <p:nvSpPr>
          <p:cNvPr id="26" name="Rectangle 25"/>
          <p:cNvSpPr/>
          <p:nvPr/>
        </p:nvSpPr>
        <p:spPr>
          <a:xfrm>
            <a:off x="6473951" y="4343399"/>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7"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People comment, approve and unblock.</a:t>
            </a:r>
          </a:p>
        </p:txBody>
      </p:sp>
      <p:sp>
        <p:nvSpPr>
          <p:cNvPr id="28" name="Rectangle 27"/>
          <p:cNvSpPr/>
          <p:nvPr/>
        </p:nvSpPr>
        <p:spPr>
          <a:xfrm>
            <a:off x="6473951" y="5010912"/>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7"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Use for: producing and approving an episode.</a:t>
            </a:r>
          </a:p>
        </p:txBody>
      </p:sp>
    </p:spTree>
  </p:cSld>
  <p:clrMapOvr>
    <a:masterClrMapping/>
  </p:clrMapOvr>
  <p:transition spd="fast">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SCHEDULING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Scheduling the Pipeline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Hermes has built-in cron. Schedule last, and start paused.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hermes cron create "every tuesday 9am" "Start the next Kopi &amp; Coins episode" --skill kanban-video-orchestrator</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Pause until approved</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hermes cron pause &lt;job&gt; — resume only when the owner signs off.</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Deliver results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--deliver telegram sends the outcome to the producer's phone.</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Rehearse first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5000"/>
              </a:lnSpc>
              <a:defRPr sz="1400" b="0">
                <a:solidFill>
                  <a:srgbClr val="6B6862"/>
                </a:solidFill>
                <a:latin typeface="Calibri"/>
              </a:defRPr>
            </a:pPr>
            <a:r>
              <a:t>Run the pipeline by hand once; a schedule repeats mistakes as faithfully as successes.</a:t>
            </a:r>
          </a:p>
        </p:txBody>
      </p:sp>
    </p:spTree>
  </p:cSld>
  <p:clrMapOvr>
    <a:masterClrMapping/>
  </p:clrMapOvr>
  <p:transition spd="fast">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EMERGING TECH (K5)</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Technologies That Improve Efficiency and Quality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each technology improves — and the risk to manage.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TECHNOLOGY</a:t>
            </a:r>
          </a:p>
        </p:txBody>
      </p:sp>
      <p:sp>
        <p:nvSpPr>
          <p:cNvPr id="10" name="TextBox 9"/>
          <p:cNvSpPr txBox="1"/>
          <p:nvPr/>
        </p:nvSpPr>
        <p:spPr>
          <a:xfrm>
            <a:off x="3405225"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IMPROVES</a:t>
            </a:r>
          </a:p>
        </p:txBody>
      </p:sp>
      <p:sp>
        <p:nvSpPr>
          <p:cNvPr id="11" name="TextBox 10"/>
          <p:cNvSpPr txBox="1"/>
          <p:nvPr/>
        </p:nvSpPr>
        <p:spPr>
          <a:xfrm>
            <a:off x="8273491"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WATCH FOR</a:t>
            </a:r>
          </a:p>
        </p:txBody>
      </p:sp>
      <p:sp>
        <p:nvSpPr>
          <p:cNvPr id="12" name="Rectangle 11"/>
          <p:cNvSpPr/>
          <p:nvPr/>
        </p:nvSpPr>
        <p:spPr>
          <a:xfrm>
            <a:off x="548640" y="25603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AI video agents</a:t>
            </a:r>
          </a:p>
        </p:txBody>
      </p:sp>
      <p:sp>
        <p:nvSpPr>
          <p:cNvPr id="14" name="TextBox 13"/>
          <p:cNvSpPr txBox="1"/>
          <p:nvPr/>
        </p:nvSpPr>
        <p:spPr>
          <a:xfrm>
            <a:off x="3405225" y="2560320"/>
            <a:ext cx="459394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Brief-to-cut in one project; fewer hand-offs.</a:t>
            </a:r>
          </a:p>
        </p:txBody>
      </p:sp>
      <p:sp>
        <p:nvSpPr>
          <p:cNvPr id="15" name="TextBox 14"/>
          <p:cNvSpPr txBox="1"/>
          <p:nvPr/>
        </p:nvSpPr>
        <p:spPr>
          <a:xfrm>
            <a:off x="8273491" y="25603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Credit spend; over-trusting the first cut.</a:t>
            </a:r>
          </a:p>
        </p:txBody>
      </p:sp>
      <p:sp>
        <p:nvSpPr>
          <p:cNvPr id="16" name="TextBox 15"/>
          <p:cNvSpPr txBox="1"/>
          <p:nvPr/>
        </p:nvSpPr>
        <p:spPr>
          <a:xfrm>
            <a:off x="749808" y="30937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Multi-agent workflows</a:t>
            </a:r>
          </a:p>
        </p:txBody>
      </p:sp>
      <p:sp>
        <p:nvSpPr>
          <p:cNvPr id="17" name="TextBox 16"/>
          <p:cNvSpPr txBox="1"/>
          <p:nvPr/>
        </p:nvSpPr>
        <p:spPr>
          <a:xfrm>
            <a:off x="3405225" y="3093720"/>
            <a:ext cx="459394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Parallel work, independent review, repeatability.</a:t>
            </a:r>
          </a:p>
        </p:txBody>
      </p:sp>
      <p:sp>
        <p:nvSpPr>
          <p:cNvPr id="18" name="TextBox 17"/>
          <p:cNvSpPr txBox="1"/>
          <p:nvPr/>
        </p:nvSpPr>
        <p:spPr>
          <a:xfrm>
            <a:off x="8273491" y="30937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Coordination errors; key sprawl.</a:t>
            </a:r>
          </a:p>
        </p:txBody>
      </p:sp>
      <p:sp>
        <p:nvSpPr>
          <p:cNvPr id="19" name="Rectangle 18"/>
          <p:cNvSpPr/>
          <p:nvPr/>
        </p:nvSpPr>
        <p:spPr>
          <a:xfrm>
            <a:off x="548640" y="36271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271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 and plugins</a:t>
            </a:r>
          </a:p>
        </p:txBody>
      </p:sp>
      <p:sp>
        <p:nvSpPr>
          <p:cNvPr id="21" name="TextBox 20"/>
          <p:cNvSpPr txBox="1"/>
          <p:nvPr/>
        </p:nvSpPr>
        <p:spPr>
          <a:xfrm>
            <a:off x="3405225" y="3627120"/>
            <a:ext cx="459394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Studio know-how reused every time.</a:t>
            </a:r>
          </a:p>
        </p:txBody>
      </p:sp>
      <p:sp>
        <p:nvSpPr>
          <p:cNvPr id="22" name="TextBox 21"/>
          <p:cNvSpPr txBox="1"/>
          <p:nvPr/>
        </p:nvSpPr>
        <p:spPr>
          <a:xfrm>
            <a:off x="8273491" y="36271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Untrusted code; stale skills.</a:t>
            </a:r>
          </a:p>
        </p:txBody>
      </p:sp>
      <p:sp>
        <p:nvSpPr>
          <p:cNvPr id="23" name="TextBox 22"/>
          <p:cNvSpPr txBox="1"/>
          <p:nvPr/>
        </p:nvSpPr>
        <p:spPr>
          <a:xfrm>
            <a:off x="749808" y="41605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Character references</a:t>
            </a:r>
          </a:p>
        </p:txBody>
      </p:sp>
      <p:sp>
        <p:nvSpPr>
          <p:cNvPr id="24" name="TextBox 23"/>
          <p:cNvSpPr txBox="1"/>
          <p:nvPr/>
        </p:nvSpPr>
        <p:spPr>
          <a:xfrm>
            <a:off x="3405225" y="4160520"/>
            <a:ext cx="459394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Consistency across shots and episodes.</a:t>
            </a:r>
          </a:p>
        </p:txBody>
      </p:sp>
      <p:sp>
        <p:nvSpPr>
          <p:cNvPr id="25" name="TextBox 24"/>
          <p:cNvSpPr txBox="1"/>
          <p:nvPr/>
        </p:nvSpPr>
        <p:spPr>
          <a:xfrm>
            <a:off x="8273491" y="41605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Likeness and consent of real people.</a:t>
            </a:r>
          </a:p>
        </p:txBody>
      </p:sp>
      <p:sp>
        <p:nvSpPr>
          <p:cNvPr id="26" name="Rectangle 25"/>
          <p:cNvSpPr/>
          <p:nvPr/>
        </p:nvSpPr>
        <p:spPr>
          <a:xfrm>
            <a:off x="548640" y="4693920"/>
            <a:ext cx="1106424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93920"/>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Auto captions, voice and music</a:t>
            </a:r>
          </a:p>
        </p:txBody>
      </p:sp>
      <p:sp>
        <p:nvSpPr>
          <p:cNvPr id="28" name="TextBox 27"/>
          <p:cNvSpPr txBox="1"/>
          <p:nvPr/>
        </p:nvSpPr>
        <p:spPr>
          <a:xfrm>
            <a:off x="3405225" y="4693920"/>
            <a:ext cx="459394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Accessibility and speed.</a:t>
            </a:r>
          </a:p>
        </p:txBody>
      </p:sp>
      <p:sp>
        <p:nvSpPr>
          <p:cNvPr id="29" name="TextBox 28"/>
          <p:cNvSpPr txBox="1"/>
          <p:nvPr/>
        </p:nvSpPr>
        <p:spPr>
          <a:xfrm>
            <a:off x="8273491" y="4693920"/>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Accuracy; licence terms.</a:t>
            </a:r>
          </a:p>
        </p:txBody>
      </p:sp>
      <p:sp>
        <p:nvSpPr>
          <p:cNvPr id="30" name="TextBox 29"/>
          <p:cNvSpPr txBox="1"/>
          <p:nvPr/>
        </p:nvSpPr>
        <p:spPr>
          <a:xfrm>
            <a:off x="749808" y="5227319"/>
            <a:ext cx="2381097" cy="53340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Upscaling and enhancement</a:t>
            </a:r>
          </a:p>
        </p:txBody>
      </p:sp>
      <p:sp>
        <p:nvSpPr>
          <p:cNvPr id="31" name="TextBox 30"/>
          <p:cNvSpPr txBox="1"/>
          <p:nvPr/>
        </p:nvSpPr>
        <p:spPr>
          <a:xfrm>
            <a:off x="3405225" y="5227319"/>
            <a:ext cx="4593945"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final quality from cheaper drafts.</a:t>
            </a:r>
          </a:p>
        </p:txBody>
      </p:sp>
      <p:sp>
        <p:nvSpPr>
          <p:cNvPr id="32" name="TextBox 31"/>
          <p:cNvSpPr txBox="1"/>
          <p:nvPr/>
        </p:nvSpPr>
        <p:spPr>
          <a:xfrm>
            <a:off x="8273491" y="5227319"/>
            <a:ext cx="3266236" cy="53340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Artefacts; cost.</a:t>
            </a:r>
          </a:p>
        </p:txBody>
      </p:sp>
    </p:spTree>
  </p:cSld>
  <p:clrMapOvr>
    <a:masterClrMapping/>
  </p:clrMapOvr>
  <p:transition spd="fast">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ADOPTION (A7)</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Facilitating the Adoption of New Technology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new tool is adopted when people use it well — not when it is installed.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Baseline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Measure today: time, cost and rework per episode.</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Pilot</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Four weeks, one series, a small team, clear success measures.</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Train</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Hands-on sessions, playbooks, a champion per team.</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Govern</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Approval gates, key management, credit limits, compliance checks.</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Measure</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Weekly metrics against the baseline.</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Decide</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Scale, adjust or stop — with evidence.</a:t>
            </a:r>
          </a:p>
        </p:txBody>
      </p:sp>
    </p:spTree>
  </p:cSld>
  <p:clrMapOvr>
    <a:masterClrMapping/>
  </p:clrMapOvr>
  <p:transition spd="fast">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ADOPTION (A7)</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Adoption Metrics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Track these weekly during the pilot. Decide with numbers.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METRIC</a:t>
            </a:r>
          </a:p>
        </p:txBody>
      </p:sp>
      <p:sp>
        <p:nvSpPr>
          <p:cNvPr id="10" name="TextBox 9"/>
          <p:cNvSpPr txBox="1"/>
          <p:nvPr/>
        </p:nvSpPr>
        <p:spPr>
          <a:xfrm>
            <a:off x="3847795"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MEASURES</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PILOT TARGET (EXAMPLE)</a:t>
            </a:r>
          </a:p>
        </p:txBody>
      </p:sp>
      <p:sp>
        <p:nvSpPr>
          <p:cNvPr id="12" name="Rectangle 11"/>
          <p:cNvSpPr/>
          <p:nvPr/>
        </p:nvSpPr>
        <p:spPr>
          <a:xfrm>
            <a:off x="548640" y="256032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Time per episode</a:t>
            </a:r>
          </a:p>
        </p:txBody>
      </p:sp>
      <p:sp>
        <p:nvSpPr>
          <p:cNvPr id="14" name="TextBox 13"/>
          <p:cNvSpPr txBox="1"/>
          <p:nvPr/>
        </p:nvSpPr>
        <p:spPr>
          <a:xfrm>
            <a:off x="3847795" y="2560320"/>
            <a:ext cx="437266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Hours from brief to approved cut.</a:t>
            </a:r>
          </a:p>
        </p:txBody>
      </p:sp>
      <p:sp>
        <p:nvSpPr>
          <p:cNvPr id="15" name="TextBox 14"/>
          <p:cNvSpPr txBox="1"/>
          <p:nvPr/>
        </p:nvSpPr>
        <p:spPr>
          <a:xfrm>
            <a:off x="8494776" y="2560320"/>
            <a:ext cx="304495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Halve the baseline.</a:t>
            </a:r>
          </a:p>
        </p:txBody>
      </p:sp>
      <p:sp>
        <p:nvSpPr>
          <p:cNvPr id="16" name="TextBox 15"/>
          <p:cNvSpPr txBox="1"/>
          <p:nvPr/>
        </p:nvSpPr>
        <p:spPr>
          <a:xfrm>
            <a:off x="749808" y="320040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Credits per episode</a:t>
            </a:r>
          </a:p>
        </p:txBody>
      </p:sp>
      <p:sp>
        <p:nvSpPr>
          <p:cNvPr id="17" name="TextBox 16"/>
          <p:cNvSpPr txBox="1"/>
          <p:nvPr/>
        </p:nvSpPr>
        <p:spPr>
          <a:xfrm>
            <a:off x="3847795" y="3200400"/>
            <a:ext cx="437266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Generation cost.</a:t>
            </a:r>
          </a:p>
        </p:txBody>
      </p:sp>
      <p:sp>
        <p:nvSpPr>
          <p:cNvPr id="18" name="TextBox 17"/>
          <p:cNvSpPr txBox="1"/>
          <p:nvPr/>
        </p:nvSpPr>
        <p:spPr>
          <a:xfrm>
            <a:off x="8494776" y="3200400"/>
            <a:ext cx="304495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budget; falling week on week.</a:t>
            </a:r>
          </a:p>
        </p:txBody>
      </p:sp>
      <p:sp>
        <p:nvSpPr>
          <p:cNvPr id="19" name="Rectangle 18"/>
          <p:cNvSpPr/>
          <p:nvPr/>
        </p:nvSpPr>
        <p:spPr>
          <a:xfrm>
            <a:off x="548640" y="384048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4048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Rework rate</a:t>
            </a:r>
          </a:p>
        </p:txBody>
      </p:sp>
      <p:sp>
        <p:nvSpPr>
          <p:cNvPr id="21" name="TextBox 20"/>
          <p:cNvSpPr txBox="1"/>
          <p:nvPr/>
        </p:nvSpPr>
        <p:spPr>
          <a:xfrm>
            <a:off x="3847795" y="3840480"/>
            <a:ext cx="437266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Shots regenerated per episode.</a:t>
            </a:r>
          </a:p>
        </p:txBody>
      </p:sp>
      <p:sp>
        <p:nvSpPr>
          <p:cNvPr id="22" name="TextBox 21"/>
          <p:cNvSpPr txBox="1"/>
          <p:nvPr/>
        </p:nvSpPr>
        <p:spPr>
          <a:xfrm>
            <a:off x="8494776" y="3840480"/>
            <a:ext cx="304495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Under 20%.</a:t>
            </a:r>
          </a:p>
        </p:txBody>
      </p:sp>
      <p:sp>
        <p:nvSpPr>
          <p:cNvPr id="23" name="TextBox 22"/>
          <p:cNvSpPr txBox="1"/>
          <p:nvPr/>
        </p:nvSpPr>
        <p:spPr>
          <a:xfrm>
            <a:off x="749808" y="448056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First-pass compliance</a:t>
            </a:r>
          </a:p>
        </p:txBody>
      </p:sp>
      <p:sp>
        <p:nvSpPr>
          <p:cNvPr id="24" name="TextBox 23"/>
          <p:cNvSpPr txBox="1"/>
          <p:nvPr/>
        </p:nvSpPr>
        <p:spPr>
          <a:xfrm>
            <a:off x="3847795" y="4480560"/>
            <a:ext cx="437266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Episodes passing review first time.</a:t>
            </a:r>
          </a:p>
        </p:txBody>
      </p:sp>
      <p:sp>
        <p:nvSpPr>
          <p:cNvPr id="25" name="TextBox 24"/>
          <p:cNvSpPr txBox="1"/>
          <p:nvPr/>
        </p:nvSpPr>
        <p:spPr>
          <a:xfrm>
            <a:off x="8494776" y="4480560"/>
            <a:ext cx="304495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80% or more.</a:t>
            </a:r>
          </a:p>
        </p:txBody>
      </p:sp>
      <p:sp>
        <p:nvSpPr>
          <p:cNvPr id="26" name="Rectangle 25"/>
          <p:cNvSpPr/>
          <p:nvPr/>
        </p:nvSpPr>
        <p:spPr>
          <a:xfrm>
            <a:off x="548640" y="5120640"/>
            <a:ext cx="110642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120640"/>
            <a:ext cx="2823667" cy="640080"/>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Audience response</a:t>
            </a:r>
          </a:p>
        </p:txBody>
      </p:sp>
      <p:sp>
        <p:nvSpPr>
          <p:cNvPr id="28" name="TextBox 27"/>
          <p:cNvSpPr txBox="1"/>
          <p:nvPr/>
        </p:nvSpPr>
        <p:spPr>
          <a:xfrm>
            <a:off x="3847795" y="5120640"/>
            <a:ext cx="4372660"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Completion rate, saves and shares.</a:t>
            </a:r>
          </a:p>
        </p:txBody>
      </p:sp>
      <p:sp>
        <p:nvSpPr>
          <p:cNvPr id="29" name="TextBox 28"/>
          <p:cNvSpPr txBox="1"/>
          <p:nvPr/>
        </p:nvSpPr>
        <p:spPr>
          <a:xfrm>
            <a:off x="8494776" y="5120640"/>
            <a:ext cx="3044952" cy="640080"/>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At or above the baseline.</a:t>
            </a:r>
          </a:p>
        </p:txBody>
      </p:sp>
    </p:spTree>
  </p:cSld>
  <p:clrMapOvr>
    <a:masterClrMapping/>
  </p:clrMapOvr>
  <p:transition spd="fast">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Multi-Agent Video Studio on Kanban</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Episode 1 is approved. Priya wants Episode 2, Daniel's Bonus, made by a team of agents — producer, scriptwriter, director, reviewer and publisher — with her approval as the last gate. Then she wants a plan for rolling this out to the whole studio.</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Five profiles, a Kanban board with the Episode 2 dependency chain, an EP02 draft in Flova, a paused weekly schedule and adoption-plan.md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Hermes (profiles, Kanban, dashboard, cron) + Flova skill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kanban-video-orchestrator · five profiles · dependency chain · human approval gate · paused schedule · adoption plan   ·   K5, A7</a:t>
            </a:r>
          </a:p>
        </p:txBody>
      </p:sp>
    </p:spTree>
  </p:cSld>
  <p:clrMapOvr>
    <a:masterClrMapping/>
  </p:clrMapOvr>
  <p:transition spd="fast">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Multi-Agent Video Studio on Kanban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Hermes (profiles, Kanban, dashboard, cron) + Flova skill  ·  the full step-by-step, with the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the orchestrator  </a:t>
            </a:r>
            <a:r>
              <a:rPr sz="1300">
                <a:solidFill>
                  <a:srgbClr val="6B6862"/>
                </a:solidFill>
                <a:latin typeface="Calibri"/>
              </a:rPr>
              <a:t>hermes skills install official/creative/kanban-video-orchestrator</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team  </a:t>
            </a:r>
            <a:r>
              <a:rPr sz="1300">
                <a:solidFill>
                  <a:srgbClr val="6B6862"/>
                </a:solidFill>
                <a:latin typeface="Calibri"/>
              </a:rPr>
              <a:t>Create five profiles and copy each SOUL.md from assets/profiles/&lt;name&gt;/ into ~/.hermes/profiles/&lt;name&gt;/.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Build the board  </a:t>
            </a:r>
            <a:r>
              <a:rPr sz="1300">
                <a:solidFill>
                  <a:srgbClr val="6B6862"/>
                </a:solidFill>
                <a:latin typeface="Calibri"/>
              </a:rPr>
              <a:t>Prompt A asks the producer to brief, design the board and create the tasks with dependencies.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and watch  </a:t>
            </a:r>
            <a:r>
              <a:rPr sz="1300">
                <a:solidFill>
                  <a:srgbClr val="6B6862"/>
                </a:solidFill>
                <a:latin typeface="Calibri"/>
              </a:rPr>
              <a:t>Start the gateway (it runs the dispatcher) and open the dashboard. Watch cards move.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human  </a:t>
            </a:r>
            <a:r>
              <a:rPr sz="1300">
                <a:solidFill>
                  <a:srgbClr val="6B6862"/>
                </a:solidFill>
                <a:latin typeface="Calibri"/>
              </a:rPr>
              <a:t>When the review card is done, read the report and comment APPROVED — or send it back.</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paused  </a:t>
            </a:r>
            <a:r>
              <a:rPr sz="1300">
                <a:solidFill>
                  <a:srgbClr val="6B6862"/>
                </a:solidFill>
                <a:latin typeface="Calibri"/>
              </a:rPr>
              <a:t>Create the weekly schedule, then pause it until Priya signs off.</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the adoption  </a:t>
            </a:r>
            <a:r>
              <a:rPr sz="1300">
                <a:solidFill>
                  <a:srgbClr val="6B6862"/>
                </a:solidFill>
                <a:latin typeface="Calibri"/>
              </a:rPr>
              <a:t>Prompt B drafts adoption-plan.md; edit the pilot, metrics and risks yourself.</a:t>
            </a:r>
          </a:p>
        </p:txBody>
      </p:sp>
    </p:spTree>
  </p:cSld>
  <p:clrMapOvr>
    <a:masterClrMapping/>
  </p:clrMapOvr>
  <p:transition spd="fast">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Multi-Agent Video Studio on Kanban</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7" name="Rounded Rectangle 6"/>
          <p:cNvSpPr/>
          <p:nvPr/>
        </p:nvSpPr>
        <p:spPr>
          <a:xfrm>
            <a:off x="548640" y="1783080"/>
            <a:ext cx="11064240" cy="315574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002536"/>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COMMANDS — create the studio team</a:t>
            </a:r>
          </a:p>
        </p:txBody>
      </p:sp>
      <p:sp>
        <p:nvSpPr>
          <p:cNvPr id="10" name="TextBox 9"/>
          <p:cNvSpPr txBox="1"/>
          <p:nvPr/>
        </p:nvSpPr>
        <p:spPr>
          <a:xfrm>
            <a:off x="822959" y="2423160"/>
            <a:ext cx="10515600" cy="2387650"/>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hermes skills install official/creative/kanban-video-orchestrator</a:t>
            </a:r>
          </a:p>
          <a:p>
            <a:pPr>
              <a:lnSpc>
                <a:spcPct val="114000"/>
              </a:lnSpc>
              <a:defRPr sz="1300" b="0">
                <a:solidFill>
                  <a:srgbClr val="E8E5DE"/>
                </a:solidFill>
                <a:latin typeface="Courier New"/>
              </a:defRPr>
            </a:pPr>
            <a:r>
              <a:t>hermes profile create producer</a:t>
            </a:r>
          </a:p>
          <a:p>
            <a:pPr>
              <a:lnSpc>
                <a:spcPct val="114000"/>
              </a:lnSpc>
              <a:defRPr sz="1300" b="0">
                <a:solidFill>
                  <a:srgbClr val="E8E5DE"/>
                </a:solidFill>
                <a:latin typeface="Courier New"/>
              </a:defRPr>
            </a:pPr>
            <a:r>
              <a:t>hermes profile create scriptwriter</a:t>
            </a:r>
          </a:p>
          <a:p>
            <a:pPr>
              <a:lnSpc>
                <a:spcPct val="114000"/>
              </a:lnSpc>
              <a:defRPr sz="1300" b="0">
                <a:solidFill>
                  <a:srgbClr val="E8E5DE"/>
                </a:solidFill>
                <a:latin typeface="Courier New"/>
              </a:defRPr>
            </a:pPr>
            <a:r>
              <a:t>hermes profile create director</a:t>
            </a:r>
          </a:p>
          <a:p>
            <a:pPr>
              <a:lnSpc>
                <a:spcPct val="114000"/>
              </a:lnSpc>
              <a:defRPr sz="1300" b="0">
                <a:solidFill>
                  <a:srgbClr val="E8E5DE"/>
                </a:solidFill>
                <a:latin typeface="Courier New"/>
              </a:defRPr>
            </a:pPr>
            <a:r>
              <a:t>hermes profile create reviewer</a:t>
            </a:r>
          </a:p>
          <a:p>
            <a:pPr>
              <a:lnSpc>
                <a:spcPct val="114000"/>
              </a:lnSpc>
              <a:defRPr sz="1300" b="0">
                <a:solidFill>
                  <a:srgbClr val="E8E5DE"/>
                </a:solidFill>
                <a:latin typeface="Courier New"/>
              </a:defRPr>
            </a:pPr>
            <a:r>
              <a:t>hermes profile create publisher</a:t>
            </a:r>
          </a:p>
          <a:p>
            <a:pPr>
              <a:lnSpc>
                <a:spcPct val="114000"/>
              </a:lnSpc>
              <a:defRPr sz="1300" b="0">
                <a:solidFill>
                  <a:srgbClr val="E8E5DE"/>
                </a:solidFill>
                <a:latin typeface="Courier New"/>
              </a:defRPr>
            </a:pPr>
            <a:r>
              <a:t># copy assets/profiles/&lt;name&gt;/SOUL.md to ~/.hermes/profiles/&lt;name&gt;/</a:t>
            </a:r>
          </a:p>
          <a:p>
            <a:pPr>
              <a:lnSpc>
                <a:spcPct val="114000"/>
              </a:lnSpc>
              <a:defRPr sz="1300" b="0">
                <a:solidFill>
                  <a:srgbClr val="E8E5DE"/>
                </a:solidFill>
                <a:latin typeface="Courier New"/>
              </a:defRPr>
            </a:pPr>
            <a:r>
              <a:t>hermes kanban init</a:t>
            </a:r>
          </a:p>
          <a:p>
            <a:pPr>
              <a:lnSpc>
                <a:spcPct val="114000"/>
              </a:lnSpc>
              <a:defRPr sz="1300" b="0">
                <a:solidFill>
                  <a:srgbClr val="E8E5DE"/>
                </a:solidFill>
                <a:latin typeface="Courier New"/>
              </a:defRPr>
            </a:pPr>
            <a:r>
              <a:t>hermes gateway start      # runs the Kanban dispatcher</a:t>
            </a:r>
          </a:p>
          <a:p>
            <a:pPr>
              <a:lnSpc>
                <a:spcPct val="114000"/>
              </a:lnSpc>
              <a:defRPr sz="1300" b="0">
                <a:solidFill>
                  <a:srgbClr val="E8E5DE"/>
                </a:solidFill>
                <a:latin typeface="Courier New"/>
              </a:defRPr>
            </a:pPr>
            <a:r>
              <a:t>hermes dashboard          # opens the board in your browser</a:t>
            </a:r>
          </a:p>
        </p:txBody>
      </p:sp>
    </p:spTree>
  </p:cSld>
  <p:clrMapOvr>
    <a:masterClrMapping/>
  </p:clrMapOvr>
  <p:transition spd="fast">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Multi-Agent Video Studio on Kanban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to the producer</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/kanban-video-orchestrator Produce Episode 2 of Kopi &amp; Coins, "Daniel's Bonus", from episode-02-brief.md: 60 seconds, 9:16, same characters and style as Episode 1.</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Team: producer (you, never renders), scriptwriter, director (uses the flova skill), reviewer (uses kopi-compliance-review, never edits), publisher.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Write brief.md and wait for my confirmation. Then create the Kanban tasks in this order, each depending on the one before:</a:t>
            </a:r>
          </a:p>
          <a:p>
            <a:pPr>
              <a:lnSpc>
                <a:spcPct val="110000"/>
              </a:lnSpc>
              <a:defRPr sz="1700" b="0">
                <a:solidFill>
                  <a:srgbClr val="21201C"/>
                </a:solidFill>
                <a:latin typeface="Calibri"/>
              </a:defRPr>
            </a:pPr>
            <a:r>
              <a:t>script -&gt; storyboard -&gt; Flova draft -&gt; compliance and story review -&gt; human approval (assigned to me) -&gt; private upload plan. The publisher must not start until I comment APPROVED.</a:t>
            </a:r>
          </a:p>
        </p:txBody>
      </p:sp>
    </p:spTree>
  </p:cSld>
  <p:clrMapOvr>
    <a:masterClrMapping/>
  </p:clrMapOvr>
  <p:transition spd="fast">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Multi-Agent Video Studio on Kanban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the adoption plan</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Draft adoption-plan.md for rolling out Hermes and Flova across the Kopi &amp; Coins studio. Include:</a:t>
            </a:r>
          </a:p>
          <a:p>
            <a:pPr>
              <a:lnSpc>
                <a:spcPct val="110000"/>
              </a:lnSpc>
              <a:defRPr sz="1700" b="0">
                <a:solidFill>
                  <a:srgbClr val="21201C"/>
                </a:solidFill>
                <a:latin typeface="Calibri"/>
              </a:defRPr>
            </a:pPr>
            <a:r>
              <a:t>- the problem it solves and today's baseline (time, cost, rework per episode - use our Episode 1 log)</a:t>
            </a:r>
          </a:p>
          <a:p>
            <a:pPr>
              <a:lnSpc>
                <a:spcPct val="110000"/>
              </a:lnSpc>
              <a:defRPr sz="1700" b="0">
                <a:solidFill>
                  <a:srgbClr val="21201C"/>
                </a:solidFill>
                <a:latin typeface="Calibri"/>
              </a:defRPr>
            </a:pPr>
            <a:r>
              <a:t>- a four-week pilot: scope, team, success measures</a:t>
            </a:r>
          </a:p>
          <a:p>
            <a:pPr>
              <a:lnSpc>
                <a:spcPct val="110000"/>
              </a:lnSpc>
              <a:defRPr sz="1700" b="0">
                <a:solidFill>
                  <a:srgbClr val="21201C"/>
                </a:solidFill>
                <a:latin typeface="Calibri"/>
              </a:defRPr>
            </a:pPr>
            <a:r>
              <a:t>- the metrics we will track every week</a:t>
            </a:r>
          </a:p>
          <a:p>
            <a:pPr>
              <a:lnSpc>
                <a:spcPct val="110000"/>
              </a:lnSpc>
              <a:defRPr sz="1700" b="0">
                <a:solidFill>
                  <a:srgbClr val="21201C"/>
                </a:solidFill>
                <a:latin typeface="Calibri"/>
              </a:defRPr>
            </a:pPr>
            <a:r>
              <a:t>- training and support for two editors and a producer</a:t>
            </a:r>
          </a:p>
          <a:p>
            <a:pPr>
              <a:lnSpc>
                <a:spcPct val="110000"/>
              </a:lnSpc>
              <a:defRPr sz="1700" b="0">
                <a:solidFill>
                  <a:srgbClr val="21201C"/>
                </a:solidFill>
                <a:latin typeface="Calibri"/>
              </a:defRPr>
            </a:pPr>
            <a:r>
              <a:t>- governance: approval gates, API keys, credit limits, compliance checks, AI-content labelling</a:t>
            </a:r>
          </a:p>
          <a:p>
            <a:pPr>
              <a:lnSpc>
                <a:spcPct val="110000"/>
              </a:lnSpc>
              <a:defRPr sz="1700" b="0">
                <a:solidFill>
                  <a:srgbClr val="21201C"/>
                </a:solidFill>
                <a:latin typeface="Calibri"/>
              </a:defRPr>
            </a:pPr>
            <a:r>
              <a:t>- risks and how we reduce them</a:t>
            </a:r>
          </a:p>
          <a:p>
            <a:pPr>
              <a:lnSpc>
                <a:spcPct val="110000"/>
              </a:lnSpc>
              <a:defRPr sz="1700" b="0">
                <a:solidFill>
                  <a:srgbClr val="21201C"/>
                </a:solidFill>
                <a:latin typeface="Calibri"/>
              </a:defRPr>
            </a:pPr>
            <a:r>
              <a:t>- the decision point to scale, stop or change.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scale the work; Kanban keeps it in order; the approval card keeps a person responsible.</a:t>
            </a:r>
          </a:p>
        </p:txBody>
      </p:sp>
    </p:spTree>
  </p:cSld>
  <p:clrMapOvr>
    <a:masterClrMapping/>
  </p:clrMapOvr>
  <p:transition spd="fast">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Multi-Agent Video Studio on Kanban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profiles exist, each with its own SOUL.md.</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board shows the six tasks with parent dependencies.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reviewer and the director are different profiles.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Publishing stayed blocked until you commented APPROVED.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weekly schedule exists and is paused.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adoption-plan.md has a baseline, pilot measures, governance and a decision point.</a:t>
            </a:r>
          </a:p>
        </p:txBody>
      </p:sp>
    </p:spTree>
  </p:cSld>
  <p:clrMapOvr>
    <a:masterClrMapping/>
  </p:clrMapOvr>
  <p:transition spd="fast">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Kopi &amp; Coins is a studio, not a one-off.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Connected — Lab 5</a:t>
            </a:r>
          </a:p>
        </p:txBody>
      </p:sp>
      <p:sp>
        <p:nvSpPr>
          <p:cNvPr id="11" name="TextBox 10"/>
          <p:cNvSpPr txBox="1"/>
          <p:nvPr/>
        </p:nvSpPr>
        <p:spPr>
          <a:xfrm>
            <a:off x="786384"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Hermes drives Flova, applies the studio's compliance skill and plans remedies.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Scaled — Lab 6</a:t>
            </a:r>
          </a:p>
        </p:txBody>
      </p:sp>
      <p:sp>
        <p:nvSpPr>
          <p:cNvPr id="15" name="TextBox 14"/>
          <p:cNvSpPr txBox="1"/>
          <p:nvPr/>
        </p:nvSpPr>
        <p:spPr>
          <a:xfrm>
            <a:off x="4547615"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Five agents produce Episode 2 on Kanban, with a human approval gate and a paused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51103"/>
          </a:xfrm>
          <a:prstGeom prst="rect">
            <a:avLst/>
          </a:prstGeom>
          <a:noFill/>
        </p:spPr>
        <p:txBody>
          <a:bodyPr wrap="square" lIns="18288" rIns="18288" tIns="9144" bIns="9144">
            <a:spAutoFit/>
          </a:bodyPr>
          <a:lstStyle/>
          <a:p>
            <a:pPr>
              <a:lnSpc>
                <a:spcPct val="100000"/>
              </a:lnSpc>
              <a:defRPr sz="2000" b="1">
                <a:solidFill>
                  <a:srgbClr val="21201C"/>
                </a:solidFill>
                <a:latin typeface="Cambria"/>
              </a:defRPr>
            </a:pPr>
            <a:r>
              <a:t>Adopted</a:t>
            </a:r>
          </a:p>
        </p:txBody>
      </p:sp>
      <p:sp>
        <p:nvSpPr>
          <p:cNvPr id="19" name="TextBox 18"/>
          <p:cNvSpPr txBox="1"/>
          <p:nvPr/>
        </p:nvSpPr>
        <p:spPr>
          <a:xfrm>
            <a:off x="8308847" y="2993135"/>
            <a:ext cx="3066287" cy="2566415"/>
          </a:xfrm>
          <a:prstGeom prst="rect">
            <a:avLst/>
          </a:prstGeom>
          <a:noFill/>
        </p:spPr>
        <p:txBody>
          <a:bodyPr wrap="square" lIns="18288" rIns="18288" tIns="9144" bIns="9144">
            <a:spAutoFit/>
          </a:bodyPr>
          <a:lstStyle/>
          <a:p>
            <a:pPr>
              <a:lnSpc>
                <a:spcPct val="115000"/>
              </a:lnSpc>
              <a:defRPr sz="1600" b="0">
                <a:solidFill>
                  <a:srgbClr val="6B6862"/>
                </a:solidFill>
                <a:latin typeface="Calibri"/>
              </a:defRPr>
            </a:pPr>
            <a:r>
              <a:t>An adoption plan with a baseline, a pilot, metrics and governance.</a:t>
            </a:r>
          </a:p>
        </p:txBody>
      </p:sp>
    </p:spTree>
  </p:cSld>
  <p:clrMapOvr>
    <a:masterClrMapping/>
  </p:clrMapOvr>
  <p:transition spd="fast">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Kopi &amp; Coins: Idea to Studio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three kinds of agent, one series.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8" name="Pentagon 7"/>
          <p:cNvSpPr/>
          <p:nvPr/>
        </p:nvSpPr>
        <p:spPr>
          <a:xfrm>
            <a:off x="548640" y="2084831"/>
            <a:ext cx="3749039"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360273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3602735"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334670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 · LO1</a:t>
            </a:r>
          </a:p>
        </p:txBody>
      </p:sp>
      <p:sp>
        <p:nvSpPr>
          <p:cNvPr id="12" name="TextBox 11"/>
          <p:cNvSpPr txBox="1"/>
          <p:nvPr/>
        </p:nvSpPr>
        <p:spPr>
          <a:xfrm>
            <a:off x="676656" y="3694176"/>
            <a:ext cx="334670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AI agent: brief, script, script review, storyboard, standards, work plan.</a:t>
            </a:r>
          </a:p>
        </p:txBody>
      </p:sp>
      <p:sp>
        <p:nvSpPr>
          <p:cNvPr id="13" name="Chevron 12"/>
          <p:cNvSpPr/>
          <p:nvPr/>
        </p:nvSpPr>
        <p:spPr>
          <a:xfrm>
            <a:off x="4206240" y="2084831"/>
            <a:ext cx="3749039"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42976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2962656"/>
            <a:ext cx="35112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5"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Make · LO2</a:t>
            </a:r>
          </a:p>
        </p:txBody>
      </p:sp>
      <p:sp>
        <p:nvSpPr>
          <p:cNvPr id="17" name="TextBox 16"/>
          <p:cNvSpPr txBox="1"/>
          <p:nvPr/>
        </p:nvSpPr>
        <p:spPr>
          <a:xfrm>
            <a:off x="4425695"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Flova: Elements, checkpoints, a rough cut; story and technical review; v2.</a:t>
            </a:r>
          </a:p>
        </p:txBody>
      </p:sp>
      <p:sp>
        <p:nvSpPr>
          <p:cNvPr id="18" name="Chevron 17"/>
          <p:cNvSpPr/>
          <p:nvPr/>
        </p:nvSpPr>
        <p:spPr>
          <a:xfrm>
            <a:off x="7863840" y="2084831"/>
            <a:ext cx="3749039"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79552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2962656"/>
            <a:ext cx="35112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Scale · LO3</a:t>
            </a:r>
          </a:p>
        </p:txBody>
      </p:sp>
      <p:sp>
        <p:nvSpPr>
          <p:cNvPr id="22" name="TextBox 21"/>
          <p:cNvSpPr txBox="1"/>
          <p:nvPr/>
        </p:nvSpPr>
        <p:spPr>
          <a:xfrm>
            <a:off x="8083296"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Flova skill, compliance review, remedies, a five-agent team, adoption.</a:t>
            </a:r>
          </a:p>
        </p:txBody>
      </p:sp>
    </p:spTree>
  </p:cSld>
  <p:clrMapOvr>
    <a:masterClrMapping/>
  </p:clrMapOvr>
  <p:transition spd="fast">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You Can Now Do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ability statement in the TSC, and where you demonstrated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Agentic AI for Video Creation  ·  TGS-2023036088 </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8" name="Rounded Rectangle 7"/>
          <p:cNvSpPr/>
          <p:nvPr/>
        </p:nvSpPr>
        <p:spPr>
          <a:xfrm>
            <a:off x="548640" y="208483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8483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8483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A1</a:t>
            </a:r>
          </a:p>
        </p:txBody>
      </p:sp>
      <p:sp>
        <p:nvSpPr>
          <p:cNvPr id="11" name="TextBox 10"/>
          <p:cNvSpPr txBox="1"/>
          <p:nvPr/>
        </p:nvSpPr>
        <p:spPr>
          <a:xfrm>
            <a:off x="1481328" y="208483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Review scripts to conceptualize the types of edits required to achieve creative vision of production</a:t>
            </a:r>
          </a:p>
        </p:txBody>
      </p:sp>
      <p:sp>
        <p:nvSpPr>
          <p:cNvPr id="12" name="TextBox 11"/>
          <p:cNvSpPr txBox="1"/>
          <p:nvPr/>
        </p:nvSpPr>
        <p:spPr>
          <a:xfrm>
            <a:off x="8412480" y="208483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T1 · Reviewing a script for edits · Lab 1</a:t>
            </a:r>
          </a:p>
        </p:txBody>
      </p:sp>
      <p:sp>
        <p:nvSpPr>
          <p:cNvPr id="13" name="Rounded Rectangle 12"/>
          <p:cNvSpPr/>
          <p:nvPr/>
        </p:nvSpPr>
        <p:spPr>
          <a:xfrm>
            <a:off x="548640" y="262302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262302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62302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A2</a:t>
            </a:r>
          </a:p>
        </p:txBody>
      </p:sp>
      <p:sp>
        <p:nvSpPr>
          <p:cNvPr id="16" name="TextBox 15"/>
          <p:cNvSpPr txBox="1"/>
          <p:nvPr/>
        </p:nvSpPr>
        <p:spPr>
          <a:xfrm>
            <a:off x="1481328" y="262302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editing standards and guidelines in accordance to legal requirements and broadcasting standards</a:t>
            </a:r>
          </a:p>
        </p:txBody>
      </p:sp>
      <p:sp>
        <p:nvSpPr>
          <p:cNvPr id="17" name="TextBox 16"/>
          <p:cNvSpPr txBox="1"/>
          <p:nvPr/>
        </p:nvSpPr>
        <p:spPr>
          <a:xfrm>
            <a:off x="8412480" y="262302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T1 · Editing standards and guidelines · Lab 2</a:t>
            </a:r>
          </a:p>
        </p:txBody>
      </p:sp>
      <p:sp>
        <p:nvSpPr>
          <p:cNvPr id="18" name="Rounded Rectangle 17"/>
          <p:cNvSpPr/>
          <p:nvPr/>
        </p:nvSpPr>
        <p:spPr>
          <a:xfrm>
            <a:off x="548640" y="316121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316121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16121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A3</a:t>
            </a:r>
          </a:p>
        </p:txBody>
      </p:sp>
      <p:sp>
        <p:nvSpPr>
          <p:cNvPr id="21" name="TextBox 20"/>
          <p:cNvSpPr txBox="1"/>
          <p:nvPr/>
        </p:nvSpPr>
        <p:spPr>
          <a:xfrm>
            <a:off x="1481328" y="316121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work plans to outline the processes and timelines needed for the post production processes</a:t>
            </a:r>
          </a:p>
        </p:txBody>
      </p:sp>
      <p:sp>
        <p:nvSpPr>
          <p:cNvPr id="22" name="TextBox 21"/>
          <p:cNvSpPr txBox="1"/>
          <p:nvPr/>
        </p:nvSpPr>
        <p:spPr>
          <a:xfrm>
            <a:off x="8412480" y="316121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T1 · Post-production work plans · Lab 2</a:t>
            </a:r>
          </a:p>
        </p:txBody>
      </p:sp>
      <p:sp>
        <p:nvSpPr>
          <p:cNvPr id="23" name="Rounded Rectangle 22"/>
          <p:cNvSpPr/>
          <p:nvPr/>
        </p:nvSpPr>
        <p:spPr>
          <a:xfrm>
            <a:off x="548640" y="3699401"/>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3699401"/>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699401"/>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A4</a:t>
            </a:r>
          </a:p>
        </p:txBody>
      </p:sp>
      <p:sp>
        <p:nvSpPr>
          <p:cNvPr id="26" name="TextBox 25"/>
          <p:cNvSpPr txBox="1"/>
          <p:nvPr/>
        </p:nvSpPr>
        <p:spPr>
          <a:xfrm>
            <a:off x="1481328" y="3699401"/>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Review edited footage to propose changes that will enhance the story and emotions in each scene</a:t>
            </a:r>
          </a:p>
        </p:txBody>
      </p:sp>
      <p:sp>
        <p:nvSpPr>
          <p:cNvPr id="27" name="TextBox 26"/>
          <p:cNvSpPr txBox="1"/>
          <p:nvPr/>
        </p:nvSpPr>
        <p:spPr>
          <a:xfrm>
            <a:off x="8412480" y="3699401"/>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T2 · Story and emotion review · Lab 4</a:t>
            </a:r>
          </a:p>
        </p:txBody>
      </p:sp>
      <p:sp>
        <p:nvSpPr>
          <p:cNvPr id="28" name="Rounded Rectangle 27"/>
          <p:cNvSpPr/>
          <p:nvPr/>
        </p:nvSpPr>
        <p:spPr>
          <a:xfrm>
            <a:off x="548640" y="4237590"/>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4237590"/>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237590"/>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A5</a:t>
            </a:r>
          </a:p>
        </p:txBody>
      </p:sp>
      <p:sp>
        <p:nvSpPr>
          <p:cNvPr id="31" name="TextBox 30"/>
          <p:cNvSpPr txBox="1"/>
          <p:nvPr/>
        </p:nvSpPr>
        <p:spPr>
          <a:xfrm>
            <a:off x="1481328" y="4237590"/>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Assess edited footage against technical parameters to ensure alignment to requirements</a:t>
            </a:r>
          </a:p>
        </p:txBody>
      </p:sp>
      <p:sp>
        <p:nvSpPr>
          <p:cNvPr id="32" name="TextBox 31"/>
          <p:cNvSpPr txBox="1"/>
          <p:nvPr/>
        </p:nvSpPr>
        <p:spPr>
          <a:xfrm>
            <a:off x="8412480" y="4237590"/>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T2 · Technical QC against parameters · Lab 4</a:t>
            </a:r>
          </a:p>
        </p:txBody>
      </p:sp>
      <p:sp>
        <p:nvSpPr>
          <p:cNvPr id="33" name="Rounded Rectangle 32"/>
          <p:cNvSpPr/>
          <p:nvPr/>
        </p:nvSpPr>
        <p:spPr>
          <a:xfrm>
            <a:off x="548640" y="4775780"/>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4775780"/>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775780"/>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A6</a:t>
            </a:r>
          </a:p>
        </p:txBody>
      </p:sp>
      <p:sp>
        <p:nvSpPr>
          <p:cNvPr id="36" name="TextBox 35"/>
          <p:cNvSpPr txBox="1"/>
          <p:nvPr/>
        </p:nvSpPr>
        <p:spPr>
          <a:xfrm>
            <a:off x="1481328" y="4775780"/>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Develop remedial actions to resolve issues that do not comply with industry standards</a:t>
            </a:r>
          </a:p>
        </p:txBody>
      </p:sp>
      <p:sp>
        <p:nvSpPr>
          <p:cNvPr id="37" name="TextBox 36"/>
          <p:cNvSpPr txBox="1"/>
          <p:nvPr/>
        </p:nvSpPr>
        <p:spPr>
          <a:xfrm>
            <a:off x="8412480" y="4775780"/>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T3 · Remedial action plans · Lab 5</a:t>
            </a:r>
          </a:p>
        </p:txBody>
      </p:sp>
      <p:sp>
        <p:nvSpPr>
          <p:cNvPr id="38" name="Rounded Rectangle 37"/>
          <p:cNvSpPr/>
          <p:nvPr/>
        </p:nvSpPr>
        <p:spPr>
          <a:xfrm>
            <a:off x="548640" y="5313970"/>
            <a:ext cx="11064240" cy="46503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5313970"/>
            <a:ext cx="731520" cy="465037"/>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313970"/>
            <a:ext cx="731520" cy="465037"/>
          </a:xfrm>
          <a:prstGeom prst="rect">
            <a:avLst/>
          </a:prstGeom>
          <a:noFill/>
        </p:spPr>
        <p:txBody>
          <a:bodyPr wrap="square" lIns="18288" rIns="18288" tIns="9144" bIns="9144" anchor="ctr">
            <a:spAutoFit/>
          </a:bodyPr>
          <a:lstStyle/>
          <a:p>
            <a:pPr algn="ctr">
              <a:lnSpc>
                <a:spcPct val="100000"/>
              </a:lnSpc>
              <a:defRPr sz="1400" b="1">
                <a:solidFill>
                  <a:srgbClr val="FFFFFF"/>
                </a:solidFill>
                <a:latin typeface="Cambria"/>
              </a:defRPr>
            </a:pPr>
            <a:r>
              <a:t>A7</a:t>
            </a:r>
          </a:p>
        </p:txBody>
      </p:sp>
      <p:sp>
        <p:nvSpPr>
          <p:cNvPr id="41" name="TextBox 40"/>
          <p:cNvSpPr txBox="1"/>
          <p:nvPr/>
        </p:nvSpPr>
        <p:spPr>
          <a:xfrm>
            <a:off x="1481328" y="5313970"/>
            <a:ext cx="6766560" cy="465037"/>
          </a:xfrm>
          <a:prstGeom prst="rect">
            <a:avLst/>
          </a:prstGeom>
          <a:noFill/>
        </p:spPr>
        <p:txBody>
          <a:bodyPr wrap="square" lIns="18288" rIns="18288" tIns="9144" bIns="9144" anchor="ctr">
            <a:spAutoFit/>
          </a:bodyPr>
          <a:lstStyle/>
          <a:p>
            <a:pPr>
              <a:lnSpc>
                <a:spcPct val="100000"/>
              </a:lnSpc>
              <a:defRPr sz="1300" b="0">
                <a:solidFill>
                  <a:srgbClr val="21201C"/>
                </a:solidFill>
                <a:latin typeface="Calibri"/>
              </a:defRPr>
            </a:pPr>
            <a:r>
              <a:t>Facilitate the adoption of new technologies to improve the efficiency and quality of visual outputs</a:t>
            </a:r>
          </a:p>
        </p:txBody>
      </p:sp>
      <p:sp>
        <p:nvSpPr>
          <p:cNvPr id="42" name="TextBox 41"/>
          <p:cNvSpPr txBox="1"/>
          <p:nvPr/>
        </p:nvSpPr>
        <p:spPr>
          <a:xfrm>
            <a:off x="8412480" y="5313970"/>
            <a:ext cx="3072384" cy="465037"/>
          </a:xfrm>
          <a:prstGeom prst="rect">
            <a:avLst/>
          </a:prstGeom>
          <a:noFill/>
        </p:spPr>
        <p:txBody>
          <a:bodyPr wrap="square" lIns="18288" rIns="18288" tIns="9144" bIns="9144" anchor="ctr">
            <a:spAutoFit/>
          </a:bodyPr>
          <a:lstStyle/>
          <a:p>
            <a:pPr>
              <a:lnSpc>
                <a:spcPct val="100000"/>
              </a:lnSpc>
              <a:defRPr sz="1000" b="0">
                <a:solidFill>
                  <a:srgbClr val="6B6862"/>
                </a:solidFill>
                <a:latin typeface="Calibri"/>
              </a:defRPr>
            </a:pPr>
            <a:r>
              <a:t>T3 · Adoption roadmap · Lab 6</a:t>
            </a:r>
          </a:p>
        </p:txBody>
      </p:sp>
    </p:spTree>
  </p:cSld>
  <p:clrMapOvr>
    <a:masterClrMapping/>
  </p:clrMapOvr>
  <p:transition spd="fast">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
        <p:nvSpPr>
          <p:cNvPr id="91" name="TextBox 90"/>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Agentic AI for Video Creation  ·  TGS-2023036088 </a:t>
            </a:r>
          </a:p>
        </p:txBody>
      </p:sp>
      <p:sp>
        <p:nvSpPr>
          <p:cNvPr id="92" name="TextBox 91"/>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93" name="TextBox 92"/>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Agentic AI for Video Creation  ·  TGS-2023036088 </a:t>
            </a:r>
          </a:p>
        </p:txBody>
      </p:sp>
      <p:sp>
        <p:nvSpPr>
          <p:cNvPr id="94" name="TextBox 93"/>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Tree>
  </p:cSld>
  <p:clrMapOvr>
    <a:masterClrMapping/>
  </p:clrMapOvr>
  <p:transition spd="fast">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138</a:t>
            </a:r>
            <a:endParaRPr lang="en-US" sz="900" dirty="0"/>
          </a:p>
        </p:txBody>
      </p:sp>
    </p:spTree>
  </p:cSld>
  <p:clrMapOvr>
    <a:masterClrMapping/>
  </p:clrMapOvr>
  <p:transition spd="fast">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4:30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6:30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139</a:t>
            </a:r>
            <a:endParaRPr lang="en-US" sz="900" dirty="0"/>
          </a:p>
        </p:txBody>
      </p:sp>
    </p:spTree>
  </p:cSld>
  <p:clrMapOvr>
    <a:masterClrMapping/>
  </p:clrMapOvr>
  <p:transition spd="fast">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Agentic AI for Video Creation · TGS-2023036088 </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141</a:t>
            </a:r>
            <a:endParaRPr lang="en-US" sz="900" dirty="0"/>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Video Creation (TGS-2023036088)</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5.0 — 8 October 2026</dc:description>
</cp:coreProperties>
</file>